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2.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2.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2.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2.xml"/><Relationship Id="rId3" Type="http://schemas.openxmlformats.org/officeDocument/2006/relationships/presProps" Target="presProps2.xml"/><Relationship Id="rId4" Type="http://schemas.openxmlformats.org/officeDocument/2006/relationships/slideMaster" Target="slideMasters/slideMaster1.xml"/><Relationship Id="rId11" Type="http://schemas.openxmlformats.org/officeDocument/2006/relationships/slide" Target="slides/slide6.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36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OPEN (20s). Good morning. We are Team ZeroCloud, presenting problem statement SIH26119 from Mangalore Refinery and Petrochemicals: an indigenous optimisation solver.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title is copied exactly as the portal lists it, including its spelling of Xpress and CPLEX.</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One line: every refinery plan, blend and schedule in India runs on a handful of foreign solvers nobody here can inspect. We wrote the engine itself, from the mathematics up.</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Do not read this slide. Move straight on.</a:t>
            </a:r>
            <a:endParaRPr/>
          </a:p>
        </p:txBody>
      </p:sp>
      <p:sp>
        <p:nvSpPr>
          <p:cNvPr id="87" name="Google Shape;87;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98" name="Google Shape;98;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THE IDEA (60s). Start from the dependency, not the code: crude selection, blending and scheduling at MRPL run through CPLEX, Gurobi or Xpress. Recurring cost, and nobody here can see inside.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the proof it is real: the dual simplex solves all 90 Netlib LPs, branch-and-bound proves 33 of 64 MIPLIB problems optimal in 60 seconds, and the QP solver handles 121 of 138 Maros-Meszaros problems. No solver library is inside.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Spend the time on claim 1: every factorisation is ours, so the whole decision path is auditable.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If asked about speed: it is slower than HiGHS today; the iteration loop is now compiled and the linear algebra is next. Say it plainly.</a:t>
            </a:r>
            <a:endParaRPr/>
          </a:p>
        </p:txBody>
      </p:sp>
      <p:sp>
        <p:nvSpPr>
          <p:cNvPr id="99" name="Google Shape;99;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18" name="Google Shape;118;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TECHNICAL APPROACH (75s). Walk the stack top to bottom, one sentence per layer.</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argument: the problem statement forbids building on an existing solver, so the places where solvers usually borrow code, the sparse LU, the Cholesky and the orderings, are exactly the ones we wrote.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Why three LP engines: simplex gives exact vertices and warm starts for branch-and-bound; interior point is robust on large sparse problems and is the basis of the QP solver; PDLP needs only matrix-vector products, which is what a GPU does well.</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Finish on the verification plane and the demo: every answer is re-solved by HiGHS or Clarabel.</a:t>
            </a:r>
            <a:endParaRPr/>
          </a:p>
        </p:txBody>
      </p:sp>
      <p:sp>
        <p:nvSpPr>
          <p:cNvPr id="119" name="Google Shape;119;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46" name="Google Shape;14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FEASIBILITY (45s). Left: it already runs, the maths is published, the licence is clean, the benchmarks are honest.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Right: pick two risks. Speed against commercial solvers (compiled loop done, linear algebra next) and whether it is really from scratch (open the LU kernel live, there is no solver import).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 roadmap shows what the remaining weeks buy.</a:t>
            </a:r>
            <a:endParaRPr/>
          </a:p>
        </p:txBody>
      </p:sp>
      <p:sp>
        <p:nvSpPr>
          <p:cNvPr id="147" name="Google Shape;14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71" name="Google Shape;17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IMPACT (35s). Pick three cards. Operational: MRPL's own planning models on hardware it owns, with shadow prices it can audit. Economic: no per-seat licence. Strategic: the decision engine behind critical energy infrastructure becomes Indian code; China made this move with COPT.</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Close on transferability to every refinery and utility.</a:t>
            </a:r>
            <a:endParaRPr/>
          </a:p>
        </p:txBody>
      </p:sp>
      <p:sp>
        <p:nvSpPr>
          <p:cNvPr id="172" name="Google Shape;172;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89" name="Google Shape;189;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sz="1200">
                <a:solidFill>
                  <a:schemeClr val="dk1"/>
                </a:solidFill>
                <a:latin typeface="Calibri"/>
                <a:ea typeface="Calibri"/>
                <a:cs typeface="Calibri"/>
                <a:sym typeface="Calibri"/>
              </a:rPr>
              <a:t>RESEARCH (25s, then stop). Do not read citations.</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Say: our interior point follows Mehrotra's predictor-corrector; our GPU engine follows PDLP and cuPDLP; everything else on this slide maps one-to-one onto a layer in the architecture.</a:t>
            </a:r>
            <a:endParaRPr/>
          </a:p>
          <a:p>
            <a:pPr indent="0" lvl="0" marL="0" rtl="0" algn="l">
              <a:spcBef>
                <a:spcPts val="0"/>
              </a:spcBef>
              <a:spcAft>
                <a:spcPts val="0"/>
              </a:spcAft>
              <a:buNone/>
            </a:pPr>
            <a:r>
              <a:rPr lang="en-US" sz="1200">
                <a:solidFill>
                  <a:schemeClr val="dk1"/>
                </a:solidFill>
                <a:latin typeface="Calibri"/>
                <a:ea typeface="Calibri"/>
                <a:cs typeface="Calibri"/>
                <a:sym typeface="Calibri"/>
              </a:rPr>
              <a:t>Then: HiGHS and Clarabel appear only in our test harness, never in the solver. Leave time for questions.</a:t>
            </a:r>
            <a:endParaRPr/>
          </a:p>
        </p:txBody>
      </p:sp>
      <p:sp>
        <p:nvSpPr>
          <p:cNvPr id="190" name="Google Shape;190;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
          <p:cNvSpPr txBox="1"/>
          <p:nvPr>
            <p:ph type="ctrTitle"/>
          </p:nvPr>
        </p:nvSpPr>
        <p:spPr>
          <a:xfrm>
            <a:off x="914400" y="2130428"/>
            <a:ext cx="103632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2"/>
          <p:cNvSpPr txBox="1"/>
          <p:nvPr>
            <p:ph idx="1" type="subTitle"/>
          </p:nvPr>
        </p:nvSpPr>
        <p:spPr>
          <a:xfrm>
            <a:off x="1828800" y="3886200"/>
            <a:ext cx="85344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3"/>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
          <p:cNvSpPr txBox="1"/>
          <p:nvPr>
            <p:ph type="title"/>
          </p:nvPr>
        </p:nvSpPr>
        <p:spPr>
          <a:xfrm>
            <a:off x="963084" y="4406903"/>
            <a:ext cx="103632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4"/>
          <p:cNvSpPr txBox="1"/>
          <p:nvPr>
            <p:ph idx="1" type="body"/>
          </p:nvPr>
        </p:nvSpPr>
        <p:spPr>
          <a:xfrm>
            <a:off x="963084" y="2906713"/>
            <a:ext cx="103632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5" name="Google Shape;35;p5"/>
          <p:cNvSpPr txBox="1"/>
          <p:nvPr>
            <p:ph idx="1" type="body"/>
          </p:nvPr>
        </p:nvSpPr>
        <p:spPr>
          <a:xfrm>
            <a:off x="609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5"/>
          <p:cNvSpPr txBox="1"/>
          <p:nvPr>
            <p:ph idx="2" type="body"/>
          </p:nvPr>
        </p:nvSpPr>
        <p:spPr>
          <a:xfrm>
            <a:off x="6197600" y="1600203"/>
            <a:ext cx="53848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5"/>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2" name="Google Shape;42;p6"/>
          <p:cNvSpPr txBox="1"/>
          <p:nvPr>
            <p:ph idx="1" type="body"/>
          </p:nvPr>
        </p:nvSpPr>
        <p:spPr>
          <a:xfrm>
            <a:off x="609600" y="1535113"/>
            <a:ext cx="5386917"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6"/>
          <p:cNvSpPr txBox="1"/>
          <p:nvPr>
            <p:ph idx="2" type="body"/>
          </p:nvPr>
        </p:nvSpPr>
        <p:spPr>
          <a:xfrm>
            <a:off x="609600" y="2174875"/>
            <a:ext cx="5386917"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6"/>
          <p:cNvSpPr txBox="1"/>
          <p:nvPr>
            <p:ph idx="3" type="body"/>
          </p:nvPr>
        </p:nvSpPr>
        <p:spPr>
          <a:xfrm>
            <a:off x="6193369" y="1535113"/>
            <a:ext cx="5389033"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6"/>
          <p:cNvSpPr txBox="1"/>
          <p:nvPr>
            <p:ph idx="4" type="body"/>
          </p:nvPr>
        </p:nvSpPr>
        <p:spPr>
          <a:xfrm>
            <a:off x="6193369" y="2174875"/>
            <a:ext cx="5389033"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6"/>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1" name="Google Shape;51;p7"/>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8"/>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609602" y="273050"/>
            <a:ext cx="4011084"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0" name="Google Shape;60;p9"/>
          <p:cNvSpPr txBox="1"/>
          <p:nvPr>
            <p:ph idx="1" type="body"/>
          </p:nvPr>
        </p:nvSpPr>
        <p:spPr>
          <a:xfrm>
            <a:off x="4766733" y="273053"/>
            <a:ext cx="6815667"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609602" y="1435103"/>
            <a:ext cx="4011084"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2389717" y="4800600"/>
            <a:ext cx="73152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10"/>
          <p:cNvSpPr/>
          <p:nvPr>
            <p:ph idx="2" type="pic"/>
          </p:nvPr>
        </p:nvSpPr>
        <p:spPr>
          <a:xfrm>
            <a:off x="2389717" y="612775"/>
            <a:ext cx="7315200" cy="4114800"/>
          </a:xfrm>
          <a:prstGeom prst="rect">
            <a:avLst/>
          </a:prstGeom>
          <a:noFill/>
          <a:ln>
            <a:noFill/>
          </a:ln>
        </p:spPr>
      </p:sp>
      <p:sp>
        <p:nvSpPr>
          <p:cNvPr id="68" name="Google Shape;68;p10"/>
          <p:cNvSpPr txBox="1"/>
          <p:nvPr>
            <p:ph idx="1" type="body"/>
          </p:nvPr>
        </p:nvSpPr>
        <p:spPr>
          <a:xfrm>
            <a:off x="2389717" y="5367338"/>
            <a:ext cx="73152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11"/>
          <p:cNvSpPr txBox="1"/>
          <p:nvPr>
            <p:ph idx="1" type="body"/>
          </p:nvPr>
        </p:nvSpPr>
        <p:spPr>
          <a:xfrm rot="5400000">
            <a:off x="3580606" y="-1875631"/>
            <a:ext cx="5030788" cy="10972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7285038" y="1828804"/>
            <a:ext cx="5851525"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12"/>
          <p:cNvSpPr txBox="1"/>
          <p:nvPr>
            <p:ph idx="1" type="body"/>
          </p:nvPr>
        </p:nvSpPr>
        <p:spPr>
          <a:xfrm rot="5400000">
            <a:off x="1697038" y="-812796"/>
            <a:ext cx="5851525" cy="80264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1pPr>
            <a:lvl2pPr lvl="1"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2pPr>
            <a:lvl3pPr lvl="2"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3pPr>
            <a:lvl4pPr lvl="3"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4pPr>
            <a:lvl5pPr lvl="4"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5pPr>
            <a:lvl6pPr lvl="5"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6pPr>
            <a:lvl7pPr lvl="6"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7pPr>
            <a:lvl8pPr lvl="7"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8pPr>
            <a:lvl9pPr lvl="8" marR="0" rtl="0" algn="ctr">
              <a:spcBef>
                <a:spcPts val="0"/>
              </a:spcBef>
              <a:spcAft>
                <a:spcPts val="0"/>
              </a:spcAft>
              <a:buSzPts val="1400"/>
              <a:buNone/>
              <a:defRPr b="0" i="0" sz="4400" u="none" cap="none" strike="noStrike">
                <a:solidFill>
                  <a:schemeClr val="dk1"/>
                </a:solidFill>
                <a:latin typeface="Oswald"/>
                <a:ea typeface="Oswald"/>
                <a:cs typeface="Oswald"/>
                <a:sym typeface="Oswald"/>
              </a:defRPr>
            </a:lvl9pPr>
          </a:lstStyle>
          <a:p/>
        </p:txBody>
      </p:sp>
      <p:sp>
        <p:nvSpPr>
          <p:cNvPr id="11" name="Google Shape;11;p1"/>
          <p:cNvSpPr txBox="1"/>
          <p:nvPr>
            <p:ph idx="1" type="body"/>
          </p:nvPr>
        </p:nvSpPr>
        <p:spPr>
          <a:xfrm>
            <a:off x="609600" y="1095375"/>
            <a:ext cx="10972800" cy="5030788"/>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Oswald"/>
                <a:ea typeface="Oswald"/>
                <a:cs typeface="Oswald"/>
                <a:sym typeface="Oswald"/>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Oswald"/>
                <a:ea typeface="Oswald"/>
                <a:cs typeface="Oswald"/>
                <a:sym typeface="Oswald"/>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Oswald"/>
                <a:ea typeface="Oswald"/>
                <a:cs typeface="Oswald"/>
                <a:sym typeface="Oswald"/>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Oswald"/>
                <a:ea typeface="Oswald"/>
                <a:cs typeface="Oswald"/>
                <a:sym typeface="Oswald"/>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609600" y="6356353"/>
            <a:ext cx="28448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98989"/>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4165600" y="6356353"/>
            <a:ext cx="3860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Oswald"/>
                <a:ea typeface="Oswald"/>
                <a:cs typeface="Oswald"/>
                <a:sym typeface="Oswald"/>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b="0" i="0" sz="1200" u="none" cap="none" strike="noStrike">
                <a:solidFill>
                  <a:srgbClr val="898989"/>
                </a:solidFill>
                <a:latin typeface="Oswald"/>
                <a:ea typeface="Oswald"/>
                <a:cs typeface="Oswald"/>
                <a:sym typeface="Oswald"/>
              </a:defRPr>
            </a:lvl1pPr>
            <a:lvl2pPr indent="0" lvl="1" marL="0" marR="0" rtl="0" algn="r">
              <a:spcBef>
                <a:spcPts val="0"/>
              </a:spcBef>
              <a:spcAft>
                <a:spcPts val="0"/>
              </a:spcAft>
              <a:buNone/>
              <a:defRPr b="0" i="0" sz="1200" u="none" cap="none" strike="noStrike">
                <a:solidFill>
                  <a:srgbClr val="898989"/>
                </a:solidFill>
                <a:latin typeface="Oswald"/>
                <a:ea typeface="Oswald"/>
                <a:cs typeface="Oswald"/>
                <a:sym typeface="Oswald"/>
              </a:defRPr>
            </a:lvl2pPr>
            <a:lvl3pPr indent="0" lvl="2" marL="0" marR="0" rtl="0" algn="r">
              <a:spcBef>
                <a:spcPts val="0"/>
              </a:spcBef>
              <a:spcAft>
                <a:spcPts val="0"/>
              </a:spcAft>
              <a:buNone/>
              <a:defRPr b="0" i="0" sz="1200" u="none" cap="none" strike="noStrike">
                <a:solidFill>
                  <a:srgbClr val="898989"/>
                </a:solidFill>
                <a:latin typeface="Oswald"/>
                <a:ea typeface="Oswald"/>
                <a:cs typeface="Oswald"/>
                <a:sym typeface="Oswald"/>
              </a:defRPr>
            </a:lvl3pPr>
            <a:lvl4pPr indent="0" lvl="3" marL="0" marR="0" rtl="0" algn="r">
              <a:spcBef>
                <a:spcPts val="0"/>
              </a:spcBef>
              <a:spcAft>
                <a:spcPts val="0"/>
              </a:spcAft>
              <a:buNone/>
              <a:defRPr b="0" i="0" sz="1200" u="none" cap="none" strike="noStrike">
                <a:solidFill>
                  <a:srgbClr val="898989"/>
                </a:solidFill>
                <a:latin typeface="Oswald"/>
                <a:ea typeface="Oswald"/>
                <a:cs typeface="Oswald"/>
                <a:sym typeface="Oswald"/>
              </a:defRPr>
            </a:lvl4pPr>
            <a:lvl5pPr indent="0" lvl="4" marL="0" marR="0" rtl="0" algn="r">
              <a:spcBef>
                <a:spcPts val="0"/>
              </a:spcBef>
              <a:spcAft>
                <a:spcPts val="0"/>
              </a:spcAft>
              <a:buNone/>
              <a:defRPr b="0" i="0" sz="1200" u="none" cap="none" strike="noStrike">
                <a:solidFill>
                  <a:srgbClr val="898989"/>
                </a:solidFill>
                <a:latin typeface="Oswald"/>
                <a:ea typeface="Oswald"/>
                <a:cs typeface="Oswald"/>
                <a:sym typeface="Oswald"/>
              </a:defRPr>
            </a:lvl5pPr>
            <a:lvl6pPr indent="0" lvl="5" marL="0" marR="0" rtl="0" algn="r">
              <a:spcBef>
                <a:spcPts val="0"/>
              </a:spcBef>
              <a:spcAft>
                <a:spcPts val="0"/>
              </a:spcAft>
              <a:buNone/>
              <a:defRPr b="0" i="0" sz="1200" u="none" cap="none" strike="noStrike">
                <a:solidFill>
                  <a:srgbClr val="898989"/>
                </a:solidFill>
                <a:latin typeface="Oswald"/>
                <a:ea typeface="Oswald"/>
                <a:cs typeface="Oswald"/>
                <a:sym typeface="Oswald"/>
              </a:defRPr>
            </a:lvl6pPr>
            <a:lvl7pPr indent="0" lvl="6" marL="0" marR="0" rtl="0" algn="r">
              <a:spcBef>
                <a:spcPts val="0"/>
              </a:spcBef>
              <a:spcAft>
                <a:spcPts val="0"/>
              </a:spcAft>
              <a:buNone/>
              <a:defRPr b="0" i="0" sz="1200" u="none" cap="none" strike="noStrike">
                <a:solidFill>
                  <a:srgbClr val="898989"/>
                </a:solidFill>
                <a:latin typeface="Oswald"/>
                <a:ea typeface="Oswald"/>
                <a:cs typeface="Oswald"/>
                <a:sym typeface="Oswald"/>
              </a:defRPr>
            </a:lvl7pPr>
            <a:lvl8pPr indent="0" lvl="7" marL="0" marR="0" rtl="0" algn="r">
              <a:spcBef>
                <a:spcPts val="0"/>
              </a:spcBef>
              <a:spcAft>
                <a:spcPts val="0"/>
              </a:spcAft>
              <a:buNone/>
              <a:defRPr b="0" i="0" sz="1200" u="none" cap="none" strike="noStrike">
                <a:solidFill>
                  <a:srgbClr val="898989"/>
                </a:solidFill>
                <a:latin typeface="Oswald"/>
                <a:ea typeface="Oswald"/>
                <a:cs typeface="Oswald"/>
                <a:sym typeface="Oswald"/>
              </a:defRPr>
            </a:lvl8pPr>
            <a:lvl9pPr indent="0" lvl="8" marL="0" marR="0" rtl="0" algn="r">
              <a:spcBef>
                <a:spcPts val="0"/>
              </a:spcBef>
              <a:spcAft>
                <a:spcPts val="0"/>
              </a:spcAft>
              <a:buNone/>
              <a:defRPr b="0" i="0" sz="1200" u="none" cap="none" strike="noStrike">
                <a:solidFill>
                  <a:srgbClr val="898989"/>
                </a:solidFill>
                <a:latin typeface="Oswald"/>
                <a:ea typeface="Oswald"/>
                <a:cs typeface="Oswald"/>
                <a:sym typeface="Oswald"/>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8" name="Shape 88"/>
        <p:cNvGrpSpPr/>
        <p:nvPr/>
      </p:nvGrpSpPr>
      <p:grpSpPr>
        <a:xfrm>
          <a:off x="0" y="0"/>
          <a:ext cx="0" cy="0"/>
          <a:chOff x="0" y="0"/>
          <a:chExt cx="0" cy="0"/>
        </a:xfrm>
      </p:grpSpPr>
      <p:sp>
        <p:nvSpPr>
          <p:cNvPr id="89" name="Google Shape;89;p13"/>
          <p:cNvSpPr/>
          <p:nvPr/>
        </p:nvSpPr>
        <p:spPr>
          <a:xfrm>
            <a:off x="1524000" y="0"/>
            <a:ext cx="9144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3"/>
          <p:cNvSpPr/>
          <p:nvPr/>
        </p:nvSpPr>
        <p:spPr>
          <a:xfrm>
            <a:off x="5656780" y="851521"/>
            <a:ext cx="4638605" cy="5154967"/>
          </a:xfrm>
          <a:custGeom>
            <a:rect b="b" l="l" r="r" t="t"/>
            <a:pathLst>
              <a:path extrusionOk="0" h="5154967" w="6184806">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rgbClr val="7F7F7F">
              <a:alpha val="1490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91" name="Google Shape;91;p13"/>
          <p:cNvPicPr preferRelativeResize="0"/>
          <p:nvPr/>
        </p:nvPicPr>
        <p:blipFill rotWithShape="1">
          <a:blip r:embed="rId3">
            <a:alphaModFix/>
          </a:blip>
          <a:srcRect b="0" l="0" r="59916" t="0"/>
          <a:stretch/>
        </p:blipFill>
        <p:spPr>
          <a:xfrm>
            <a:off x="6854891" y="1715881"/>
            <a:ext cx="3203509" cy="3426237"/>
          </a:xfrm>
          <a:prstGeom prst="rect">
            <a:avLst/>
          </a:prstGeom>
          <a:noFill/>
          <a:ln>
            <a:noFill/>
          </a:ln>
        </p:spPr>
      </p:pic>
      <p:sp>
        <p:nvSpPr>
          <p:cNvPr id="92" name="Google Shape;92;p13"/>
          <p:cNvSpPr txBox="1"/>
          <p:nvPr>
            <p:ph idx="1" type="subTitle"/>
          </p:nvPr>
        </p:nvSpPr>
        <p:spPr>
          <a:xfrm>
            <a:off x="1245686" y="648614"/>
            <a:ext cx="8534400" cy="17526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spcBef>
                <a:spcPts val="640"/>
              </a:spcBef>
              <a:spcAft>
                <a:spcPts val="0"/>
              </a:spcAft>
              <a:buClr>
                <a:schemeClr val="dk1"/>
              </a:buClr>
              <a:buSzPts val="3200"/>
              <a:buNone/>
            </a:pPr>
            <a:r>
              <a:rPr b="1" lang="en-US">
                <a:solidFill>
                  <a:schemeClr val="dk1"/>
                </a:solidFill>
                <a:latin typeface="Times New Roman"/>
                <a:ea typeface="Times New Roman"/>
                <a:cs typeface="Times New Roman"/>
                <a:sym typeface="Times New Roman"/>
              </a:rPr>
              <a:t>TITLE PAGE</a:t>
            </a:r>
            <a:endParaRPr b="1">
              <a:solidFill>
                <a:schemeClr val="dk1"/>
              </a:solidFill>
              <a:latin typeface="Times New Roman"/>
              <a:ea typeface="Times New Roman"/>
              <a:cs typeface="Times New Roman"/>
              <a:sym typeface="Times New Roman"/>
            </a:endParaRPr>
          </a:p>
        </p:txBody>
      </p:sp>
      <p:sp>
        <p:nvSpPr>
          <p:cNvPr id="93" name="Google Shape;93;p13"/>
          <p:cNvSpPr txBox="1"/>
          <p:nvPr>
            <p:ph type="ctrTitle"/>
          </p:nvPr>
        </p:nvSpPr>
        <p:spPr>
          <a:xfrm>
            <a:off x="331286" y="-526757"/>
            <a:ext cx="10363200" cy="207645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4000">
                <a:solidFill>
                  <a:schemeClr val="dk2"/>
                </a:solidFill>
                <a:latin typeface="Garamond"/>
                <a:ea typeface="Garamond"/>
                <a:cs typeface="Garamond"/>
                <a:sym typeface="Garamond"/>
              </a:rPr>
              <a:t>SMART INDIA HACKATHON 2026</a:t>
            </a:r>
            <a:endParaRPr b="1" sz="4000">
              <a:solidFill>
                <a:schemeClr val="dk2"/>
              </a:solidFill>
              <a:latin typeface="Garamond"/>
              <a:ea typeface="Garamond"/>
              <a:cs typeface="Garamond"/>
              <a:sym typeface="Garamond"/>
            </a:endParaRPr>
          </a:p>
        </p:txBody>
      </p:sp>
      <p:sp>
        <p:nvSpPr>
          <p:cNvPr id="94" name="Google Shape;94;p13"/>
          <p:cNvSpPr txBox="1"/>
          <p:nvPr/>
        </p:nvSpPr>
        <p:spPr>
          <a:xfrm>
            <a:off x="331286" y="2076450"/>
            <a:ext cx="5924550" cy="470301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900" u="none" cap="none" strike="noStrike">
                <a:solidFill>
                  <a:srgbClr val="1F497D"/>
                </a:solidFill>
                <a:latin typeface="Arial"/>
                <a:ea typeface="Arial"/>
                <a:cs typeface="Arial"/>
                <a:sym typeface="Arial"/>
              </a:rPr>
              <a:t>Problem Statement ID  –  SIH26119</a:t>
            </a:r>
            <a:endParaRPr b="0" i="0" sz="1800" u="none" cap="none" strike="noStrike">
              <a:solidFill>
                <a:schemeClr val="dk1"/>
              </a:solidFill>
              <a:latin typeface="Calibri"/>
              <a:ea typeface="Calibri"/>
              <a:cs typeface="Calibri"/>
              <a:sym typeface="Calibri"/>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Problem Statement Title –  Indigenous GPU-Accelerated</a:t>
            </a:r>
            <a:endParaRPr/>
          </a:p>
          <a:p>
            <a:pPr indent="0" lvl="0" marL="256032" marR="0" rtl="0" algn="l">
              <a:spcBef>
                <a:spcPts val="500"/>
              </a:spcBef>
              <a:spcAft>
                <a:spcPts val="0"/>
              </a:spcAft>
              <a:buNone/>
            </a:pPr>
            <a:r>
              <a:rPr b="1" i="0" lang="en-US" sz="1500" u="none" cap="none" strike="noStrike">
                <a:solidFill>
                  <a:srgbClr val="1A1A1A"/>
                </a:solidFill>
                <a:latin typeface="Arial"/>
                <a:ea typeface="Arial"/>
                <a:cs typeface="Arial"/>
                <a:sym typeface="Arial"/>
              </a:rPr>
              <a:t>Optimization Solver (Sovereign Alternative to</a:t>
            </a:r>
            <a:endParaRPr/>
          </a:p>
          <a:p>
            <a:pPr indent="0" lvl="0" marL="256032" marR="0" rtl="0" algn="l">
              <a:spcBef>
                <a:spcPts val="500"/>
              </a:spcBef>
              <a:spcAft>
                <a:spcPts val="0"/>
              </a:spcAft>
              <a:buNone/>
            </a:pPr>
            <a:r>
              <a:rPr b="1" i="0" lang="en-US" sz="1500" u="none" cap="none" strike="noStrike">
                <a:solidFill>
                  <a:srgbClr val="1A1A1A"/>
                </a:solidFill>
                <a:latin typeface="Arial"/>
                <a:ea typeface="Arial"/>
                <a:cs typeface="Arial"/>
                <a:sym typeface="Arial"/>
              </a:rPr>
              <a:t>Express / CEPLEX)</a:t>
            </a:r>
            <a:endParaRPr/>
          </a:p>
          <a:p>
            <a:pPr indent="0" lvl="0" marL="0" marR="0" rtl="0" algn="l">
              <a:spcBef>
                <a:spcPts val="500"/>
              </a:spcBef>
              <a:spcAft>
                <a:spcPts val="0"/>
              </a:spcAft>
              <a:buNone/>
            </a:pPr>
            <a:r>
              <a:rPr b="0" i="0" lang="en-US" sz="1300" u="none" cap="none" strike="noStrike">
                <a:solidFill>
                  <a:srgbClr val="555555"/>
                </a:solidFill>
                <a:latin typeface="Arial"/>
                <a:ea typeface="Arial"/>
                <a:cs typeface="Arial"/>
                <a:sym typeface="Arial"/>
              </a:rPr>
              <a:t>Organisation –  Mangalore Refinery and Petrochemicals Ltd (MRPL)</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Theme –  Smart Automation</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PS Category –  Software</a:t>
            </a:r>
            <a:endParaRPr/>
          </a:p>
          <a:p>
            <a:pPr indent="0" lvl="0" marL="0" marR="0" rtl="0" algn="l">
              <a:spcBef>
                <a:spcPts val="500"/>
              </a:spcBef>
              <a:spcAft>
                <a:spcPts val="0"/>
              </a:spcAft>
              <a:buNone/>
            </a:pPr>
            <a:r>
              <a:rPr b="1" i="0" lang="en-US" sz="1500" u="none" cap="none" strike="noStrike">
                <a:solidFill>
                  <a:srgbClr val="1A1A1A"/>
                </a:solidFill>
                <a:latin typeface="Arial"/>
                <a:ea typeface="Arial"/>
                <a:cs typeface="Arial"/>
                <a:sym typeface="Arial"/>
              </a:rPr>
              <a:t>Team ID –</a:t>
            </a:r>
            <a:endParaRPr/>
          </a:p>
          <a:p>
            <a:pPr indent="0" lvl="0" marL="0" marR="0" rtl="0" algn="l">
              <a:spcBef>
                <a:spcPts val="500"/>
              </a:spcBef>
              <a:spcAft>
                <a:spcPts val="0"/>
              </a:spcAft>
              <a:buNone/>
            </a:pPr>
            <a:r>
              <a:rPr b="1" i="0" lang="en-US" sz="1500" u="none" cap="none" strike="noStrike">
                <a:solidFill>
                  <a:srgbClr val="1F497D"/>
                </a:solidFill>
                <a:latin typeface="Arial"/>
                <a:ea typeface="Arial"/>
                <a:cs typeface="Arial"/>
                <a:sym typeface="Arial"/>
              </a:rPr>
              <a:t>Team Name –  ZeroCloud</a:t>
            </a:r>
            <a:endParaRPr/>
          </a:p>
        </p:txBody>
      </p:sp>
      <p:pic>
        <p:nvPicPr>
          <p:cNvPr id="95" name="Google Shape;95;p13"/>
          <p:cNvPicPr preferRelativeResize="0"/>
          <p:nvPr/>
        </p:nvPicPr>
        <p:blipFill rotWithShape="1">
          <a:blip r:embed="rId4">
            <a:alphaModFix/>
          </a:blip>
          <a:srcRect b="0" l="0" r="0" t="0"/>
          <a:stretch/>
        </p:blipFill>
        <p:spPr>
          <a:xfrm>
            <a:off x="9780086" y="1500"/>
            <a:ext cx="2249850" cy="106233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02" name="Google Shape;102;p14"/>
          <p:cNvSpPr txBox="1"/>
          <p:nvPr>
            <p:ph type="title"/>
          </p:nvPr>
        </p:nvSpPr>
        <p:spPr>
          <a:xfrm>
            <a:off x="717523" y="363925"/>
            <a:ext cx="10972800" cy="1143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3000">
                <a:solidFill>
                  <a:srgbClr val="FFFFFF"/>
                </a:solidFill>
                <a:latin typeface="Arial"/>
                <a:ea typeface="Arial"/>
                <a:cs typeface="Arial"/>
                <a:sym typeface="Arial"/>
              </a:rPr>
              <a:t>NIRNAY  ·  a solver India can read, change and own</a:t>
            </a:r>
            <a:endParaRPr/>
          </a:p>
        </p:txBody>
      </p:sp>
      <p:sp>
        <p:nvSpPr>
          <p:cNvPr id="103" name="Google Shape;103;p14"/>
          <p:cNvSpPr txBox="1"/>
          <p:nvPr/>
        </p:nvSpPr>
        <p:spPr>
          <a:xfrm>
            <a:off x="411480" y="1234440"/>
            <a:ext cx="6720840" cy="4892040"/>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0070C0"/>
              </a:buClr>
              <a:buSzPts val="1700"/>
              <a:buFont typeface="Noto Sans Symbols"/>
              <a:buChar char="❖"/>
            </a:pPr>
            <a:r>
              <a:rPr b="1" i="0" lang="en-US" sz="1700" u="none" cap="none" strike="noStrike">
                <a:solidFill>
                  <a:srgbClr val="0070C0"/>
                </a:solidFill>
                <a:latin typeface="Arial"/>
                <a:ea typeface="Arial"/>
                <a:cs typeface="Arial"/>
                <a:sym typeface="Arial"/>
              </a:rPr>
              <a:t>Proposed Solution</a:t>
            </a:r>
            <a:endParaRPr b="0" i="0" sz="3200" u="sng" cap="none" strike="noStrike">
              <a:solidFill>
                <a:schemeClr val="dk2"/>
              </a:solidFill>
              <a:latin typeface="Arial"/>
              <a:ea typeface="Arial"/>
              <a:cs typeface="Arial"/>
              <a:sym typeface="Arial"/>
            </a:endParaRPr>
          </a:p>
          <a:p>
            <a:pPr indent="0" lvl="0" marL="0" marR="0" rtl="0" algn="l">
              <a:spcBef>
                <a:spcPts val="300"/>
              </a:spcBef>
              <a:spcAft>
                <a:spcPts val="0"/>
              </a:spcAft>
              <a:buNone/>
            </a:pPr>
            <a:r>
              <a:rPr b="0" i="0" lang="en-US" sz="1250" u="none" cap="none" strike="noStrike">
                <a:solidFill>
                  <a:srgbClr val="1A1A1A"/>
                </a:solidFill>
                <a:latin typeface="Arial"/>
                <a:ea typeface="Arial"/>
                <a:cs typeface="Arial"/>
                <a:sym typeface="Arial"/>
              </a:rPr>
              <a:t>An LP, MILP and QP optimisation solver written from the mathematics up.</a:t>
            </a:r>
            <a:endParaRPr/>
          </a:p>
          <a:p>
            <a:pPr indent="0" lvl="0" marL="0" marR="0" rtl="0" algn="l">
              <a:spcBef>
                <a:spcPts val="300"/>
              </a:spcBef>
              <a:spcAft>
                <a:spcPts val="0"/>
              </a:spcAft>
              <a:buNone/>
            </a:pPr>
            <a:r>
              <a:rPr b="1" i="0" lang="en-US" sz="1250" u="none" cap="none" strike="noStrike">
                <a:solidFill>
                  <a:srgbClr val="1A1A1A"/>
                </a:solidFill>
                <a:latin typeface="Arial"/>
                <a:ea typeface="Arial"/>
                <a:cs typeface="Arial"/>
                <a:sym typeface="Arial"/>
              </a:rPr>
              <a:t>No solver library inside — every factorisation, pivot and cut is ours.</a:t>
            </a:r>
            <a:endParaRPr/>
          </a:p>
          <a:p>
            <a:pPr indent="0" lvl="0" marL="0" marR="0" rtl="0" algn="l">
              <a:spcBef>
                <a:spcPts val="300"/>
              </a:spcBef>
              <a:spcAft>
                <a:spcPts val="0"/>
              </a:spcAft>
              <a:buNone/>
            </a:pPr>
            <a:r>
              <a:t/>
            </a:r>
            <a:endParaRPr b="1" i="0" sz="1250" u="none" cap="none" strike="noStrike">
              <a:solidFill>
                <a:srgbClr val="1A1A1A"/>
              </a:solidFill>
              <a:latin typeface="Arial"/>
              <a:ea typeface="Arial"/>
              <a:cs typeface="Arial"/>
              <a:sym typeface="Arial"/>
            </a:endParaRPr>
          </a:p>
          <a:p>
            <a:pPr indent="0" lvl="0" marL="0" marR="0" rtl="0" algn="l">
              <a:spcBef>
                <a:spcPts val="300"/>
              </a:spcBef>
              <a:spcAft>
                <a:spcPts val="0"/>
              </a:spcAft>
              <a:buNone/>
            </a:pPr>
            <a:r>
              <a:rPr b="1" i="0" lang="en-US" sz="1700" u="none" cap="none" strike="noStrike">
                <a:solidFill>
                  <a:srgbClr val="0070C0"/>
                </a:solidFill>
                <a:latin typeface="Arial"/>
                <a:ea typeface="Arial"/>
                <a:cs typeface="Arial"/>
                <a:sym typeface="Arial"/>
              </a:rPr>
              <a:t>How it addresses the problem</a:t>
            </a:r>
            <a:endParaRPr/>
          </a:p>
          <a:p>
            <a:pPr indent="0" lvl="0" marL="0" marR="0" rtl="0" algn="l">
              <a:spcBef>
                <a:spcPts val="300"/>
              </a:spcBef>
              <a:spcAft>
                <a:spcPts val="0"/>
              </a:spcAft>
              <a:buNone/>
            </a:pPr>
            <a:r>
              <a:rPr b="0" i="0" lang="en-US" sz="1200" u="none" cap="none" strike="noStrike">
                <a:solidFill>
                  <a:srgbClr val="1A1A1A"/>
                </a:solidFill>
                <a:latin typeface="Arial"/>
                <a:ea typeface="Arial"/>
                <a:cs typeface="Arial"/>
                <a:sym typeface="Arial"/>
              </a:rPr>
              <a:t>Refinery planning, blending and scheduling models run on CPLEX,</a:t>
            </a:r>
            <a:endParaRPr/>
          </a:p>
          <a:p>
            <a:pPr indent="0" lvl="0" marL="0" marR="0" rtl="0" algn="l">
              <a:spcBef>
                <a:spcPts val="300"/>
              </a:spcBef>
              <a:spcAft>
                <a:spcPts val="0"/>
              </a:spcAft>
              <a:buNone/>
            </a:pPr>
            <a:r>
              <a:rPr b="0" i="0" lang="en-US" sz="1200" u="none" cap="none" strike="noStrike">
                <a:solidFill>
                  <a:srgbClr val="1A1A1A"/>
                </a:solidFill>
                <a:latin typeface="Arial"/>
                <a:ea typeface="Arial"/>
                <a:cs typeface="Arial"/>
                <a:sym typeface="Arial"/>
              </a:rPr>
              <a:t>Gurobi or Xpress: licence fees, and no way to look inside. NIRNAY:</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Three LP engines: dual simplex, interior point, PDLP on the GPU</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Branch-and-bound with cuts for MILP; interior point for convex QP</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Reads the MPS/QPS files every planning tool already writes</a:t>
            </a:r>
            <a:endParaRPr/>
          </a:p>
          <a:p>
            <a:pPr indent="0" lvl="0" marL="146304" marR="0" rtl="0" algn="l">
              <a:spcBef>
                <a:spcPts val="300"/>
              </a:spcBef>
              <a:spcAft>
                <a:spcPts val="0"/>
              </a:spcAft>
              <a:buNone/>
            </a:pPr>
            <a:r>
              <a:rPr b="0" i="0" lang="en-US" sz="1200" u="none" cap="none" strike="noStrike">
                <a:solidFill>
                  <a:srgbClr val="1A1A1A"/>
                </a:solidFill>
                <a:latin typeface="Arial"/>
                <a:ea typeface="Arial"/>
                <a:cs typeface="Arial"/>
                <a:sym typeface="Arial"/>
              </a:rPr>
              <a:t>•  Every answer re-checked against an independent solver</a:t>
            </a:r>
            <a:endParaRPr/>
          </a:p>
        </p:txBody>
      </p:sp>
      <p:sp>
        <p:nvSpPr>
          <p:cNvPr id="104" name="Google Shape;104;p14"/>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sp>
        <p:nvSpPr>
          <p:cNvPr descr="Your startup LOGO" id="105" name="Google Shape;105;p14"/>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06" name="Google Shape;106;p14"/>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07" name="Google Shape;107;p14"/>
          <p:cNvSpPr/>
          <p:nvPr/>
        </p:nvSpPr>
        <p:spPr>
          <a:xfrm>
            <a:off x="7406640" y="1234440"/>
            <a:ext cx="4434840" cy="4892040"/>
          </a:xfrm>
          <a:prstGeom prst="roundRect">
            <a:avLst>
              <a:gd fmla="val 10000" name="adj"/>
            </a:avLst>
          </a:prstGeom>
          <a:solidFill>
            <a:srgbClr val="E8F1FA"/>
          </a:solidFill>
          <a:ln cap="flat" cmpd="sng" w="15875">
            <a:solidFill>
              <a:srgbClr val="0070C0"/>
            </a:solidFill>
            <a:prstDash val="solid"/>
            <a:round/>
            <a:headEnd len="sm" w="sm" type="none"/>
            <a:tailEnd len="sm" w="sm" type="none"/>
          </a:ln>
        </p:spPr>
        <p:txBody>
          <a:bodyPr anchorCtr="0" anchor="ctr" bIns="45700" lIns="201150" spcFirstLastPara="1" rIns="164575" wrap="square" tIns="146300">
            <a:noAutofit/>
          </a:bodyPr>
          <a:lstStyle/>
          <a:p>
            <a:pPr indent="0" lvl="0" marL="0" marR="0" rtl="0" algn="l">
              <a:spcBef>
                <a:spcPts val="0"/>
              </a:spcBef>
              <a:spcAft>
                <a:spcPts val="0"/>
              </a:spcAft>
              <a:buNone/>
            </a:pPr>
            <a:r>
              <a:rPr b="1" i="0" lang="en-US" sz="1700" u="none" cap="none" strike="noStrike">
                <a:solidFill>
                  <a:srgbClr val="0070C0"/>
                </a:solidFill>
                <a:latin typeface="Arial"/>
                <a:ea typeface="Arial"/>
                <a:cs typeface="Arial"/>
                <a:sym typeface="Arial"/>
              </a:rPr>
              <a:t>Innovation &amp; Uniqueness</a:t>
            </a:r>
            <a:endParaRPr/>
          </a:p>
          <a:p>
            <a:pPr indent="0" lvl="0" marL="0" marR="0" rtl="0" algn="l">
              <a:spcBef>
                <a:spcPts val="150"/>
              </a:spcBef>
              <a:spcAft>
                <a:spcPts val="0"/>
              </a:spcAft>
              <a:buNone/>
            </a:pPr>
            <a:r>
              <a:rPr b="0" i="0" lang="en-US" sz="1000" u="none" cap="none" strike="noStrike">
                <a:solidFill>
                  <a:srgbClr val="555555"/>
                </a:solidFill>
                <a:latin typeface="Arial"/>
                <a:ea typeface="Arial"/>
                <a:cs typeface="Arial"/>
                <a:sym typeface="Arial"/>
              </a:rPr>
              <a:t>Each claim names what existing work does not do.</a:t>
            </a:r>
            <a:endParaRPr/>
          </a:p>
          <a:p>
            <a:pPr indent="0" lvl="0" marL="0" marR="0" rtl="0" algn="l">
              <a:spcBef>
                <a:spcPts val="150"/>
              </a:spcBef>
              <a:spcAft>
                <a:spcPts val="0"/>
              </a:spcAft>
              <a:buNone/>
            </a:pPr>
            <a:r>
              <a:t/>
            </a:r>
            <a:endParaRPr b="0" i="0" sz="1000" u="none" cap="none" strike="noStrike">
              <a:solidFill>
                <a:srgbClr val="555555"/>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2E7D32"/>
                </a:solidFill>
                <a:latin typeface="Arial"/>
                <a:ea typeface="Arial"/>
                <a:cs typeface="Arial"/>
                <a:sym typeface="Arial"/>
              </a:rPr>
              <a:t>1.  Every factorisation is ours</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Open-source solvers borrow LU, Cholesky and</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orderings from libraries. We wrote them: sparse</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LU with basis repair, Cholesky, quasi-definite</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LDLᵀ — auditable end to end, no black box.</a:t>
            </a:r>
            <a:endParaRPr/>
          </a:p>
          <a:p>
            <a:pPr indent="0" lvl="0" marL="118872" marR="0" rtl="0" algn="l">
              <a:spcBef>
                <a:spcPts val="150"/>
              </a:spcBef>
              <a:spcAft>
                <a:spcPts val="0"/>
              </a:spcAft>
              <a:buNone/>
            </a:pPr>
            <a:r>
              <a:rPr b="1" i="0" lang="en-US" sz="1100" u="none" cap="none" strike="noStrike">
                <a:solidFill>
                  <a:srgbClr val="2E7D32"/>
                </a:solidFill>
                <a:latin typeface="Arial"/>
                <a:ea typeface="Arial"/>
                <a:cs typeface="Arial"/>
                <a:sym typeface="Arial"/>
              </a:rPr>
              <a:t>Verified: 90/90 Netlib LPs, 121/138 QPs.</a:t>
            </a:r>
            <a:endParaRPr/>
          </a:p>
          <a:p>
            <a:pPr indent="0" lvl="0" marL="0" marR="0" rtl="0" algn="l">
              <a:spcBef>
                <a:spcPts val="150"/>
              </a:spcBef>
              <a:spcAft>
                <a:spcPts val="0"/>
              </a:spcAft>
              <a:buNone/>
            </a:pPr>
            <a:r>
              <a:t/>
            </a:r>
            <a:endParaRPr b="1" i="0" sz="1100" u="none" cap="none" strike="noStrike">
              <a:solidFill>
                <a:srgbClr val="2E7D32"/>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1F497D"/>
                </a:solidFill>
                <a:latin typeface="Arial"/>
                <a:ea typeface="Arial"/>
                <a:cs typeface="Arial"/>
                <a:sym typeface="Arial"/>
              </a:rPr>
              <a:t>2.  Three engines, chosen by problem shape</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Simplex for warm starts and MILP, interior point</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for large sparse LP/QP, GPU PDLP for huge LPs:</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datt256 in 0.8 s where HiGHS's IPM takes 259 s.</a:t>
            </a:r>
            <a:endParaRPr/>
          </a:p>
          <a:p>
            <a:pPr indent="0" lvl="0" marL="0" marR="0" rtl="0" algn="l">
              <a:spcBef>
                <a:spcPts val="150"/>
              </a:spcBef>
              <a:spcAft>
                <a:spcPts val="0"/>
              </a:spcAft>
              <a:buNone/>
            </a:pPr>
            <a:r>
              <a:t/>
            </a:r>
            <a:endParaRPr b="0" i="0" sz="1100" u="none" cap="none" strike="noStrike">
              <a:solidFill>
                <a:srgbClr val="1A1A1A"/>
              </a:solidFill>
              <a:latin typeface="Arial"/>
              <a:ea typeface="Arial"/>
              <a:cs typeface="Arial"/>
              <a:sym typeface="Arial"/>
            </a:endParaRPr>
          </a:p>
          <a:p>
            <a:pPr indent="0" lvl="0" marL="0" marR="0" rtl="0" algn="l">
              <a:spcBef>
                <a:spcPts val="150"/>
              </a:spcBef>
              <a:spcAft>
                <a:spcPts val="0"/>
              </a:spcAft>
              <a:buNone/>
            </a:pPr>
            <a:r>
              <a:rPr b="1" i="0" lang="en-US" sz="1400" u="none" cap="none" strike="noStrike">
                <a:solidFill>
                  <a:srgbClr val="1F497D"/>
                </a:solidFill>
                <a:latin typeface="Arial"/>
                <a:ea typeface="Arial"/>
                <a:cs typeface="Arial"/>
                <a:sym typeface="Arial"/>
              </a:rPr>
              <a:t>3.  Correctness checked, not assumed</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Every solve is re-solved independently. It caught</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bugs in the references too: HiGHS misreads a QPS</a:t>
            </a:r>
            <a:endParaRPr/>
          </a:p>
          <a:p>
            <a:pPr indent="0" lvl="0" marL="118872" marR="0" rtl="0" algn="l">
              <a:spcBef>
                <a:spcPts val="150"/>
              </a:spcBef>
              <a:spcAft>
                <a:spcPts val="0"/>
              </a:spcAft>
              <a:buNone/>
            </a:pPr>
            <a:r>
              <a:rPr b="0" i="0" lang="en-US" sz="1100" u="none" cap="none" strike="noStrike">
                <a:solidFill>
                  <a:srgbClr val="1A1A1A"/>
                </a:solidFill>
                <a:latin typeface="Arial"/>
                <a:ea typeface="Arial"/>
                <a:cs typeface="Arial"/>
                <a:sym typeface="Arial"/>
              </a:rPr>
              <a:t>file; cuOpt reports a wrong optimum on p0201.</a:t>
            </a:r>
            <a:endParaRPr/>
          </a:p>
        </p:txBody>
      </p:sp>
      <p:sp>
        <p:nvSpPr>
          <p:cNvPr id="108" name="Google Shape;108;p14"/>
          <p:cNvSpPr txBox="1"/>
          <p:nvPr/>
        </p:nvSpPr>
        <p:spPr>
          <a:xfrm>
            <a:off x="411480" y="3822191"/>
            <a:ext cx="6720840" cy="34747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050" u="none" cap="none" strike="noStrike">
                <a:solidFill>
                  <a:srgbClr val="555555"/>
                </a:solidFill>
                <a:latin typeface="Arial"/>
                <a:ea typeface="Arial"/>
                <a:cs typeface="Arial"/>
                <a:sym typeface="Arial"/>
              </a:rPr>
              <a:t>ONE MODEL, START TO FINISH — NO FOREIGN SOLVER IN THE LOOP</a:t>
            </a:r>
            <a:endParaRPr/>
          </a:p>
        </p:txBody>
      </p:sp>
      <p:sp>
        <p:nvSpPr>
          <p:cNvPr id="109" name="Google Shape;109;p14"/>
          <p:cNvSpPr/>
          <p:nvPr/>
        </p:nvSpPr>
        <p:spPr>
          <a:xfrm>
            <a:off x="411480" y="4187952"/>
            <a:ext cx="2011680" cy="960120"/>
          </a:xfrm>
          <a:prstGeom prst="roundRect">
            <a:avLst>
              <a:gd fmla="val 10000" name="adj"/>
            </a:avLst>
          </a:prstGeom>
          <a:solidFill>
            <a:srgbClr val="E8F1FA"/>
          </a:solidFill>
          <a:ln cap="flat" cmpd="sng" w="16500">
            <a:solidFill>
              <a:srgbClr val="0070C0"/>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Refinery model (.mps)</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LP, MILP or QP from any planning tool</a:t>
            </a:r>
            <a:endParaRPr/>
          </a:p>
        </p:txBody>
      </p:sp>
      <p:sp>
        <p:nvSpPr>
          <p:cNvPr id="110" name="Google Shape;110;p14"/>
          <p:cNvSpPr/>
          <p:nvPr/>
        </p:nvSpPr>
        <p:spPr>
          <a:xfrm>
            <a:off x="2496312" y="4562856"/>
            <a:ext cx="256032" cy="201168"/>
          </a:xfrm>
          <a:prstGeom prst="right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1" name="Google Shape;111;p14"/>
          <p:cNvSpPr/>
          <p:nvPr/>
        </p:nvSpPr>
        <p:spPr>
          <a:xfrm>
            <a:off x="2761488" y="4187952"/>
            <a:ext cx="2011680" cy="960120"/>
          </a:xfrm>
          <a:prstGeom prst="roundRect">
            <a:avLst>
              <a:gd fmla="val 10000" name="adj"/>
            </a:avLst>
          </a:prstGeom>
          <a:solidFill>
            <a:srgbClr val="E8F1FA"/>
          </a:solidFill>
          <a:ln cap="flat" cmpd="sng" w="16500">
            <a:solidFill>
              <a:srgbClr val="0070C0"/>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NIRNAY presolves, solves</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picks the engine, recovers exact duals</a:t>
            </a:r>
            <a:endParaRPr/>
          </a:p>
        </p:txBody>
      </p:sp>
      <p:sp>
        <p:nvSpPr>
          <p:cNvPr id="112" name="Google Shape;112;p14"/>
          <p:cNvSpPr/>
          <p:nvPr/>
        </p:nvSpPr>
        <p:spPr>
          <a:xfrm>
            <a:off x="4846320" y="4562856"/>
            <a:ext cx="256032" cy="201168"/>
          </a:xfrm>
          <a:prstGeom prst="right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3" name="Google Shape;113;p14"/>
          <p:cNvSpPr/>
          <p:nvPr/>
        </p:nvSpPr>
        <p:spPr>
          <a:xfrm>
            <a:off x="5111496" y="4187952"/>
            <a:ext cx="2011680" cy="960120"/>
          </a:xfrm>
          <a:prstGeom prst="roundRect">
            <a:avLst>
              <a:gd fmla="val 10000" name="adj"/>
            </a:avLst>
          </a:prstGeom>
          <a:solidFill>
            <a:srgbClr val="ECF4EC"/>
          </a:solidFill>
          <a:ln cap="flat" cmpd="sng" w="16500">
            <a:solidFill>
              <a:srgbClr val="2E7D32"/>
            </a:solidFill>
            <a:prstDash val="solid"/>
            <a:round/>
            <a:headEnd len="sm" w="sm" type="none"/>
            <a:tailEnd len="sm" w="sm" type="none"/>
          </a:ln>
        </p:spPr>
        <p:txBody>
          <a:bodyPr anchorCtr="0" anchor="ctr" bIns="45700" lIns="73150" spcFirstLastPara="1" rIns="73150" wrap="square" tIns="45700">
            <a:noAutofit/>
          </a:bodyPr>
          <a:lstStyle/>
          <a:p>
            <a:pPr indent="0" lvl="0" marL="0" marR="0" rtl="0" algn="ctr">
              <a:spcBef>
                <a:spcPts val="0"/>
              </a:spcBef>
              <a:spcAft>
                <a:spcPts val="0"/>
              </a:spcAft>
              <a:buNone/>
            </a:pPr>
            <a:r>
              <a:rPr b="1" i="0" lang="en-US" sz="1100" u="none" cap="none" strike="noStrike">
                <a:solidFill>
                  <a:srgbClr val="1F497D"/>
                </a:solidFill>
                <a:latin typeface="Arial"/>
                <a:ea typeface="Arial"/>
                <a:cs typeface="Arial"/>
                <a:sym typeface="Arial"/>
              </a:rPr>
              <a:t>Plan + shadow prices</a:t>
            </a:r>
            <a:endParaRPr/>
          </a:p>
          <a:p>
            <a:pPr indent="0" lvl="0" marL="0" marR="0" rtl="0" algn="ctr">
              <a:spcBef>
                <a:spcPts val="200"/>
              </a:spcBef>
              <a:spcAft>
                <a:spcPts val="0"/>
              </a:spcAft>
              <a:buNone/>
            </a:pPr>
            <a:r>
              <a:rPr b="0" i="0" lang="en-US" sz="850" u="none" cap="none" strike="noStrike">
                <a:solidFill>
                  <a:srgbClr val="555555"/>
                </a:solidFill>
                <a:latin typeface="Arial"/>
                <a:ea typeface="Arial"/>
                <a:cs typeface="Arial"/>
                <a:sym typeface="Arial"/>
              </a:rPr>
              <a:t>optimum and duals, independently checked</a:t>
            </a:r>
            <a:endParaRPr/>
          </a:p>
        </p:txBody>
      </p:sp>
      <p:sp>
        <p:nvSpPr>
          <p:cNvPr id="114" name="Google Shape;114;p14"/>
          <p:cNvSpPr txBox="1"/>
          <p:nvPr/>
        </p:nvSpPr>
        <p:spPr>
          <a:xfrm>
            <a:off x="411480" y="5303520"/>
            <a:ext cx="6720840" cy="5029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100" u="none" cap="none" strike="noStrike">
                <a:solidFill>
                  <a:srgbClr val="1A1A1A"/>
                </a:solidFill>
                <a:latin typeface="Arial"/>
                <a:ea typeface="Arial"/>
                <a:cs typeface="Arial"/>
                <a:sym typeface="Arial"/>
              </a:rPr>
              <a:t>Measured today on public benchmarks: 90/90 Netlib LPs, 33/64 MIPLIB, 121/138 QPs.</a:t>
            </a:r>
            <a:endParaRPr/>
          </a:p>
          <a:p>
            <a:pPr indent="0" lvl="0" marL="0" marR="0" rtl="0" algn="l">
              <a:spcBef>
                <a:spcPts val="100"/>
              </a:spcBef>
              <a:spcAft>
                <a:spcPts val="0"/>
              </a:spcAft>
              <a:buNone/>
            </a:pPr>
            <a:r>
              <a:rPr b="1" i="0" lang="en-US" sz="1100" u="none" cap="none" strike="noStrike">
                <a:solidFill>
                  <a:srgbClr val="2E7D32"/>
                </a:solidFill>
                <a:latin typeface="Arial"/>
                <a:ea typeface="Arial"/>
                <a:cs typeface="Arial"/>
                <a:sym typeface="Arial"/>
              </a:rPr>
              <a:t>Every number regenerates from one script.</a:t>
            </a:r>
            <a:endParaRPr/>
          </a:p>
        </p:txBody>
      </p:sp>
      <p:sp>
        <p:nvSpPr>
          <p:cNvPr id="115" name="Google Shape;115;p14"/>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5"/>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953734"/>
              </a:solidFill>
              <a:latin typeface="Calibri"/>
              <a:ea typeface="Calibri"/>
              <a:cs typeface="Calibri"/>
              <a:sym typeface="Calibri"/>
            </a:endParaRPr>
          </a:p>
        </p:txBody>
      </p:sp>
      <p:sp>
        <p:nvSpPr>
          <p:cNvPr id="122" name="Google Shape;122;p15"/>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TECHNICAL APPROACH</a:t>
            </a:r>
            <a:endParaRPr/>
          </a:p>
        </p:txBody>
      </p:sp>
      <p:sp>
        <p:nvSpPr>
          <p:cNvPr id="123" name="Google Shape;123;p15"/>
          <p:cNvSpPr txBox="1"/>
          <p:nvPr/>
        </p:nvSpPr>
        <p:spPr>
          <a:xfrm>
            <a:off x="411480" y="1024128"/>
            <a:ext cx="11338560" cy="384048"/>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rgbClr val="555555"/>
              </a:buClr>
              <a:buSzPts val="1250"/>
              <a:buFont typeface="Arial"/>
              <a:buChar char="•"/>
            </a:pPr>
            <a:r>
              <a:rPr b="1" i="0" lang="en-US" sz="1250" u="none" cap="none" strike="noStrike">
                <a:solidFill>
                  <a:srgbClr val="555555"/>
                </a:solidFill>
                <a:latin typeface="Arial"/>
                <a:ea typeface="Arial"/>
                <a:cs typeface="Arial"/>
                <a:sym typeface="Arial"/>
              </a:rPr>
              <a:t>Six layers, all written from the mathematics up. Nothing borrowed below the API.</a:t>
            </a:r>
            <a:endParaRPr/>
          </a:p>
        </p:txBody>
      </p:sp>
      <p:sp>
        <p:nvSpPr>
          <p:cNvPr id="124" name="Google Shape;124;p15"/>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b="1" lang="en-US">
                <a:solidFill>
                  <a:schemeClr val="lt1"/>
                </a:solidFill>
              </a:rPr>
              <a:t>‹#›</a:t>
            </a:fld>
            <a:endParaRPr b="1">
              <a:solidFill>
                <a:schemeClr val="lt1"/>
              </a:solidFill>
            </a:endParaRPr>
          </a:p>
        </p:txBody>
      </p:sp>
      <p:sp>
        <p:nvSpPr>
          <p:cNvPr descr="Your startup LOGO" id="125" name="Google Shape;125;p15"/>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26" name="Google Shape;126;p15"/>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27" name="Google Shape;127;p15"/>
          <p:cNvSpPr/>
          <p:nvPr/>
        </p:nvSpPr>
        <p:spPr>
          <a:xfrm>
            <a:off x="411480" y="1481328"/>
            <a:ext cx="7086600" cy="566928"/>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Input &amp; Presolve</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MPS/QPS reader  ·  scaling  ·  singleton, empty, redundant rows  ·  exact dual postsolve</a:t>
            </a:r>
            <a:endParaRPr/>
          </a:p>
        </p:txBody>
      </p:sp>
      <p:sp>
        <p:nvSpPr>
          <p:cNvPr id="128" name="Google Shape;128;p15"/>
          <p:cNvSpPr/>
          <p:nvPr/>
        </p:nvSpPr>
        <p:spPr>
          <a:xfrm>
            <a:off x="3872484" y="2066543"/>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5"/>
          <p:cNvSpPr/>
          <p:nvPr/>
        </p:nvSpPr>
        <p:spPr>
          <a:xfrm>
            <a:off x="411480" y="2221992"/>
            <a:ext cx="7086600" cy="566928"/>
          </a:xfrm>
          <a:prstGeom prst="roundRect">
            <a:avLst>
              <a:gd fmla="val 10000" name="adj"/>
            </a:avLst>
          </a:prstGeom>
          <a:solidFill>
            <a:srgbClr val="FFF4E0"/>
          </a:solidFill>
          <a:ln cap="flat" cmpd="sng" w="13950">
            <a:solidFill>
              <a:srgbClr val="B46A0A"/>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LP Engines   ◆ THREE</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Dual simplex (compiled loop)  ·  Mehrotra interior point  ·  PDLP on CPU and GPU</a:t>
            </a:r>
            <a:endParaRPr/>
          </a:p>
        </p:txBody>
      </p:sp>
      <p:sp>
        <p:nvSpPr>
          <p:cNvPr id="130" name="Google Shape;130;p15"/>
          <p:cNvSpPr/>
          <p:nvPr/>
        </p:nvSpPr>
        <p:spPr>
          <a:xfrm>
            <a:off x="3872484" y="2807208"/>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5"/>
          <p:cNvSpPr/>
          <p:nvPr/>
        </p:nvSpPr>
        <p:spPr>
          <a:xfrm>
            <a:off x="411480" y="2962656"/>
            <a:ext cx="7086600" cy="566928"/>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1F497D"/>
                </a:solidFill>
                <a:latin typeface="Arial"/>
                <a:ea typeface="Arial"/>
                <a:cs typeface="Arial"/>
                <a:sym typeface="Arial"/>
              </a:rPr>
              <a:t>MILP Branch-and-Bound</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warm-started dual simplex  ·  reliability branching  ·  Gomory cuts  ·  diving</a:t>
            </a:r>
            <a:endParaRPr/>
          </a:p>
        </p:txBody>
      </p:sp>
      <p:sp>
        <p:nvSpPr>
          <p:cNvPr id="132" name="Google Shape;132;p15"/>
          <p:cNvSpPr/>
          <p:nvPr/>
        </p:nvSpPr>
        <p:spPr>
          <a:xfrm>
            <a:off x="3872484" y="3547872"/>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5"/>
          <p:cNvSpPr/>
          <p:nvPr/>
        </p:nvSpPr>
        <p:spPr>
          <a:xfrm>
            <a:off x="411480" y="3703320"/>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Sparse Linear Algebra</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LU (Suhl–Suhl order) · Cholesky · LDLᵀ · min-degree</a:t>
            </a:r>
            <a:endParaRPr/>
          </a:p>
        </p:txBody>
      </p:sp>
      <p:sp>
        <p:nvSpPr>
          <p:cNvPr id="134" name="Google Shape;134;p15"/>
          <p:cNvSpPr/>
          <p:nvPr/>
        </p:nvSpPr>
        <p:spPr>
          <a:xfrm>
            <a:off x="4041648" y="3703320"/>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QP Interior Point</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quasi-definite augmented system · regularised, refined</a:t>
            </a:r>
            <a:endParaRPr/>
          </a:p>
        </p:txBody>
      </p:sp>
      <p:sp>
        <p:nvSpPr>
          <p:cNvPr id="135" name="Google Shape;135;p15"/>
          <p:cNvSpPr/>
          <p:nvPr/>
        </p:nvSpPr>
        <p:spPr>
          <a:xfrm>
            <a:off x="3872484" y="4343400"/>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6" name="Google Shape;136;p15"/>
          <p:cNvSpPr/>
          <p:nvPr/>
        </p:nvSpPr>
        <p:spPr>
          <a:xfrm>
            <a:off x="411480" y="4498848"/>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Compiled Kernels</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Numba → native machine code · all CPU cores</a:t>
            </a:r>
            <a:endParaRPr/>
          </a:p>
        </p:txBody>
      </p:sp>
      <p:sp>
        <p:nvSpPr>
          <p:cNvPr id="137" name="Google Shape;137;p15"/>
          <p:cNvSpPr/>
          <p:nvPr/>
        </p:nvSpPr>
        <p:spPr>
          <a:xfrm>
            <a:off x="4041648" y="4498848"/>
            <a:ext cx="3456432" cy="621792"/>
          </a:xfrm>
          <a:prstGeom prst="roundRect">
            <a:avLst>
              <a:gd fmla="val 10000" name="adj"/>
            </a:avLst>
          </a:prstGeom>
          <a:solidFill>
            <a:srgbClr val="FFFFFF"/>
          </a:solidFill>
          <a:ln cap="flat" cmpd="sng" w="13950">
            <a:solidFill>
              <a:srgbClr val="0070C0"/>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050" u="none" cap="none" strike="noStrike">
                <a:solidFill>
                  <a:srgbClr val="1F497D"/>
                </a:solidFill>
                <a:latin typeface="Arial"/>
                <a:ea typeface="Arial"/>
                <a:cs typeface="Arial"/>
                <a:sym typeface="Arial"/>
              </a:rPr>
              <a:t>GPU Backend</a:t>
            </a:r>
            <a:endParaRPr/>
          </a:p>
          <a:p>
            <a:pPr indent="0" lvl="0" marL="0" marR="0" rtl="0" algn="ctr">
              <a:spcBef>
                <a:spcPts val="100"/>
              </a:spcBef>
              <a:spcAft>
                <a:spcPts val="0"/>
              </a:spcAft>
              <a:buNone/>
            </a:pPr>
            <a:r>
              <a:rPr b="0" i="0" lang="en-US" sz="800" u="none" cap="none" strike="noStrike">
                <a:solidFill>
                  <a:srgbClr val="555555"/>
                </a:solidFill>
                <a:latin typeface="Arial"/>
                <a:ea typeface="Arial"/>
                <a:cs typeface="Arial"/>
                <a:sym typeface="Arial"/>
              </a:rPr>
              <a:t>CuPy CUDA kernels · CUDA graphs · RTX-class GPUs</a:t>
            </a:r>
            <a:endParaRPr/>
          </a:p>
        </p:txBody>
      </p:sp>
      <p:sp>
        <p:nvSpPr>
          <p:cNvPr id="138" name="Google Shape;138;p15"/>
          <p:cNvSpPr/>
          <p:nvPr/>
        </p:nvSpPr>
        <p:spPr>
          <a:xfrm>
            <a:off x="3872484" y="5138928"/>
            <a:ext cx="164592" cy="118872"/>
          </a:xfrm>
          <a:prstGeom prst="downArrow">
            <a:avLst>
              <a:gd fmla="val 50000" name="adj1"/>
              <a:gd fmla="val 50000" name="adj2"/>
            </a:avLst>
          </a:prstGeom>
          <a:solidFill>
            <a:srgbClr val="9AB4CC"/>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9" name="Google Shape;139;p15"/>
          <p:cNvSpPr/>
          <p:nvPr/>
        </p:nvSpPr>
        <p:spPr>
          <a:xfrm>
            <a:off x="411480" y="5294376"/>
            <a:ext cx="7086600" cy="685800"/>
          </a:xfrm>
          <a:prstGeom prst="roundRect">
            <a:avLst>
              <a:gd fmla="val 10000" name="adj"/>
            </a:avLst>
          </a:prstGeom>
          <a:solidFill>
            <a:srgbClr val="ECF4EC"/>
          </a:solidFill>
          <a:ln cap="flat" cmpd="sng" w="20300">
            <a:solidFill>
              <a:srgbClr val="2E7D32"/>
            </a:solidFill>
            <a:prstDash val="solid"/>
            <a:round/>
            <a:headEnd len="sm" w="sm" type="none"/>
            <a:tailEnd len="sm" w="sm" type="none"/>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2E7D32"/>
                </a:solidFill>
                <a:latin typeface="Arial"/>
                <a:ea typeface="Arial"/>
                <a:cs typeface="Arial"/>
                <a:sym typeface="Arial"/>
              </a:rPr>
              <a:t>Verification Plane   ◆ NEW</a:t>
            </a:r>
            <a:endParaRPr/>
          </a:p>
          <a:p>
            <a:pPr indent="0" lvl="0" marL="0" marR="0" rtl="0" algn="ctr">
              <a:spcBef>
                <a:spcPts val="100"/>
              </a:spcBef>
              <a:spcAft>
                <a:spcPts val="0"/>
              </a:spcAft>
              <a:buNone/>
            </a:pPr>
            <a:r>
              <a:rPr b="0" i="0" lang="en-US" sz="850" u="none" cap="none" strike="noStrike">
                <a:solidFill>
                  <a:srgbClr val="555555"/>
                </a:solidFill>
                <a:latin typeface="Arial"/>
                <a:ea typeface="Arial"/>
                <a:cs typeface="Arial"/>
                <a:sym typeface="Arial"/>
              </a:rPr>
              <a:t>every solve re-solved by HiGHS / Clarabel  ·  primal and dual residuals  ·  published optima</a:t>
            </a:r>
            <a:endParaRPr/>
          </a:p>
        </p:txBody>
      </p:sp>
      <p:sp>
        <p:nvSpPr>
          <p:cNvPr id="140" name="Google Shape;140;p15"/>
          <p:cNvSpPr/>
          <p:nvPr/>
        </p:nvSpPr>
        <p:spPr>
          <a:xfrm>
            <a:off x="7726679" y="1481328"/>
            <a:ext cx="4069080" cy="3200400"/>
          </a:xfrm>
          <a:prstGeom prst="roundRect">
            <a:avLst>
              <a:gd fmla="val 10000" name="adj"/>
            </a:avLst>
          </a:prstGeom>
          <a:solidFill>
            <a:srgbClr val="F7F9FC"/>
          </a:solidFill>
          <a:ln cap="flat" cmpd="sng" w="12700">
            <a:solidFill>
              <a:srgbClr val="C8D6E6"/>
            </a:solidFill>
            <a:prstDash val="solid"/>
            <a:round/>
            <a:headEnd len="sm" w="sm" type="none"/>
            <a:tailEnd len="sm" w="sm" type="none"/>
          </a:ln>
        </p:spPr>
        <p:txBody>
          <a:bodyPr anchorCtr="0" anchor="ctr" bIns="45700" lIns="182875" spcFirstLastPara="1" rIns="14630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Technology Stack</a:t>
            </a:r>
            <a:endParaRPr/>
          </a:p>
          <a:p>
            <a:pPr indent="0" lvl="0" marL="0" marR="0" rtl="0" algn="l">
              <a:spcBef>
                <a:spcPts val="15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Language</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Python 3.12 · NumPy arrays</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Compilation</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Numba JIT → native code  ·  CuPy → CUDA</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Engines</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dual simplex · interior point · PDLP · B&amp;B</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Linear algebra</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LU · Cholesky · LDLᵀ — all our own</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Interfaces</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MPS · QPS · Python API · command line</a:t>
            </a:r>
            <a:endParaRPr/>
          </a:p>
          <a:p>
            <a:pPr indent="0" lvl="0" marL="0" marR="0" rtl="0" algn="l">
              <a:spcBef>
                <a:spcPts val="150"/>
              </a:spcBef>
              <a:spcAft>
                <a:spcPts val="0"/>
              </a:spcAft>
              <a:buNone/>
            </a:pPr>
            <a:r>
              <a:rPr b="1" i="0" lang="en-US" sz="950" u="none" cap="none" strike="noStrike">
                <a:solidFill>
                  <a:srgbClr val="1F497D"/>
                </a:solidFill>
                <a:latin typeface="Arial"/>
                <a:ea typeface="Arial"/>
                <a:cs typeface="Arial"/>
                <a:sym typeface="Arial"/>
              </a:rPr>
              <a:t>Licence</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Apache-2.0 — any PSU can adopt it</a:t>
            </a:r>
            <a:endParaRPr/>
          </a:p>
          <a:p>
            <a:pPr indent="0" lvl="0" marL="0" marR="0" rtl="0" algn="l">
              <a:spcBef>
                <a:spcPts val="150"/>
              </a:spcBef>
              <a:spcAft>
                <a:spcPts val="0"/>
              </a:spcAft>
              <a:buNone/>
            </a:pPr>
            <a:r>
              <a:t/>
            </a:r>
            <a:endParaRPr b="0" i="0" sz="850" u="none" cap="none" strike="noStrike">
              <a:solidFill>
                <a:srgbClr val="1A1A1A"/>
              </a:solidFill>
              <a:latin typeface="Arial"/>
              <a:ea typeface="Arial"/>
              <a:cs typeface="Arial"/>
              <a:sym typeface="Arial"/>
            </a:endParaRPr>
          </a:p>
          <a:p>
            <a:pPr indent="0" lvl="0" marL="0" marR="0" rtl="0" algn="l">
              <a:spcBef>
                <a:spcPts val="150"/>
              </a:spcBef>
              <a:spcAft>
                <a:spcPts val="0"/>
              </a:spcAft>
              <a:buNone/>
            </a:pPr>
            <a:r>
              <a:rPr b="1" i="0" lang="en-US" sz="950" u="none" cap="none" strike="noStrike">
                <a:solidFill>
                  <a:srgbClr val="2E7D32"/>
                </a:solidFill>
                <a:latin typeface="Arial"/>
                <a:ea typeface="Arial"/>
                <a:cs typeface="Arial"/>
                <a:sym typeface="Arial"/>
              </a:rPr>
              <a:t>Measured on a laptop (RTX 3050, 4 GB)</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Netlib LP          90/90   ·  HiGHS 90</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MIPLIB 3, 60 s    33/64   ·  HiGHS 47</a:t>
            </a:r>
            <a:endParaRPr/>
          </a:p>
          <a:p>
            <a:pPr indent="0" lvl="0" marL="91440" marR="0" rtl="0" algn="l">
              <a:spcBef>
                <a:spcPts val="150"/>
              </a:spcBef>
              <a:spcAft>
                <a:spcPts val="0"/>
              </a:spcAft>
              <a:buNone/>
            </a:pPr>
            <a:r>
              <a:rPr b="0" i="0" lang="en-US" sz="850" u="none" cap="none" strike="noStrike">
                <a:solidFill>
                  <a:srgbClr val="1A1A1A"/>
                </a:solidFill>
                <a:latin typeface="Arial"/>
                <a:ea typeface="Arial"/>
                <a:cs typeface="Arial"/>
                <a:sym typeface="Arial"/>
              </a:rPr>
              <a:t>Maros–Mészáros QP  121/138  ·  Clarabel 122</a:t>
            </a:r>
            <a:endParaRPr/>
          </a:p>
        </p:txBody>
      </p:sp>
      <p:sp>
        <p:nvSpPr>
          <p:cNvPr id="141" name="Google Shape;141;p15"/>
          <p:cNvSpPr/>
          <p:nvPr/>
        </p:nvSpPr>
        <p:spPr>
          <a:xfrm>
            <a:off x="7726679" y="4809744"/>
            <a:ext cx="4069080" cy="1243584"/>
          </a:xfrm>
          <a:prstGeom prst="roundRect">
            <a:avLst>
              <a:gd fmla="val 10000" name="adj"/>
            </a:avLst>
          </a:prstGeom>
          <a:solidFill>
            <a:srgbClr val="ECF4EC"/>
          </a:solidFill>
          <a:ln cap="flat" cmpd="sng" w="16500">
            <a:solidFill>
              <a:srgbClr val="2E7D32"/>
            </a:solidFill>
            <a:prstDash val="solid"/>
            <a:round/>
            <a:headEnd len="sm" w="sm" type="none"/>
            <a:tailEnd len="sm" w="sm" type="none"/>
          </a:ln>
        </p:spPr>
        <p:txBody>
          <a:bodyPr anchorCtr="0" anchor="ctr" bIns="45700" lIns="182875" spcFirstLastPara="1" rIns="146300" wrap="square" tIns="91425">
            <a:noAutofit/>
          </a:bodyPr>
          <a:lstStyle/>
          <a:p>
            <a:pPr indent="0" lvl="0" marL="0" marR="0" rtl="0" algn="l">
              <a:spcBef>
                <a:spcPts val="0"/>
              </a:spcBef>
              <a:spcAft>
                <a:spcPts val="0"/>
              </a:spcAft>
              <a:buNone/>
            </a:pPr>
            <a:r>
              <a:rPr b="1" i="0" lang="en-US" sz="1200" u="none" cap="none" strike="noStrike">
                <a:solidFill>
                  <a:srgbClr val="2E7D32"/>
                </a:solidFill>
                <a:latin typeface="Arial"/>
                <a:ea typeface="Arial"/>
                <a:cs typeface="Arial"/>
                <a:sym typeface="Arial"/>
              </a:rPr>
              <a:t>The demo that proves it</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1.  Load an MRPL-style refinery planning model (.mps)</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2.  NIRNAY solves it; HiGHS re-solves it alongside</a:t>
            </a:r>
            <a:endParaRPr/>
          </a:p>
          <a:p>
            <a:pPr indent="0" lvl="0" marL="0" marR="0" rtl="0" algn="l">
              <a:spcBef>
                <a:spcPts val="100"/>
              </a:spcBef>
              <a:spcAft>
                <a:spcPts val="0"/>
              </a:spcAft>
              <a:buNone/>
            </a:pPr>
            <a:r>
              <a:rPr b="0" i="0" lang="en-US" sz="950" u="none" cap="none" strike="noStrike">
                <a:solidFill>
                  <a:srgbClr val="1A1A1A"/>
                </a:solidFill>
                <a:latin typeface="Arial"/>
                <a:ea typeface="Arial"/>
                <a:cs typeface="Arial"/>
                <a:sym typeface="Arial"/>
              </a:rPr>
              <a:t>3.  Same optimum, same shadow prices of crude and products</a:t>
            </a:r>
            <a:endParaRPr/>
          </a:p>
          <a:p>
            <a:pPr indent="0" lvl="0" marL="0" marR="0" rtl="0" algn="l">
              <a:spcBef>
                <a:spcPts val="100"/>
              </a:spcBef>
              <a:spcAft>
                <a:spcPts val="0"/>
              </a:spcAft>
              <a:buNone/>
            </a:pPr>
            <a:r>
              <a:rPr b="1" i="0" lang="en-US" sz="950" u="none" cap="none" strike="noStrike">
                <a:solidFill>
                  <a:srgbClr val="1A1A1A"/>
                </a:solidFill>
                <a:latin typeface="Arial"/>
                <a:ea typeface="Arial"/>
                <a:cs typeface="Arial"/>
                <a:sym typeface="Arial"/>
              </a:rPr>
              <a:t>4.  Open the code: every pivot and factorisation is ours</a:t>
            </a:r>
            <a:endParaRPr/>
          </a:p>
        </p:txBody>
      </p:sp>
      <p:sp>
        <p:nvSpPr>
          <p:cNvPr id="142" name="Google Shape;142;p15"/>
          <p:cNvSpPr txBox="1"/>
          <p:nvPr/>
        </p:nvSpPr>
        <p:spPr>
          <a:xfrm>
            <a:off x="0" y="0"/>
            <a:ext cx="3000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200">
                <a:solidFill>
                  <a:schemeClr val="lt1"/>
                </a:solidFill>
                <a:latin typeface="Oswald"/>
                <a:ea typeface="Oswald"/>
                <a:cs typeface="Oswald"/>
                <a:sym typeface="Oswald"/>
              </a:rPr>
              <a:t>@SIH Idea submission- Template</a:t>
            </a:r>
            <a:endParaRPr sz="1200">
              <a:solidFill>
                <a:schemeClr val="lt1"/>
              </a:solidFill>
              <a:latin typeface="Oswald"/>
              <a:ea typeface="Oswald"/>
              <a:cs typeface="Oswald"/>
              <a:sym typeface="Oswald"/>
            </a:endParaRPr>
          </a:p>
        </p:txBody>
      </p:sp>
      <p:sp>
        <p:nvSpPr>
          <p:cNvPr id="143" name="Google Shape;143;p15"/>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6"/>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50" name="Google Shape;150;p16"/>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FEASIBILITY AND VIABILITY</a:t>
            </a:r>
            <a:endParaRPr/>
          </a:p>
        </p:txBody>
      </p:sp>
      <p:sp>
        <p:nvSpPr>
          <p:cNvPr id="151" name="Google Shape;151;p16"/>
          <p:cNvSpPr txBox="1"/>
          <p:nvPr/>
        </p:nvSpPr>
        <p:spPr>
          <a:xfrm>
            <a:off x="411480" y="1051560"/>
            <a:ext cx="5577840" cy="2743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0070C0"/>
              </a:buClr>
              <a:buSzPts val="1600"/>
              <a:buFont typeface="Arial"/>
              <a:buChar char="•"/>
            </a:pPr>
            <a:r>
              <a:rPr b="1" i="0" lang="en-US" sz="1600" u="none" cap="none" strike="noStrike">
                <a:solidFill>
                  <a:srgbClr val="0070C0"/>
                </a:solidFill>
                <a:latin typeface="Arial"/>
                <a:ea typeface="Arial"/>
                <a:cs typeface="Arial"/>
                <a:sym typeface="Arial"/>
              </a:rPr>
              <a:t>Why this is buildable</a:t>
            </a:r>
            <a:endParaRPr b="0" i="0" sz="2800" u="none" cap="none" strike="noStrike">
              <a:solidFill>
                <a:srgbClr val="000000"/>
              </a:solidFill>
              <a:latin typeface="Arial"/>
              <a:ea typeface="Arial"/>
              <a:cs typeface="Arial"/>
              <a:sym typeface="Arial"/>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It already runs.  The dual simplex solves all Netlib LPs,</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branch-and-bound proves 33 MIPLIB problems optimal, and</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the QP interior point solves 121 of 138 Maros–Mészáros QPs.</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Published mathematics.  Mehrotra, Forrest–Goldfarb,</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Gilbert–Peierls, PDLP: decades of documented algorithms,</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implemented carefully rather than invented.</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Licensing is clean.  Apache-2.0; Python, Numba and CuPy</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only — a PSU can deploy it without procurement friction.</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Honest benchmarks.  One script re-solves every instance</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with HiGHS or Clarabel and logs errors and residuals.</a:t>
            </a:r>
            <a:endParaRPr/>
          </a:p>
          <a:p>
            <a:pPr indent="0" lvl="0" marL="0" marR="0" rtl="0" algn="l">
              <a:spcBef>
                <a:spcPts val="250"/>
              </a:spcBef>
              <a:spcAft>
                <a:spcPts val="0"/>
              </a:spcAft>
              <a:buNone/>
            </a:pPr>
            <a:r>
              <a:rPr b="0" i="0" lang="en-US" sz="1080" u="none" cap="none" strike="noStrike">
                <a:solidFill>
                  <a:srgbClr val="1A1A1A"/>
                </a:solidFill>
                <a:latin typeface="Arial"/>
                <a:ea typeface="Arial"/>
                <a:cs typeface="Arial"/>
                <a:sym typeface="Arial"/>
              </a:rPr>
              <a:t>•  Team fit.  Python, systems and GPU skills map directly</a:t>
            </a:r>
            <a:endParaRPr/>
          </a:p>
          <a:p>
            <a:pPr indent="0" lvl="0" marL="155448" marR="0" rtl="0" algn="l">
              <a:spcBef>
                <a:spcPts val="250"/>
              </a:spcBef>
              <a:spcAft>
                <a:spcPts val="0"/>
              </a:spcAft>
              <a:buNone/>
            </a:pPr>
            <a:r>
              <a:rPr b="0" i="0" lang="en-US" sz="1080" u="none" cap="none" strike="noStrike">
                <a:solidFill>
                  <a:srgbClr val="1A1A1A"/>
                </a:solidFill>
                <a:latin typeface="Arial"/>
                <a:ea typeface="Arial"/>
                <a:cs typeface="Arial"/>
                <a:sym typeface="Arial"/>
              </a:rPr>
              <a:t>onto the kernel and benchmark work.</a:t>
            </a:r>
            <a:endParaRPr/>
          </a:p>
        </p:txBody>
      </p:sp>
      <p:sp>
        <p:nvSpPr>
          <p:cNvPr id="152" name="Google Shape;152;p16"/>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53" name="Google Shape;153;p16"/>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54" name="Google Shape;154;p16"/>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55" name="Google Shape;155;p16"/>
          <p:cNvSpPr/>
          <p:nvPr/>
        </p:nvSpPr>
        <p:spPr>
          <a:xfrm>
            <a:off x="411480" y="3913632"/>
            <a:ext cx="5577840" cy="365760"/>
          </a:xfrm>
          <a:prstGeom prst="roundRect">
            <a:avLst>
              <a:gd fmla="val 10000" name="adj"/>
            </a:avLst>
          </a:prstGeom>
          <a:solidFill>
            <a:srgbClr val="1F497D"/>
          </a:solidFill>
          <a:ln>
            <a:noFill/>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150" u="none" cap="none" strike="noStrike">
                <a:solidFill>
                  <a:srgbClr val="FFFFFF"/>
                </a:solidFill>
                <a:latin typeface="Arial"/>
                <a:ea typeface="Arial"/>
                <a:cs typeface="Arial"/>
                <a:sym typeface="Arial"/>
              </a:rPr>
              <a:t>Roadmap to the finale</a:t>
            </a:r>
            <a:endParaRPr/>
          </a:p>
        </p:txBody>
      </p:sp>
      <p:sp>
        <p:nvSpPr>
          <p:cNvPr id="156" name="Google Shape;156;p16"/>
          <p:cNvSpPr/>
          <p:nvPr/>
        </p:nvSpPr>
        <p:spPr>
          <a:xfrm>
            <a:off x="411480" y="4315968"/>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Wk 1-2</a:t>
            </a:r>
            <a:r>
              <a:rPr b="0" i="0" lang="en-US" sz="1000" u="none" cap="none" strike="noStrike">
                <a:solidFill>
                  <a:srgbClr val="1A1A1A"/>
                </a:solidFill>
                <a:latin typeface="Arial"/>
                <a:ea typeface="Arial"/>
                <a:cs typeface="Arial"/>
                <a:sym typeface="Arial"/>
              </a:rPr>
              <a:t xml:space="preserve">   Hyper-sparse FTRAN/BTRAN; Markowitz LU for the bump</a:t>
            </a:r>
            <a:endParaRPr/>
          </a:p>
        </p:txBody>
      </p:sp>
      <p:sp>
        <p:nvSpPr>
          <p:cNvPr id="157" name="Google Shape;157;p16"/>
          <p:cNvSpPr/>
          <p:nvPr/>
        </p:nvSpPr>
        <p:spPr>
          <a:xfrm>
            <a:off x="411480" y="4704588"/>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Wk 3-4</a:t>
            </a:r>
            <a:r>
              <a:rPr b="0" i="0" lang="en-US" sz="1000" u="none" cap="none" strike="noStrike">
                <a:solidFill>
                  <a:srgbClr val="1A1A1A"/>
                </a:solidFill>
                <a:latin typeface="Arial"/>
                <a:ea typeface="Arial"/>
                <a:cs typeface="Arial"/>
                <a:sym typeface="Arial"/>
              </a:rPr>
              <a:t xml:space="preserve">   Forrest–Tomlin update; faster presolve (compiled)</a:t>
            </a:r>
            <a:endParaRPr/>
          </a:p>
        </p:txBody>
      </p:sp>
      <p:sp>
        <p:nvSpPr>
          <p:cNvPr id="158" name="Google Shape;158;p16"/>
          <p:cNvSpPr/>
          <p:nvPr/>
        </p:nvSpPr>
        <p:spPr>
          <a:xfrm>
            <a:off x="411480" y="509320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Wk 5-6</a:t>
            </a:r>
            <a:r>
              <a:rPr b="0" i="0" lang="en-US" sz="1000" u="none" cap="none" strike="noStrike">
                <a:solidFill>
                  <a:srgbClr val="1A1A1A"/>
                </a:solidFill>
                <a:latin typeface="Arial"/>
                <a:ea typeface="Arial"/>
                <a:cs typeface="Arial"/>
                <a:sym typeface="Arial"/>
              </a:rPr>
              <a:t xml:space="preserve">   MIR, cover and clique cuts; RINS/RENS heuristics</a:t>
            </a:r>
            <a:endParaRPr/>
          </a:p>
        </p:txBody>
      </p:sp>
      <p:sp>
        <p:nvSpPr>
          <p:cNvPr id="159" name="Google Shape;159;p16"/>
          <p:cNvSpPr/>
          <p:nvPr/>
        </p:nvSpPr>
        <p:spPr>
          <a:xfrm>
            <a:off x="411480" y="548182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Wk 7-8</a:t>
            </a:r>
            <a:r>
              <a:rPr b="0" i="0" lang="en-US" sz="1000" u="none" cap="none" strike="noStrike">
                <a:solidFill>
                  <a:srgbClr val="1A1A1A"/>
                </a:solidFill>
                <a:latin typeface="Arial"/>
                <a:ea typeface="Arial"/>
                <a:cs typeface="Arial"/>
                <a:sym typeface="Arial"/>
              </a:rPr>
              <a:t xml:space="preserve">   Interior-point crossover; QP presolve</a:t>
            </a:r>
            <a:endParaRPr/>
          </a:p>
        </p:txBody>
      </p:sp>
      <p:sp>
        <p:nvSpPr>
          <p:cNvPr id="160" name="Google Shape;160;p16"/>
          <p:cNvSpPr/>
          <p:nvPr/>
        </p:nvSpPr>
        <p:spPr>
          <a:xfrm>
            <a:off x="411480" y="5870447"/>
            <a:ext cx="5577840" cy="38404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18275" lIns="109725" spcFirstLastPara="1" rIns="91425" wrap="square" tIns="1827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Finale</a:t>
            </a:r>
            <a:r>
              <a:rPr b="0" i="0" lang="en-US" sz="1000" u="none" cap="none" strike="noStrike">
                <a:solidFill>
                  <a:srgbClr val="1A1A1A"/>
                </a:solidFill>
                <a:latin typeface="Arial"/>
                <a:ea typeface="Arial"/>
                <a:cs typeface="Arial"/>
                <a:sym typeface="Arial"/>
              </a:rPr>
              <a:t xml:space="preserve">   MRPL-style model solved live, verified against HiGHS</a:t>
            </a:r>
            <a:endParaRPr/>
          </a:p>
        </p:txBody>
      </p:sp>
      <p:sp>
        <p:nvSpPr>
          <p:cNvPr id="161" name="Google Shape;161;p16"/>
          <p:cNvSpPr/>
          <p:nvPr/>
        </p:nvSpPr>
        <p:spPr>
          <a:xfrm>
            <a:off x="6263640" y="1051560"/>
            <a:ext cx="5532120" cy="384048"/>
          </a:xfrm>
          <a:prstGeom prst="roundRect">
            <a:avLst>
              <a:gd fmla="val 10000" name="adj"/>
            </a:avLst>
          </a:prstGeom>
          <a:solidFill>
            <a:srgbClr val="0070C0"/>
          </a:solidFill>
          <a:ln>
            <a:noFill/>
          </a:ln>
        </p:spPr>
        <p:txBody>
          <a:bodyPr anchorCtr="0" anchor="ctr" bIns="27425" lIns="45700" spcFirstLastPara="1" rIns="45700" wrap="square" tIns="27425">
            <a:noAutofit/>
          </a:bodyPr>
          <a:lstStyle/>
          <a:p>
            <a:pPr indent="0" lvl="0" marL="0" marR="0" rtl="0" algn="ctr">
              <a:spcBef>
                <a:spcPts val="0"/>
              </a:spcBef>
              <a:spcAft>
                <a:spcPts val="0"/>
              </a:spcAft>
              <a:buNone/>
            </a:pPr>
            <a:r>
              <a:rPr b="1" i="0" lang="en-US" sz="1250" u="none" cap="none" strike="noStrike">
                <a:solidFill>
                  <a:srgbClr val="FFFFFF"/>
                </a:solidFill>
                <a:latin typeface="Arial"/>
                <a:ea typeface="Arial"/>
                <a:cs typeface="Arial"/>
                <a:sym typeface="Arial"/>
              </a:rPr>
              <a:t>Risks and how we retire them</a:t>
            </a:r>
            <a:endParaRPr/>
          </a:p>
        </p:txBody>
      </p:sp>
      <p:sp>
        <p:nvSpPr>
          <p:cNvPr id="162" name="Google Shape;162;p16"/>
          <p:cNvSpPr/>
          <p:nvPr/>
        </p:nvSpPr>
        <p:spPr>
          <a:xfrm>
            <a:off x="6263640" y="1517904"/>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Slower than CPLEX / HiGHS today</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Simplex loop now compiled; hyper-sparse solves and Markowitz LU next</a:t>
            </a:r>
            <a:endParaRPr/>
          </a:p>
        </p:txBody>
      </p:sp>
      <p:sp>
        <p:nvSpPr>
          <p:cNvPr id="163" name="Google Shape;163;p16"/>
          <p:cNvSpPr/>
          <p:nvPr/>
        </p:nvSpPr>
        <p:spPr>
          <a:xfrm>
            <a:off x="6263640" y="2290572"/>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Hard MIPLIB instances time out</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Report the proven gap honestly; add cut families and heuristics</a:t>
            </a:r>
            <a:endParaRPr/>
          </a:p>
        </p:txBody>
      </p:sp>
      <p:sp>
        <p:nvSpPr>
          <p:cNvPr id="164" name="Google Shape;164;p16"/>
          <p:cNvSpPr/>
          <p:nvPr/>
        </p:nvSpPr>
        <p:spPr>
          <a:xfrm>
            <a:off x="6263640" y="3063239"/>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Numerical breakdown on bad models</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Three engines back each other up; scaling, perturbation, basis repair</a:t>
            </a:r>
            <a:endParaRPr/>
          </a:p>
        </p:txBody>
      </p:sp>
      <p:sp>
        <p:nvSpPr>
          <p:cNvPr id="165" name="Google Shape;165;p16"/>
          <p:cNvSpPr/>
          <p:nvPr/>
        </p:nvSpPr>
        <p:spPr>
          <a:xfrm>
            <a:off x="6263640" y="3835907"/>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Jury doubts it is really from scratch</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No solver import in the package; open the LU or simplex kernel live</a:t>
            </a:r>
            <a:endParaRPr/>
          </a:p>
        </p:txBody>
      </p:sp>
      <p:sp>
        <p:nvSpPr>
          <p:cNvPr id="166" name="Google Shape;166;p16"/>
          <p:cNvSpPr/>
          <p:nvPr/>
        </p:nvSpPr>
        <p:spPr>
          <a:xfrm>
            <a:off x="6263640" y="4608575"/>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GPU not available at the venue</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PDLP runs on CPU with the same code; the GPU only accelerates</a:t>
            </a:r>
            <a:endParaRPr/>
          </a:p>
        </p:txBody>
      </p:sp>
      <p:sp>
        <p:nvSpPr>
          <p:cNvPr id="167" name="Google Shape;167;p16"/>
          <p:cNvSpPr/>
          <p:nvPr/>
        </p:nvSpPr>
        <p:spPr>
          <a:xfrm>
            <a:off x="6263640" y="5381243"/>
            <a:ext cx="5532120" cy="722376"/>
          </a:xfrm>
          <a:prstGeom prst="roundRect">
            <a:avLst>
              <a:gd fmla="val 10000" name="adj"/>
            </a:avLst>
          </a:prstGeom>
          <a:solidFill>
            <a:srgbClr val="FAFBFD"/>
          </a:solidFill>
          <a:ln cap="flat" cmpd="sng" w="11425">
            <a:solidFill>
              <a:srgbClr val="D5DFEA"/>
            </a:solidFill>
            <a:prstDash val="solid"/>
            <a:round/>
            <a:headEnd len="sm" w="sm" type="none"/>
            <a:tailEnd len="sm" w="sm" type="none"/>
          </a:ln>
        </p:spPr>
        <p:txBody>
          <a:bodyPr anchorCtr="0" anchor="ctr" bIns="45700" lIns="128000" spcFirstLastPara="1" rIns="109725" wrap="square" tIns="64000">
            <a:noAutofit/>
          </a:bodyPr>
          <a:lstStyle/>
          <a:p>
            <a:pPr indent="0" lvl="0" marL="0" marR="0" rtl="0" algn="l">
              <a:spcBef>
                <a:spcPts val="0"/>
              </a:spcBef>
              <a:spcAft>
                <a:spcPts val="0"/>
              </a:spcAft>
              <a:buNone/>
            </a:pPr>
            <a:r>
              <a:rPr b="1" i="0" lang="en-US" sz="1050" u="none" cap="none" strike="noStrike">
                <a:solidFill>
                  <a:srgbClr val="C0504D"/>
                </a:solidFill>
                <a:latin typeface="Arial"/>
                <a:ea typeface="Arial"/>
                <a:cs typeface="Arial"/>
                <a:sym typeface="Arial"/>
              </a:rPr>
              <a:t>A wrong answer reported as optimal</a:t>
            </a:r>
            <a:endParaRPr/>
          </a:p>
          <a:p>
            <a:pPr indent="0" lvl="0" marL="0" marR="0" rtl="0" algn="l">
              <a:spcBef>
                <a:spcPts val="0"/>
              </a:spcBef>
              <a:spcAft>
                <a:spcPts val="0"/>
              </a:spcAft>
              <a:buNone/>
            </a:pPr>
            <a:r>
              <a:rPr b="0" i="0" lang="en-US" sz="950" u="none" cap="none" strike="noStrike">
                <a:solidFill>
                  <a:srgbClr val="1A1A1A"/>
                </a:solidFill>
                <a:latin typeface="Arial"/>
                <a:ea typeface="Arial"/>
                <a:cs typeface="Arial"/>
                <a:sym typeface="Arial"/>
              </a:rPr>
              <a:t>Independent re-solve and residual check on every benchmark instance</a:t>
            </a:r>
            <a:endParaRPr/>
          </a:p>
        </p:txBody>
      </p:sp>
      <p:sp>
        <p:nvSpPr>
          <p:cNvPr id="168" name="Google Shape;168;p16"/>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7"/>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75" name="Google Shape;175;p17"/>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IMPACT AND BENEFITS</a:t>
            </a:r>
            <a:endParaRPr/>
          </a:p>
        </p:txBody>
      </p:sp>
      <p:sp>
        <p:nvSpPr>
          <p:cNvPr id="176" name="Google Shape;176;p17"/>
          <p:cNvSpPr txBox="1"/>
          <p:nvPr/>
        </p:nvSpPr>
        <p:spPr>
          <a:xfrm>
            <a:off x="411480" y="1051560"/>
            <a:ext cx="11384280" cy="457200"/>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555555"/>
              </a:buClr>
              <a:buSzPts val="1200"/>
              <a:buFont typeface="Arial"/>
              <a:buChar char="•"/>
            </a:pPr>
            <a:r>
              <a:rPr b="1" i="0" lang="en-US" sz="1200" u="none" cap="none" strike="noStrike">
                <a:solidFill>
                  <a:srgbClr val="555555"/>
                </a:solidFill>
                <a:latin typeface="Arial"/>
                <a:ea typeface="Arial"/>
                <a:cs typeface="Arial"/>
                <a:sym typeface="Arial"/>
              </a:rPr>
              <a:t>Every refinery plan, crude blend, schedule and dispatch decision sits on an optimisation solver. Owning that layer means owning the decision.</a:t>
            </a:r>
            <a:endParaRPr/>
          </a:p>
        </p:txBody>
      </p:sp>
      <p:sp>
        <p:nvSpPr>
          <p:cNvPr id="177" name="Google Shape;177;p17"/>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78" name="Google Shape;178;p17"/>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79" name="Google Shape;179;p17"/>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80" name="Google Shape;180;p17"/>
          <p:cNvSpPr/>
          <p:nvPr/>
        </p:nvSpPr>
        <p:spPr>
          <a:xfrm>
            <a:off x="411480" y="1691640"/>
            <a:ext cx="3611880" cy="1965960"/>
          </a:xfrm>
          <a:prstGeom prst="roundRect">
            <a:avLst>
              <a:gd fmla="val 10000" name="adj"/>
            </a:avLst>
          </a:prstGeom>
          <a:solidFill>
            <a:srgbClr val="FFFFFF"/>
          </a:solidFill>
          <a:ln cap="flat" cmpd="sng" w="16500">
            <a:solidFill>
              <a:srgbClr val="0070C0"/>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Who it serves</a:t>
            </a:r>
            <a:endParaRPr/>
          </a:p>
          <a:p>
            <a:pPr indent="0" lvl="0" marL="0" marR="0" rtl="0" algn="l">
              <a:spcBef>
                <a:spcPts val="10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MRPL planners and schedulers first — then every refinery, power utility and PSU that runs LP/MILP planning models today.</a:t>
            </a:r>
            <a:endParaRPr/>
          </a:p>
        </p:txBody>
      </p:sp>
      <p:sp>
        <p:nvSpPr>
          <p:cNvPr id="181" name="Google Shape;181;p17"/>
          <p:cNvSpPr/>
          <p:nvPr/>
        </p:nvSpPr>
        <p:spPr>
          <a:xfrm>
            <a:off x="4233672" y="1691640"/>
            <a:ext cx="3611880" cy="1965960"/>
          </a:xfrm>
          <a:prstGeom prst="roundRect">
            <a:avLst>
              <a:gd fmla="val 10000" name="adj"/>
            </a:avLst>
          </a:prstGeom>
          <a:solidFill>
            <a:srgbClr val="FFFFFF"/>
          </a:solidFill>
          <a:ln cap="flat" cmpd="sng" w="16500">
            <a:solidFill>
              <a:srgbClr val="0070C0"/>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0070C0"/>
                </a:solidFill>
                <a:latin typeface="Arial"/>
                <a:ea typeface="Arial"/>
                <a:cs typeface="Arial"/>
                <a:sym typeface="Arial"/>
              </a:rPr>
              <a:t>Operational impact</a:t>
            </a:r>
            <a:endParaRPr/>
          </a:p>
          <a:p>
            <a:pPr indent="0" lvl="0" marL="0" marR="0" rtl="0" algn="l">
              <a:spcBef>
                <a:spcPts val="100"/>
              </a:spcBef>
              <a:spcAft>
                <a:spcPts val="0"/>
              </a:spcAft>
              <a:buNone/>
            </a:pPr>
            <a:r>
              <a:t/>
            </a:r>
            <a:endParaRPr b="1" i="0" sz="1350" u="none" cap="none" strike="noStrike">
              <a:solidFill>
                <a:srgbClr val="0070C0"/>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Crude selection, blending, scheduling and dispatch models solved on hardware MRPL owns, with shadow prices it can audit.</a:t>
            </a:r>
            <a:endParaRPr/>
          </a:p>
        </p:txBody>
      </p:sp>
      <p:sp>
        <p:nvSpPr>
          <p:cNvPr id="182" name="Google Shape;182;p17"/>
          <p:cNvSpPr/>
          <p:nvPr/>
        </p:nvSpPr>
        <p:spPr>
          <a:xfrm>
            <a:off x="8055863" y="1691640"/>
            <a:ext cx="3611880" cy="1965960"/>
          </a:xfrm>
          <a:prstGeom prst="roundRect">
            <a:avLst>
              <a:gd fmla="val 10000" name="adj"/>
            </a:avLst>
          </a:prstGeom>
          <a:solidFill>
            <a:srgbClr val="FFFFFF"/>
          </a:solidFill>
          <a:ln cap="flat" cmpd="sng" w="16500">
            <a:solidFill>
              <a:srgbClr val="2E7D32"/>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2E7D32"/>
                </a:solidFill>
                <a:latin typeface="Arial"/>
                <a:ea typeface="Arial"/>
                <a:cs typeface="Arial"/>
                <a:sym typeface="Arial"/>
              </a:rPr>
              <a:t>Economic</a:t>
            </a:r>
            <a:endParaRPr/>
          </a:p>
          <a:p>
            <a:pPr indent="0" lvl="0" marL="0" marR="0" rtl="0" algn="l">
              <a:spcBef>
                <a:spcPts val="100"/>
              </a:spcBef>
              <a:spcAft>
                <a:spcPts val="0"/>
              </a:spcAft>
              <a:buNone/>
            </a:pPr>
            <a:r>
              <a:t/>
            </a:r>
            <a:endParaRPr b="1" i="0" sz="1350" u="none" cap="none" strike="noStrike">
              <a:solidFill>
                <a:srgbClr val="2E7D32"/>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No recurring solver licence (IBM lists CPLEX developer subscriptions from US$320 per user per month). Apache-2.0, no lock-in.</a:t>
            </a:r>
            <a:endParaRPr/>
          </a:p>
        </p:txBody>
      </p:sp>
      <p:sp>
        <p:nvSpPr>
          <p:cNvPr id="183" name="Google Shape;183;p17"/>
          <p:cNvSpPr/>
          <p:nvPr/>
        </p:nvSpPr>
        <p:spPr>
          <a:xfrm>
            <a:off x="411480" y="3840480"/>
            <a:ext cx="3611880" cy="1965960"/>
          </a:xfrm>
          <a:prstGeom prst="roundRect">
            <a:avLst>
              <a:gd fmla="val 10000" name="adj"/>
            </a:avLst>
          </a:prstGeom>
          <a:solidFill>
            <a:srgbClr val="FFFFFF"/>
          </a:solidFill>
          <a:ln cap="flat" cmpd="sng" w="16500">
            <a:solidFill>
              <a:srgbClr val="2E7D32"/>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2E7D32"/>
                </a:solidFill>
                <a:latin typeface="Arial"/>
                <a:ea typeface="Arial"/>
                <a:cs typeface="Arial"/>
                <a:sym typeface="Arial"/>
              </a:rPr>
              <a:t>Strategic / national</a:t>
            </a:r>
            <a:endParaRPr/>
          </a:p>
          <a:p>
            <a:pPr indent="0" lvl="0" marL="0" marR="0" rtl="0" algn="l">
              <a:spcBef>
                <a:spcPts val="100"/>
              </a:spcBef>
              <a:spcAft>
                <a:spcPts val="0"/>
              </a:spcAft>
              <a:buNone/>
            </a:pPr>
            <a:r>
              <a:t/>
            </a:r>
            <a:endParaRPr b="1" i="0" sz="1350" u="none" cap="none" strike="noStrike">
              <a:solidFill>
                <a:srgbClr val="2E7D32"/>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The decision engine behind critical energy infrastructure becomes Indian code. China made this move with COPT.</a:t>
            </a:r>
            <a:endParaRPr/>
          </a:p>
        </p:txBody>
      </p:sp>
      <p:sp>
        <p:nvSpPr>
          <p:cNvPr id="184" name="Google Shape;184;p17"/>
          <p:cNvSpPr/>
          <p:nvPr/>
        </p:nvSpPr>
        <p:spPr>
          <a:xfrm>
            <a:off x="4233672" y="3840480"/>
            <a:ext cx="3611880" cy="1965960"/>
          </a:xfrm>
          <a:prstGeom prst="roundRect">
            <a:avLst>
              <a:gd fmla="val 10000" name="adj"/>
            </a:avLst>
          </a:prstGeom>
          <a:solidFill>
            <a:srgbClr val="FFFFFF"/>
          </a:solidFill>
          <a:ln cap="flat" cmpd="sng" w="16500">
            <a:solidFill>
              <a:srgbClr val="B46A0A"/>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B46A0A"/>
                </a:solidFill>
                <a:latin typeface="Arial"/>
                <a:ea typeface="Arial"/>
                <a:cs typeface="Arial"/>
                <a:sym typeface="Arial"/>
              </a:rPr>
              <a:t>Transparency</a:t>
            </a:r>
            <a:endParaRPr/>
          </a:p>
          <a:p>
            <a:pPr indent="0" lvl="0" marL="0" marR="0" rtl="0" algn="l">
              <a:spcBef>
                <a:spcPts val="100"/>
              </a:spcBef>
              <a:spcAft>
                <a:spcPts val="0"/>
              </a:spcAft>
              <a:buNone/>
            </a:pPr>
            <a:r>
              <a:t/>
            </a:r>
            <a:endParaRPr b="1" i="0" sz="1350" u="none" cap="none" strike="noStrike">
              <a:solidFill>
                <a:srgbClr val="B46A0A"/>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Every pivot, factorisation and cut is inspectable; tolerances and heuristics can be tuned to Indian refinery models.</a:t>
            </a:r>
            <a:endParaRPr/>
          </a:p>
        </p:txBody>
      </p:sp>
      <p:sp>
        <p:nvSpPr>
          <p:cNvPr id="185" name="Google Shape;185;p17"/>
          <p:cNvSpPr/>
          <p:nvPr/>
        </p:nvSpPr>
        <p:spPr>
          <a:xfrm>
            <a:off x="8055863" y="3840480"/>
            <a:ext cx="3611880" cy="1965960"/>
          </a:xfrm>
          <a:prstGeom prst="roundRect">
            <a:avLst>
              <a:gd fmla="val 10000" name="adj"/>
            </a:avLst>
          </a:prstGeom>
          <a:solidFill>
            <a:srgbClr val="FFFFFF"/>
          </a:solidFill>
          <a:ln cap="flat" cmpd="sng" w="16500">
            <a:solidFill>
              <a:srgbClr val="B46A0A"/>
            </a:solidFill>
            <a:prstDash val="solid"/>
            <a:round/>
            <a:headEnd len="sm" w="sm" type="none"/>
            <a:tailEnd len="sm" w="sm" type="none"/>
          </a:ln>
        </p:spPr>
        <p:txBody>
          <a:bodyPr anchorCtr="0" anchor="ctr" bIns="45700" lIns="155425" spcFirstLastPara="1" rIns="137150" wrap="square" tIns="128000">
            <a:noAutofit/>
          </a:bodyPr>
          <a:lstStyle/>
          <a:p>
            <a:pPr indent="0" lvl="0" marL="0" marR="0" rtl="0" algn="l">
              <a:spcBef>
                <a:spcPts val="0"/>
              </a:spcBef>
              <a:spcAft>
                <a:spcPts val="0"/>
              </a:spcAft>
              <a:buNone/>
            </a:pPr>
            <a:r>
              <a:rPr b="1" i="0" lang="en-US" sz="1350" u="none" cap="none" strike="noStrike">
                <a:solidFill>
                  <a:srgbClr val="B46A0A"/>
                </a:solidFill>
                <a:latin typeface="Arial"/>
                <a:ea typeface="Arial"/>
                <a:cs typeface="Arial"/>
                <a:sym typeface="Arial"/>
              </a:rPr>
              <a:t>Scalable by design</a:t>
            </a:r>
            <a:endParaRPr/>
          </a:p>
          <a:p>
            <a:pPr indent="0" lvl="0" marL="0" marR="0" rtl="0" algn="l">
              <a:spcBef>
                <a:spcPts val="100"/>
              </a:spcBef>
              <a:spcAft>
                <a:spcPts val="0"/>
              </a:spcAft>
              <a:buNone/>
            </a:pPr>
            <a:r>
              <a:t/>
            </a:r>
            <a:endParaRPr b="1" i="0" sz="1350" u="none" cap="none" strike="noStrike">
              <a:solidFill>
                <a:srgbClr val="B46A0A"/>
              </a:solidFill>
              <a:latin typeface="Arial"/>
              <a:ea typeface="Arial"/>
              <a:cs typeface="Arial"/>
              <a:sym typeface="Arial"/>
            </a:endParaRPr>
          </a:p>
          <a:p>
            <a:pPr indent="0" lvl="0" marL="0" marR="0" rtl="0" algn="l">
              <a:spcBef>
                <a:spcPts val="100"/>
              </a:spcBef>
              <a:spcAft>
                <a:spcPts val="0"/>
              </a:spcAft>
              <a:buNone/>
            </a:pPr>
            <a:r>
              <a:rPr b="0" i="0" lang="en-US" sz="1050" u="none" cap="none" strike="noStrike">
                <a:solidFill>
                  <a:srgbClr val="1A1A1A"/>
                </a:solidFill>
                <a:latin typeface="Arial"/>
                <a:ea typeface="Arial"/>
                <a:cs typeface="Arial"/>
                <a:sym typeface="Arial"/>
              </a:rPr>
              <a:t>The GPU engine needs only matrix–vector products, so large planning LPs speed up as GPUs improve.</a:t>
            </a:r>
            <a:endParaRPr/>
          </a:p>
        </p:txBody>
      </p:sp>
      <p:sp>
        <p:nvSpPr>
          <p:cNvPr id="186" name="Google Shape;186;p17"/>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8"/>
          <p:cNvSpPr/>
          <p:nvPr/>
        </p:nvSpPr>
        <p:spPr>
          <a:xfrm>
            <a:off x="0" y="6354762"/>
            <a:ext cx="12191999" cy="503238"/>
          </a:xfrm>
          <a:prstGeom prst="rect">
            <a:avLst/>
          </a:prstGeom>
          <a:solidFill>
            <a:srgbClr val="0070C0"/>
          </a:solidFill>
          <a:ln>
            <a:noFill/>
          </a:ln>
          <a:effectLst>
            <a:outerShdw rotWithShape="0" dir="5400000" dist="23000">
              <a:srgbClr val="80808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Calibri"/>
              <a:buNone/>
            </a:pPr>
            <a:r>
              <a:t/>
            </a:r>
            <a:endParaRPr b="0" i="0" sz="1800" u="none" cap="none" strike="noStrike">
              <a:solidFill>
                <a:srgbClr val="953734"/>
              </a:solidFill>
              <a:latin typeface="Calibri"/>
              <a:ea typeface="Calibri"/>
              <a:cs typeface="Calibri"/>
              <a:sym typeface="Calibri"/>
            </a:endParaRPr>
          </a:p>
        </p:txBody>
      </p:sp>
      <p:sp>
        <p:nvSpPr>
          <p:cNvPr id="193" name="Google Shape;193;p18"/>
          <p:cNvSpPr txBox="1"/>
          <p:nvPr>
            <p:ph type="title"/>
          </p:nvPr>
        </p:nvSpPr>
        <p:spPr>
          <a:xfrm>
            <a:off x="609600" y="-47625"/>
            <a:ext cx="109728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sz="3600">
                <a:latin typeface="Times New Roman"/>
                <a:ea typeface="Times New Roman"/>
                <a:cs typeface="Times New Roman"/>
                <a:sym typeface="Times New Roman"/>
              </a:rPr>
              <a:t>RESEARCH  AND REFERENCES</a:t>
            </a:r>
            <a:endParaRPr/>
          </a:p>
        </p:txBody>
      </p:sp>
      <p:sp>
        <p:nvSpPr>
          <p:cNvPr id="194" name="Google Shape;194;p18"/>
          <p:cNvSpPr txBox="1"/>
          <p:nvPr/>
        </p:nvSpPr>
        <p:spPr>
          <a:xfrm>
            <a:off x="411480" y="1024128"/>
            <a:ext cx="11338560" cy="384048"/>
          </a:xfrm>
          <a:prstGeom prst="rect">
            <a:avLst/>
          </a:prstGeom>
          <a:noFill/>
          <a:ln>
            <a:noFill/>
          </a:ln>
        </p:spPr>
        <p:txBody>
          <a:bodyPr anchorCtr="0" anchor="t" bIns="45700" lIns="91425" spcFirstLastPara="1" rIns="91425" wrap="square" tIns="45700">
            <a:spAutoFit/>
          </a:bodyPr>
          <a:lstStyle/>
          <a:p>
            <a:pPr indent="-342900" lvl="0" marL="342900" marR="0" rtl="0" algn="l">
              <a:lnSpc>
                <a:spcPct val="100000"/>
              </a:lnSpc>
              <a:spcBef>
                <a:spcPts val="0"/>
              </a:spcBef>
              <a:spcAft>
                <a:spcPts val="0"/>
              </a:spcAft>
              <a:buClr>
                <a:srgbClr val="555555"/>
              </a:buClr>
              <a:buSzPts val="1250"/>
              <a:buFont typeface="Arial"/>
              <a:buChar char="•"/>
            </a:pPr>
            <a:r>
              <a:rPr b="1" i="0" lang="en-US" sz="1250" u="none" cap="none" strike="noStrike">
                <a:solidFill>
                  <a:srgbClr val="555555"/>
                </a:solidFill>
                <a:latin typeface="Arial"/>
                <a:ea typeface="Arial"/>
                <a:cs typeface="Arial"/>
                <a:sym typeface="Arial"/>
              </a:rPr>
              <a:t>Base papers anchor the engines; the rest map one-to-one onto the layers above.</a:t>
            </a:r>
            <a:endParaRPr b="0" i="0" sz="2800" u="none" cap="none" strike="noStrike">
              <a:solidFill>
                <a:srgbClr val="000000"/>
              </a:solidFill>
              <a:latin typeface="Arial"/>
              <a:ea typeface="Arial"/>
              <a:cs typeface="Arial"/>
              <a:sym typeface="Arial"/>
            </a:endParaRPr>
          </a:p>
        </p:txBody>
      </p:sp>
      <p:sp>
        <p:nvSpPr>
          <p:cNvPr id="195" name="Google Shape;195;p18"/>
          <p:cNvSpPr txBox="1"/>
          <p:nvPr>
            <p:ph idx="12" type="sldNum"/>
          </p:nvPr>
        </p:nvSpPr>
        <p:spPr>
          <a:xfrm>
            <a:off x="8737600" y="6356353"/>
            <a:ext cx="2844800" cy="365125"/>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FFFFFF"/>
              </a:buClr>
              <a:buSzPts val="1200"/>
              <a:buFont typeface="Oswald"/>
              <a:buNone/>
            </a:pPr>
            <a:fld id="{00000000-1234-1234-1234-123412341234}" type="slidenum">
              <a:rPr b="1" i="0" lang="en-US" sz="1200" u="none" cap="none" strike="noStrike">
                <a:solidFill>
                  <a:srgbClr val="FFFFFF"/>
                </a:solidFill>
                <a:latin typeface="Oswald"/>
                <a:ea typeface="Oswald"/>
                <a:cs typeface="Oswald"/>
                <a:sym typeface="Oswald"/>
              </a:rPr>
              <a:t>‹#›</a:t>
            </a:fld>
            <a:endParaRPr b="1" i="0" sz="1200" u="none" cap="none" strike="noStrike">
              <a:solidFill>
                <a:srgbClr val="FFFFFF"/>
              </a:solidFill>
              <a:latin typeface="Oswald"/>
              <a:ea typeface="Oswald"/>
              <a:cs typeface="Oswald"/>
              <a:sym typeface="Oswald"/>
            </a:endParaRPr>
          </a:p>
        </p:txBody>
      </p:sp>
      <p:sp>
        <p:nvSpPr>
          <p:cNvPr descr="Your startup LOGO" id="196" name="Google Shape;196;p18"/>
          <p:cNvSpPr/>
          <p:nvPr/>
        </p:nvSpPr>
        <p:spPr>
          <a:xfrm>
            <a:off x="329773" y="252246"/>
            <a:ext cx="1251857" cy="807334"/>
          </a:xfrm>
          <a:prstGeom prst="ellipse">
            <a:avLst/>
          </a:prstGeom>
          <a:solidFill>
            <a:schemeClr val="lt1"/>
          </a:solidFill>
          <a:ln cap="flat" cmpd="sng" w="25400">
            <a:solidFill>
              <a:schemeClr val="accent4"/>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Arial"/>
                <a:ea typeface="Arial"/>
                <a:cs typeface="Arial"/>
                <a:sym typeface="Arial"/>
              </a:rPr>
              <a:t>ZeroCloud</a:t>
            </a:r>
            <a:endParaRPr b="0" i="0" sz="1800" u="none" cap="none" strike="noStrike">
              <a:solidFill>
                <a:schemeClr val="dk1"/>
              </a:solidFill>
              <a:latin typeface="Calibri"/>
              <a:ea typeface="Calibri"/>
              <a:cs typeface="Calibri"/>
              <a:sym typeface="Calibri"/>
            </a:endParaRPr>
          </a:p>
        </p:txBody>
      </p:sp>
      <p:pic>
        <p:nvPicPr>
          <p:cNvPr id="197" name="Google Shape;197;p18"/>
          <p:cNvPicPr preferRelativeResize="0"/>
          <p:nvPr/>
        </p:nvPicPr>
        <p:blipFill rotWithShape="1">
          <a:blip r:embed="rId3">
            <a:alphaModFix/>
          </a:blip>
          <a:srcRect b="0" l="0" r="0" t="0"/>
          <a:stretch/>
        </p:blipFill>
        <p:spPr>
          <a:xfrm>
            <a:off x="9780086" y="1500"/>
            <a:ext cx="2249850" cy="1062337"/>
          </a:xfrm>
          <a:prstGeom prst="rect">
            <a:avLst/>
          </a:prstGeom>
          <a:noFill/>
          <a:ln>
            <a:noFill/>
          </a:ln>
        </p:spPr>
      </p:pic>
      <p:sp>
        <p:nvSpPr>
          <p:cNvPr id="198" name="Google Shape;198;p18"/>
          <p:cNvSpPr/>
          <p:nvPr/>
        </p:nvSpPr>
        <p:spPr>
          <a:xfrm>
            <a:off x="411480" y="1481328"/>
            <a:ext cx="5532120" cy="1234440"/>
          </a:xfrm>
          <a:prstGeom prst="roundRect">
            <a:avLst>
              <a:gd fmla="val 10000" name="adj"/>
            </a:avLst>
          </a:prstGeom>
          <a:solidFill>
            <a:srgbClr val="E8F1FA"/>
          </a:solidFill>
          <a:ln cap="flat" cmpd="sng" w="17775">
            <a:solidFill>
              <a:srgbClr val="0070C0"/>
            </a:solidFill>
            <a:prstDash val="solid"/>
            <a:round/>
            <a:headEnd len="sm" w="sm" type="none"/>
            <a:tailEnd len="sm" w="sm" type="none"/>
          </a:ln>
        </p:spPr>
        <p:txBody>
          <a:bodyPr anchorCtr="0" anchor="ctr" bIns="45700" lIns="182875" spcFirstLastPara="1" rIns="91425" wrap="square" tIns="109725">
            <a:noAutofit/>
          </a:bodyPr>
          <a:lstStyle/>
          <a:p>
            <a:pPr indent="0" lvl="0" marL="0" marR="0" rtl="0" algn="l">
              <a:spcBef>
                <a:spcPts val="0"/>
              </a:spcBef>
              <a:spcAft>
                <a:spcPts val="0"/>
              </a:spcAft>
              <a:buNone/>
            </a:pPr>
            <a:r>
              <a:rPr b="1" i="0" lang="en-US" sz="1000" u="none" cap="none" strike="noStrike">
                <a:solidFill>
                  <a:srgbClr val="0070C0"/>
                </a:solidFill>
                <a:latin typeface="Arial"/>
                <a:ea typeface="Arial"/>
                <a:cs typeface="Arial"/>
                <a:sym typeface="Arial"/>
              </a:rPr>
              <a:t>BASE PAPER</a:t>
            </a:r>
            <a:endParaRPr/>
          </a:p>
          <a:p>
            <a:pPr indent="0" lvl="0" marL="0" marR="0" rtl="0" algn="l">
              <a:spcBef>
                <a:spcPts val="100"/>
              </a:spcBef>
              <a:spcAft>
                <a:spcPts val="0"/>
              </a:spcAft>
              <a:buNone/>
            </a:pPr>
            <a:r>
              <a:rPr b="1" i="0" lang="en-US" sz="1250" u="none" cap="none" strike="noStrike">
                <a:solidFill>
                  <a:srgbClr val="1F497D"/>
                </a:solidFill>
                <a:latin typeface="Arial"/>
                <a:ea typeface="Arial"/>
                <a:cs typeface="Arial"/>
                <a:sym typeface="Arial"/>
              </a:rPr>
              <a:t>On the Implementation of a Primal-Dual Interior Point Method</a:t>
            </a:r>
            <a:endParaRPr/>
          </a:p>
          <a:p>
            <a:pPr indent="0" lvl="0" marL="0" marR="0" rtl="0" algn="l">
              <a:spcBef>
                <a:spcPts val="100"/>
              </a:spcBef>
              <a:spcAft>
                <a:spcPts val="0"/>
              </a:spcAft>
              <a:buNone/>
            </a:pPr>
            <a:r>
              <a:rPr b="0" i="0" lang="en-US" sz="1000" u="none" cap="none" strike="noStrike">
                <a:solidFill>
                  <a:srgbClr val="555555"/>
                </a:solidFill>
                <a:latin typeface="Arial"/>
                <a:ea typeface="Arial"/>
                <a:cs typeface="Arial"/>
                <a:sym typeface="Arial"/>
              </a:rPr>
              <a:t>Mehrotra, SIAM J. Optimization 2(4), 1992  ·  doi:10.1137/0802028</a:t>
            </a:r>
            <a:endParaRPr/>
          </a:p>
          <a:p>
            <a:pPr indent="0" lvl="0" marL="0" marR="0" rtl="0" algn="l">
              <a:spcBef>
                <a:spcPts val="100"/>
              </a:spcBef>
              <a:spcAft>
                <a:spcPts val="0"/>
              </a:spcAft>
              <a:buNone/>
            </a:pPr>
            <a:r>
              <a:rPr b="0" i="0" lang="en-US" sz="1000" u="none" cap="none" strike="noStrike">
                <a:solidFill>
                  <a:srgbClr val="1A1A1A"/>
                </a:solidFill>
                <a:latin typeface="Arial"/>
                <a:ea typeface="Arial"/>
                <a:cs typeface="Arial"/>
                <a:sym typeface="Arial"/>
              </a:rPr>
              <a:t>Our interior-point LP and QP engines follow its predictor-corrector.</a:t>
            </a:r>
            <a:endParaRPr/>
          </a:p>
        </p:txBody>
      </p:sp>
      <p:sp>
        <p:nvSpPr>
          <p:cNvPr id="199" name="Google Shape;199;p18"/>
          <p:cNvSpPr/>
          <p:nvPr/>
        </p:nvSpPr>
        <p:spPr>
          <a:xfrm>
            <a:off x="6309360" y="1481328"/>
            <a:ext cx="5486400" cy="1234440"/>
          </a:xfrm>
          <a:prstGeom prst="roundRect">
            <a:avLst>
              <a:gd fmla="val 10000" name="adj"/>
            </a:avLst>
          </a:prstGeom>
          <a:solidFill>
            <a:srgbClr val="F7F9FC"/>
          </a:solidFill>
          <a:ln cap="flat" cmpd="sng" w="13950">
            <a:solidFill>
              <a:srgbClr val="C8D6E6"/>
            </a:solidFill>
            <a:prstDash val="solid"/>
            <a:round/>
            <a:headEnd len="sm" w="sm" type="none"/>
            <a:tailEnd len="sm" w="sm" type="none"/>
          </a:ln>
        </p:spPr>
        <p:txBody>
          <a:bodyPr anchorCtr="0" anchor="ctr" bIns="45700" lIns="182875" spcFirstLastPara="1" rIns="91425" wrap="square" tIns="109725">
            <a:noAutofit/>
          </a:bodyPr>
          <a:lstStyle/>
          <a:p>
            <a:pPr indent="0" lvl="0" marL="0" marR="0" rtl="0" algn="l">
              <a:spcBef>
                <a:spcPts val="0"/>
              </a:spcBef>
              <a:spcAft>
                <a:spcPts val="0"/>
              </a:spcAft>
              <a:buNone/>
            </a:pPr>
            <a:r>
              <a:rPr b="1" i="0" lang="en-US" sz="1000" u="none" cap="none" strike="noStrike">
                <a:solidFill>
                  <a:srgbClr val="555555"/>
                </a:solidFill>
                <a:latin typeface="Arial"/>
                <a:ea typeface="Arial"/>
                <a:cs typeface="Arial"/>
                <a:sym typeface="Arial"/>
              </a:rPr>
              <a:t>GPU PRECEDENT</a:t>
            </a:r>
            <a:endParaRPr/>
          </a:p>
          <a:p>
            <a:pPr indent="0" lvl="0" marL="0" marR="0" rtl="0" algn="l">
              <a:spcBef>
                <a:spcPts val="100"/>
              </a:spcBef>
              <a:spcAft>
                <a:spcPts val="0"/>
              </a:spcAft>
              <a:buNone/>
            </a:pPr>
            <a:r>
              <a:rPr b="1" i="0" lang="en-US" sz="1250" u="none" cap="none" strike="noStrike">
                <a:solidFill>
                  <a:srgbClr val="1F497D"/>
                </a:solidFill>
                <a:latin typeface="Arial"/>
                <a:ea typeface="Arial"/>
                <a:cs typeface="Arial"/>
                <a:sym typeface="Arial"/>
              </a:rPr>
              <a:t>cuPDLP: restarted primal-dual hybrid gradient on the GPU</a:t>
            </a:r>
            <a:endParaRPr/>
          </a:p>
          <a:p>
            <a:pPr indent="0" lvl="0" marL="0" marR="0" rtl="0" algn="l">
              <a:spcBef>
                <a:spcPts val="100"/>
              </a:spcBef>
              <a:spcAft>
                <a:spcPts val="0"/>
              </a:spcAft>
              <a:buNone/>
            </a:pPr>
            <a:r>
              <a:rPr b="0" i="0" lang="en-US" sz="1000" u="none" cap="none" strike="noStrike">
                <a:solidFill>
                  <a:srgbClr val="555555"/>
                </a:solidFill>
                <a:latin typeface="Arial"/>
                <a:ea typeface="Arial"/>
                <a:cs typeface="Arial"/>
                <a:sym typeface="Arial"/>
              </a:rPr>
              <a:t>Lu &amp; Yang, Operations Research 73, 2025  ·  doi:10.1287/opre.2024.1069</a:t>
            </a:r>
            <a:endParaRPr/>
          </a:p>
          <a:p>
            <a:pPr indent="0" lvl="0" marL="0" marR="0" rtl="0" algn="l">
              <a:spcBef>
                <a:spcPts val="100"/>
              </a:spcBef>
              <a:spcAft>
                <a:spcPts val="0"/>
              </a:spcAft>
              <a:buNone/>
            </a:pPr>
            <a:r>
              <a:rPr b="0" i="0" lang="en-US" sz="1000" u="none" cap="none" strike="noStrike">
                <a:solidFill>
                  <a:srgbClr val="1A1A1A"/>
                </a:solidFill>
                <a:latin typeface="Arial"/>
                <a:ea typeface="Arial"/>
                <a:cs typeface="Arial"/>
                <a:sym typeface="Arial"/>
              </a:rPr>
              <a:t>Shows first-order LP on GPUs wins at scale; basis of our PDLP engine.</a:t>
            </a:r>
            <a:endParaRPr/>
          </a:p>
        </p:txBody>
      </p:sp>
      <p:sp>
        <p:nvSpPr>
          <p:cNvPr id="200" name="Google Shape;200;p18"/>
          <p:cNvSpPr/>
          <p:nvPr/>
        </p:nvSpPr>
        <p:spPr>
          <a:xfrm>
            <a:off x="411480" y="2880360"/>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Dual simplex</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Koberstein, PhD thesis 2005   ·   Forrest &amp; Goldfarb, Math. Prog. 57, 1992</a:t>
            </a:r>
            <a:endParaRPr/>
          </a:p>
        </p:txBody>
      </p:sp>
      <p:sp>
        <p:nvSpPr>
          <p:cNvPr id="201" name="Google Shape;201;p18"/>
          <p:cNvSpPr/>
          <p:nvPr/>
        </p:nvSpPr>
        <p:spPr>
          <a:xfrm>
            <a:off x="6309360" y="2880360"/>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Ratio tests</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Harris, Math. Prog. 5, 1973   ·   Maros, EJOR 149, 2003</a:t>
            </a:r>
            <a:endParaRPr/>
          </a:p>
        </p:txBody>
      </p:sp>
      <p:sp>
        <p:nvSpPr>
          <p:cNvPr id="202" name="Google Shape;202;p18"/>
          <p:cNvSpPr/>
          <p:nvPr/>
        </p:nvSpPr>
        <p:spPr>
          <a:xfrm>
            <a:off x="411480" y="3639312"/>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Sparse LU</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Gilbert &amp; Peierls, SISSC 1988   ·   Suhl &amp; Suhl, ORSA JoC 2, 1990</a:t>
            </a:r>
            <a:endParaRPr/>
          </a:p>
        </p:txBody>
      </p:sp>
      <p:sp>
        <p:nvSpPr>
          <p:cNvPr id="203" name="Google Shape;203;p18"/>
          <p:cNvSpPr/>
          <p:nvPr/>
        </p:nvSpPr>
        <p:spPr>
          <a:xfrm>
            <a:off x="6309360" y="3639312"/>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PDLP</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Applegate et al., NeurIPS 2021   ·   arXiv:2106.04756</a:t>
            </a:r>
            <a:endParaRPr/>
          </a:p>
        </p:txBody>
      </p:sp>
      <p:sp>
        <p:nvSpPr>
          <p:cNvPr id="204" name="Google Shape;204;p18"/>
          <p:cNvSpPr/>
          <p:nvPr/>
        </p:nvSpPr>
        <p:spPr>
          <a:xfrm>
            <a:off x="411480" y="4398264"/>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MILP branching</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Achterberg, Koch &amp; Martin, Oper. Res. Letters 33, 2005</a:t>
            </a:r>
            <a:endParaRPr/>
          </a:p>
        </p:txBody>
      </p:sp>
      <p:sp>
        <p:nvSpPr>
          <p:cNvPr id="205" name="Google Shape;205;p18"/>
          <p:cNvSpPr/>
          <p:nvPr/>
        </p:nvSpPr>
        <p:spPr>
          <a:xfrm>
            <a:off x="6309360" y="4398264"/>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Cutting planes</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Balas, Ceria, Cornuéjols &amp; Natraj, Oper. Res. Letters 19, 1996</a:t>
            </a:r>
            <a:endParaRPr/>
          </a:p>
        </p:txBody>
      </p:sp>
      <p:sp>
        <p:nvSpPr>
          <p:cNvPr id="206" name="Google Shape;206;p18"/>
          <p:cNvSpPr/>
          <p:nvPr/>
        </p:nvSpPr>
        <p:spPr>
          <a:xfrm>
            <a:off x="411480" y="5157216"/>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Presolve</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Andersen &amp; Andersen, Math. Prog. 71, 1995</a:t>
            </a:r>
            <a:endParaRPr/>
          </a:p>
        </p:txBody>
      </p:sp>
      <p:sp>
        <p:nvSpPr>
          <p:cNvPr id="207" name="Google Shape;207;p18"/>
          <p:cNvSpPr/>
          <p:nvPr/>
        </p:nvSpPr>
        <p:spPr>
          <a:xfrm>
            <a:off x="6309360" y="5157216"/>
            <a:ext cx="5486400" cy="658368"/>
          </a:xfrm>
          <a:prstGeom prst="roundRect">
            <a:avLst>
              <a:gd fmla="val 10000" name="adj"/>
            </a:avLst>
          </a:prstGeom>
          <a:solidFill>
            <a:srgbClr val="FFFFFF"/>
          </a:solidFill>
          <a:ln cap="flat" cmpd="sng" w="11425">
            <a:solidFill>
              <a:srgbClr val="D5DFEA"/>
            </a:solidFill>
            <a:prstDash val="solid"/>
            <a:round/>
            <a:headEnd len="sm" w="sm" type="none"/>
            <a:tailEnd len="sm" w="sm" type="none"/>
          </a:ln>
        </p:spPr>
        <p:txBody>
          <a:bodyPr anchorCtr="0" anchor="ctr" bIns="45700" lIns="137150" spcFirstLastPara="1" rIns="91425" wrap="square" tIns="54850">
            <a:noAutofit/>
          </a:bodyPr>
          <a:lstStyle/>
          <a:p>
            <a:pPr indent="0" lvl="0" marL="0" marR="0" rtl="0" algn="l">
              <a:spcBef>
                <a:spcPts val="0"/>
              </a:spcBef>
              <a:spcAft>
                <a:spcPts val="0"/>
              </a:spcAft>
              <a:buNone/>
            </a:pPr>
            <a:r>
              <a:rPr b="1" i="0" lang="en-US" sz="950" u="none" cap="none" strike="noStrike">
                <a:solidFill>
                  <a:srgbClr val="0070C0"/>
                </a:solidFill>
                <a:latin typeface="Arial"/>
                <a:ea typeface="Arial"/>
                <a:cs typeface="Arial"/>
                <a:sym typeface="Arial"/>
              </a:rPr>
              <a:t>Quasi-definite LDLᵀ (QP)</a:t>
            </a:r>
            <a:endParaRPr/>
          </a:p>
          <a:p>
            <a:pPr indent="0" lvl="0" marL="0" marR="0" rtl="0" algn="l">
              <a:spcBef>
                <a:spcPts val="0"/>
              </a:spcBef>
              <a:spcAft>
                <a:spcPts val="0"/>
              </a:spcAft>
              <a:buNone/>
            </a:pPr>
            <a:r>
              <a:rPr b="0" i="0" lang="en-US" sz="1000" u="none" cap="none" strike="noStrike">
                <a:solidFill>
                  <a:srgbClr val="1A1A1A"/>
                </a:solidFill>
                <a:latin typeface="Arial"/>
                <a:ea typeface="Arial"/>
                <a:cs typeface="Arial"/>
                <a:sym typeface="Arial"/>
              </a:rPr>
              <a:t>Vanderbei, SIAM J. Optim. 5, 1995   ·   Friedlander &amp; Orban, 2012</a:t>
            </a:r>
            <a:endParaRPr/>
          </a:p>
        </p:txBody>
      </p:sp>
      <p:sp>
        <p:nvSpPr>
          <p:cNvPr id="208" name="Google Shape;208;p18"/>
          <p:cNvSpPr txBox="1"/>
          <p:nvPr/>
        </p:nvSpPr>
        <p:spPr>
          <a:xfrm>
            <a:off x="411480" y="5989320"/>
            <a:ext cx="11338560" cy="3200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900" u="none" cap="none" strike="noStrike">
                <a:solidFill>
                  <a:srgbClr val="555555"/>
                </a:solidFill>
                <a:latin typeface="Arial"/>
                <a:ea typeface="Arial"/>
                <a:cs typeface="Arial"/>
                <a:sym typeface="Arial"/>
              </a:rPr>
              <a:t>Benchmarks: Netlib (Koch, ORL 32, 2004) · MIPLIB (Gleixner et al., MPC 13, 2021) · Maros &amp; Mészáros, OMS 11, 1999 · HiGHS and Clarabel are used only as references in testing, never inside the solver.</a:t>
            </a:r>
            <a:endParaRPr/>
          </a:p>
        </p:txBody>
      </p:sp>
      <p:sp>
        <p:nvSpPr>
          <p:cNvPr id="209" name="Google Shape;209;p18"/>
          <p:cNvSpPr txBox="1"/>
          <p:nvPr/>
        </p:nvSpPr>
        <p:spPr>
          <a:xfrm>
            <a:off x="329750" y="432725"/>
            <a:ext cx="14217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700">
                <a:solidFill>
                  <a:srgbClr val="0070C0"/>
                </a:solidFill>
              </a:rPr>
              <a:t>ZeroCloud</a:t>
            </a:r>
            <a:endParaRPr b="1" sz="1700">
              <a:solidFill>
                <a:srgbClr val="0070C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