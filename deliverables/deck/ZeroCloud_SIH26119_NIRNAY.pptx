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A44"/>
                </a:solidFill>
                <a:latin typeface="Arial"/>
              </a:defRPr>
            </a:pPr>
            <a:r>
              <a:rPr sz="1300" b="0" i="0" u="none" strike="noStrike">
                <a:solidFill>
                  <a:srgbClr val="1F2A44"/>
                </a:solidFill>
                <a:latin typeface="Arial"/>
              </a:rPr>
              <a:t>Netlib LP collection (90 problems)</a:t>
            </a:r>
          </a:p>
        </c:rich>
      </c:tx>
      <c:layout/>
      <c:overlay val="0"/>
    </c:title>
    <c:autoTitleDeleted val="0"/>
    <c:plotArea>
      <c:layout/>
      <c:barChart>
        <c:barDir val="bar"/>
        <c:grouping val="clustered"/>
        <c:varyColors val="0"/>
        <c:ser>
          <c:idx val="0"/>
          <c:order val="0"/>
          <c:tx>
            <c:strRef>
              <c:f>Sheet1!$B$1</c:f>
              <c:strCache>
                <c:ptCount val="1"/>
                <c:pt idx="0">
                  <c:v>Solved</c:v>
                </c:pt>
              </c:strCache>
            </c:strRef>
          </c:tx>
          <c:spPr>
            <a:solidFill>
              <a:srgbClr val="E8702A"/>
            </a:solidFill>
            <a:effectLst/>
          </c:spPr>
          <c:invertIfNegative val="0"/>
          <c:dLbls>
            <c:numFmt formatCode="#,##0" sourceLinked="0"/>
            <c:txPr>
              <a:bodyPr/>
              <a:lstStyle/>
              <a:p>
                <a:pPr>
                  <a:defRPr b="0" i="0" strike="noStrike" sz="1200" u="none">
                    <a:solidFill>
                      <a:srgbClr val="2B2F36"/>
                    </a:solidFill>
                    <a:latin typeface="Arial"/>
                  </a:defRPr>
                </a:pPr>
              </a:p>
            </c:txPr>
            <c:showLegendKey val="0"/>
            <c:showVal val="1"/>
            <c:showCatName val="0"/>
            <c:showSerName val="0"/>
            <c:showPercent val="0"/>
            <c:showBubbleSize val="0"/>
            <c:showLeaderLines val="0"/>
          </c:dLbls>
          <c:dPt>
            <c:idx val="0"/>
            <c:invertIfNegative val="0"/>
            <c:bubble3D val="0"/>
            <c:spPr>
              <a:solidFill>
                <a:srgbClr val="E8702A"/>
              </a:solidFill>
              <a:effectLst/>
            </c:spPr>
          </c:dPt>
          <c:dPt>
            <c:idx val="1"/>
            <c:invertIfNegative val="0"/>
            <c:bubble3D val="0"/>
            <c:spPr>
              <a:solidFill>
                <a:srgbClr val="1F2A44"/>
              </a:solidFill>
              <a:effectLst/>
            </c:spPr>
          </c:dPt>
          <c:dPt>
            <c:idx val="2"/>
            <c:invertIfNegative val="0"/>
            <c:bubble3D val="0"/>
            <c:spPr>
              <a:solidFill>
                <a:srgbClr val="1E8C45"/>
              </a:solidFill>
              <a:effectLst/>
            </c:spPr>
          </c:dPt>
          <c:dPt>
            <c:idx val="3"/>
            <c:invertIfNegative val="0"/>
            <c:bubble3D val="0"/>
            <c:spPr>
              <a:solidFill>
                <a:srgbClr val="9AA5B1"/>
              </a:solidFill>
              <a:effectLst/>
            </c:spPr>
          </c:dPt>
          <c:cat>
            <c:multiLvlStrRef>
              <c:f>Sheet1!$A$2:$A$5</c:f>
              <c:multiLvlStrCache>
                <c:ptCount val="4"/>
                <c:lvl>
                  <c:pt idx="0">
                    <c:v>Interior point</c:v>
                  </c:pt>
                  <c:pt idx="1">
                    <c:v>Dual simplex</c:v>
                  </c:pt>
                  <c:pt idx="2">
                    <c:v>Either engine</c:v>
                  </c:pt>
                  <c:pt idx="3">
                    <c:v>HiGHS (reference)</c:v>
                  </c:pt>
                </c:lvl>
              </c:multiLvlStrCache>
            </c:multiLvlStrRef>
          </c:cat>
          <c:val>
            <c:numRef>
              <c:f>Sheet1!$B$2:$B$5</c:f>
              <c:numCache>
                <c:formatCode>General</c:formatCode>
                <c:ptCount val="4"/>
                <c:pt idx="0">
                  <c:v>86</c:v>
                </c:pt>
                <c:pt idx="1">
                  <c:v>82</c:v>
                </c:pt>
                <c:pt idx="2">
                  <c:v>88</c:v>
                </c:pt>
                <c:pt idx="3">
                  <c:v>90</c:v>
                </c:pt>
              </c:numCache>
            </c:numRef>
          </c:val>
        </c:ser>
        <c:dLbls>
          <c:numFmt formatCode="#,##0" sourceLinked="0"/>
          <c:txPr>
            <a:bodyPr/>
            <a:lstStyle/>
            <a:p>
              <a:pPr>
                <a:defRPr b="0" i="0" strike="noStrike" sz="1200" u="none">
                  <a:solidFill>
                    <a:srgbClr val="2B2F3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2F36"/>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8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(20s). We are Team ZeroCloud, on problem statement SIH26119 from MRPL: an indigenous optimisation solver.
The title is copied exactly as the portal lists it, including its spelling of Xpress and CPLEX.
One line: every refinery plan, blend and schedule in India runs on a handful of foreign solvers nobody here can inspect. We are writing the engine itself, from the mathematics up, and it already solves the standard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(60s). Start from the dependency, not the code: every refinery plan and blend in India runs through CPLEX, Gurobi or Xpress. Recurring cost, and nobody here can see inside.
Then the proof it is real: our interior point already solves 86 of the 90 Netlib LPs to the known optimum, and 88 are solved by at least one of our engines. No solver library is inside; the LU and Cholesky factorisations are ours.
Land the four claims briefly. Spend the time on the first: we do not pick one algorithm, we ship three, because simplex, interior point and GPU PDLP each win on different problems, and a sovereign solver must not be weak where MRPL's models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APPROACH (75s). Walk the stack top to bottom, one sentence each.
The point to land: the problem statement forbids building on an existing solver, so the three places where solvers usually borrow code are the ones we wrote ourselves: the sparse LU under the simplex, the sparse Cholesky under the interior point, and the orderings that keep both sparse.
Then why three LP engines: simplex gives an exact vertex and warm starts, which branch-and-bound needs; interior point is the most reliable on big sparse LPs; PDLP needs only matrix-vector products, which is exactly what a GPU is good at. The published evidence (cuPDLP, Lu &amp; Yang 2023) is that GPU first-order methods win on very large LPs at moderate accuracy and lose at high accuracy, so we keep all three.
Close on verification: every benchmark run is re-solved by HiGHS as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(45s). Lead with the chart: this is measured, not planned. Interior point 86 of 90 Netlib LPs at the known optimum, dual simplex 82 of 87 run so far, 88 solved by at least one engine. Every value is checked against HiGHS.
Then two risks only: hard MIPLIB instances (we report the proven gap honestly and close it with cuts) and speed against C++ solvers (the hot loops are compiled native code). Say the others are on the slide.
If asked whether students can build a solver: the algorithms are published mathematics; the work is careful implementation and testing, which is what this chart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(35s). Pick three cards. Strategic: the decision engine behind critical energy infrastructure becomes something India can read and change; China made the same move with COPT. Economic: IBM's own pricing page lists CPLEX developer subscriptions from 320 US dollars per user per month, and deployment pricing is not published at all. Operational: these are the models MRPL already runs, crude blending, scheduling, dispatch, now on hardware it owns.
Close on the ecosystem: an open base that PSUs, IITs and start-ups can extend.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(25s, then stop). Do not read citations. Say: every component on the architecture slide has a primary source here: Mehrotra for the interior point, Koberstein and Forrest-Goldfarb for the dual simplex, Gilbert-Peierls for our LU, Applegate et al. for PDLP and Lu and Yang for the GPU version.
Then: comparators like HiGHS appear only in our test harness, never in the solver, which is what the problem statement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darsh\nirnay\deliverables\deck\tpl\ppt\media\image1.png">    </p:cNvPr>
          <p:cNvPicPr>
            <a:picLocks noChangeAspect="1"/>
          </p:cNvPicPr>
          <p:nvPr/>
        </p:nvPicPr>
        <p:blipFill>
          <a:blip r:embed="rId1"/>
          <a:stretch>
            <a:fillRect/>
          </a:stretch>
        </p:blipFill>
        <p:spPr>
          <a:xfrm>
            <a:off x="548640" y="502920"/>
            <a:ext cx="3840480" cy="1813255"/>
          </a:xfrm>
          <a:prstGeom prst="rect">
            <a:avLst/>
          </a:prstGeom>
        </p:spPr>
      </p:pic>
      <p:sp>
        <p:nvSpPr>
          <p:cNvPr id="3" name="Text 0"/>
          <p:cNvSpPr txBox="1"/>
          <p:nvPr/>
        </p:nvSpPr>
        <p:spPr>
          <a:xfrm>
            <a:off x="4846320" y="777240"/>
            <a:ext cx="6949440" cy="640080"/>
          </a:xfrm>
          <a:prstGeom prst="rect">
            <a:avLst/>
          </a:prstGeom>
          <a:noFill/>
          <a:ln/>
        </p:spPr>
        <p:txBody>
          <a:bodyPr wrap="square" lIns="0" tIns="0" rIns="0" bIns="0" rtlCol="0" anchor="ctr"/>
          <a:lstStyle/>
          <a:p>
            <a:pPr indent="0" marL="0">
              <a:buNone/>
            </a:pPr>
            <a:r>
              <a:rPr lang="en-US" sz="3200" b="1" dirty="0">
                <a:solidFill>
                  <a:srgbClr val="1F2A44"/>
                </a:solidFill>
                <a:latin typeface="Arial" pitchFamily="34" charset="0"/>
                <a:ea typeface="Arial" pitchFamily="34" charset="-122"/>
                <a:cs typeface="Arial" pitchFamily="34" charset="-120"/>
              </a:rPr>
              <a:t>SMART INDIA HACKATHON 2026</a:t>
            </a:r>
            <a:endParaRPr lang="en-US" sz="3200" dirty="0"/>
          </a:p>
        </p:txBody>
      </p:sp>
      <p:sp>
        <p:nvSpPr>
          <p:cNvPr id="4" name="Text 1"/>
          <p:cNvSpPr txBox="1"/>
          <p:nvPr/>
        </p:nvSpPr>
        <p:spPr>
          <a:xfrm>
            <a:off x="4846320" y="1417320"/>
            <a:ext cx="6949440" cy="457200"/>
          </a:xfrm>
          <a:prstGeom prst="rect">
            <a:avLst/>
          </a:prstGeom>
          <a:noFill/>
          <a:ln/>
        </p:spPr>
        <p:txBody>
          <a:bodyPr wrap="square" lIns="0" tIns="0" rIns="0" bIns="0" rtlCol="0" anchor="ctr"/>
          <a:lstStyle/>
          <a:p>
            <a:pPr indent="0" marL="0">
              <a:buNone/>
            </a:pPr>
            <a:r>
              <a:rPr lang="en-US" sz="1800" b="1" spc="200" kern="0" dirty="0">
                <a:solidFill>
                  <a:srgbClr val="E8702A"/>
                </a:solidFill>
                <a:latin typeface="Arial" pitchFamily="34" charset="0"/>
                <a:ea typeface="Arial" pitchFamily="34" charset="-122"/>
                <a:cs typeface="Arial" pitchFamily="34" charset="-120"/>
              </a:rPr>
              <a:t>TITLE PAGE</a:t>
            </a:r>
            <a:endParaRPr lang="en-US" sz="1800" dirty="0"/>
          </a:p>
        </p:txBody>
      </p:sp>
      <p:sp>
        <p:nvSpPr>
          <p:cNvPr id="5" name="Text 2"/>
          <p:cNvSpPr txBox="1"/>
          <p:nvPr/>
        </p:nvSpPr>
        <p:spPr>
          <a:xfrm>
            <a:off x="822960" y="2788920"/>
            <a:ext cx="3108960" cy="420624"/>
          </a:xfrm>
          <a:prstGeom prst="rect">
            <a:avLst/>
          </a:prstGeom>
          <a:noFill/>
          <a:ln/>
        </p:spPr>
        <p:txBody>
          <a:bodyPr wrap="square" lIns="0" tIns="0" rIns="0" bIns="0" rtlCol="0" anchor="t"/>
          <a:lstStyle/>
          <a:p>
            <a:pPr indent="0" marL="0">
              <a:buNone/>
            </a:pPr>
            <a:r>
              <a:rPr lang="en-US" sz="1700" b="1" dirty="0">
                <a:solidFill>
                  <a:srgbClr val="1F2A44"/>
                </a:solidFill>
                <a:latin typeface="Calibri" pitchFamily="34" charset="0"/>
                <a:ea typeface="Calibri" pitchFamily="34" charset="-122"/>
                <a:cs typeface="Calibri" pitchFamily="34" charset="-120"/>
              </a:rPr>
              <a:t>Problem Statement ID</a:t>
            </a:r>
            <a:endParaRPr lang="en-US" sz="1700" dirty="0"/>
          </a:p>
        </p:txBody>
      </p:sp>
      <p:sp>
        <p:nvSpPr>
          <p:cNvPr id="6" name="Text 3"/>
          <p:cNvSpPr txBox="1"/>
          <p:nvPr/>
        </p:nvSpPr>
        <p:spPr>
          <a:xfrm>
            <a:off x="4023360" y="2788920"/>
            <a:ext cx="7589520" cy="420624"/>
          </a:xfrm>
          <a:prstGeom prst="rect">
            <a:avLst/>
          </a:prstGeom>
          <a:noFill/>
          <a:ln/>
        </p:spPr>
        <p:txBody>
          <a:bodyPr wrap="square" lIns="0" tIns="0" rIns="0" bIns="0" rtlCol="0" anchor="t"/>
          <a:lstStyle/>
          <a:p>
            <a:pPr indent="0" marL="0">
              <a:buNone/>
            </a:pPr>
            <a:r>
              <a:rPr lang="en-US" sz="1700" dirty="0">
                <a:solidFill>
                  <a:srgbClr val="2B2F36"/>
                </a:solidFill>
                <a:latin typeface="Calibri" pitchFamily="34" charset="0"/>
                <a:ea typeface="Calibri" pitchFamily="34" charset="-122"/>
                <a:cs typeface="Calibri" pitchFamily="34" charset="-120"/>
              </a:rPr>
              <a:t>SIH26119</a:t>
            </a:r>
            <a:endParaRPr lang="en-US" sz="1700" dirty="0"/>
          </a:p>
        </p:txBody>
      </p:sp>
      <p:sp>
        <p:nvSpPr>
          <p:cNvPr id="7" name="Text 4"/>
          <p:cNvSpPr txBox="1"/>
          <p:nvPr/>
        </p:nvSpPr>
        <p:spPr>
          <a:xfrm>
            <a:off x="822960" y="3264408"/>
            <a:ext cx="3108960" cy="658368"/>
          </a:xfrm>
          <a:prstGeom prst="rect">
            <a:avLst/>
          </a:prstGeom>
          <a:noFill/>
          <a:ln/>
        </p:spPr>
        <p:txBody>
          <a:bodyPr wrap="square" lIns="0" tIns="0" rIns="0" bIns="0" rtlCol="0" anchor="t"/>
          <a:lstStyle/>
          <a:p>
            <a:pPr indent="0" marL="0">
              <a:buNone/>
            </a:pPr>
            <a:r>
              <a:rPr lang="en-US" sz="1700" b="1" dirty="0">
                <a:solidFill>
                  <a:srgbClr val="1F2A44"/>
                </a:solidFill>
                <a:latin typeface="Calibri" pitchFamily="34" charset="0"/>
                <a:ea typeface="Calibri" pitchFamily="34" charset="-122"/>
                <a:cs typeface="Calibri" pitchFamily="34" charset="-120"/>
              </a:rPr>
              <a:t>Problem Statement Title</a:t>
            </a:r>
            <a:endParaRPr lang="en-US" sz="1700" dirty="0"/>
          </a:p>
        </p:txBody>
      </p:sp>
      <p:sp>
        <p:nvSpPr>
          <p:cNvPr id="8" name="Text 5"/>
          <p:cNvSpPr txBox="1"/>
          <p:nvPr/>
        </p:nvSpPr>
        <p:spPr>
          <a:xfrm>
            <a:off x="4023360" y="3264408"/>
            <a:ext cx="7589520" cy="658368"/>
          </a:xfrm>
          <a:prstGeom prst="rect">
            <a:avLst/>
          </a:prstGeom>
          <a:noFill/>
          <a:ln/>
        </p:spPr>
        <p:txBody>
          <a:bodyPr wrap="square" lIns="0" tIns="0" rIns="0" bIns="0" rtlCol="0" anchor="t"/>
          <a:lstStyle/>
          <a:p>
            <a:pPr indent="0" marL="0">
              <a:buNone/>
            </a:pPr>
            <a:r>
              <a:rPr lang="en-US" sz="1700" dirty="0">
                <a:solidFill>
                  <a:srgbClr val="2B2F36"/>
                </a:solidFill>
                <a:latin typeface="Calibri" pitchFamily="34" charset="0"/>
                <a:ea typeface="Calibri" pitchFamily="34" charset="-122"/>
                <a:cs typeface="Calibri" pitchFamily="34" charset="-120"/>
              </a:rPr>
              <a:t>Indigenous GPU-Accelerated Optimization Solver (Sovereign Alternative to Express / CEPLEX)</a:t>
            </a:r>
            <a:endParaRPr lang="en-US" sz="1700" dirty="0"/>
          </a:p>
        </p:txBody>
      </p:sp>
      <p:sp>
        <p:nvSpPr>
          <p:cNvPr id="9" name="Text 6"/>
          <p:cNvSpPr txBox="1"/>
          <p:nvPr/>
        </p:nvSpPr>
        <p:spPr>
          <a:xfrm>
            <a:off x="822960" y="3977640"/>
            <a:ext cx="3108960" cy="420624"/>
          </a:xfrm>
          <a:prstGeom prst="rect">
            <a:avLst/>
          </a:prstGeom>
          <a:noFill/>
          <a:ln/>
        </p:spPr>
        <p:txBody>
          <a:bodyPr wrap="square" lIns="0" tIns="0" rIns="0" bIns="0" rtlCol="0" anchor="t"/>
          <a:lstStyle/>
          <a:p>
            <a:pPr indent="0" marL="0">
              <a:buNone/>
            </a:pPr>
            <a:r>
              <a:rPr lang="en-US" sz="1700" b="1" dirty="0">
                <a:solidFill>
                  <a:srgbClr val="1F2A44"/>
                </a:solidFill>
                <a:latin typeface="Calibri" pitchFamily="34" charset="0"/>
                <a:ea typeface="Calibri" pitchFamily="34" charset="-122"/>
                <a:cs typeface="Calibri" pitchFamily="34" charset="-120"/>
              </a:rPr>
              <a:t>Organisation</a:t>
            </a:r>
            <a:endParaRPr lang="en-US" sz="1700" dirty="0"/>
          </a:p>
        </p:txBody>
      </p:sp>
      <p:sp>
        <p:nvSpPr>
          <p:cNvPr id="10" name="Text 7"/>
          <p:cNvSpPr txBox="1"/>
          <p:nvPr/>
        </p:nvSpPr>
        <p:spPr>
          <a:xfrm>
            <a:off x="4023360" y="3977640"/>
            <a:ext cx="7589520" cy="420624"/>
          </a:xfrm>
          <a:prstGeom prst="rect">
            <a:avLst/>
          </a:prstGeom>
          <a:noFill/>
          <a:ln/>
        </p:spPr>
        <p:txBody>
          <a:bodyPr wrap="square" lIns="0" tIns="0" rIns="0" bIns="0" rtlCol="0" anchor="t"/>
          <a:lstStyle/>
          <a:p>
            <a:pPr indent="0" marL="0">
              <a:buNone/>
            </a:pPr>
            <a:r>
              <a:rPr lang="en-US" sz="1700" dirty="0">
                <a:solidFill>
                  <a:srgbClr val="2B2F36"/>
                </a:solidFill>
                <a:latin typeface="Calibri" pitchFamily="34" charset="0"/>
                <a:ea typeface="Calibri" pitchFamily="34" charset="-122"/>
                <a:cs typeface="Calibri" pitchFamily="34" charset="-120"/>
              </a:rPr>
              <a:t>Mangalore Refinery and Petrochemicals Limited (MRPL)</a:t>
            </a:r>
            <a:endParaRPr lang="en-US" sz="1700" dirty="0"/>
          </a:p>
        </p:txBody>
      </p:sp>
      <p:sp>
        <p:nvSpPr>
          <p:cNvPr id="11" name="Text 8"/>
          <p:cNvSpPr txBox="1"/>
          <p:nvPr/>
        </p:nvSpPr>
        <p:spPr>
          <a:xfrm>
            <a:off x="822960" y="4453128"/>
            <a:ext cx="3108960" cy="420624"/>
          </a:xfrm>
          <a:prstGeom prst="rect">
            <a:avLst/>
          </a:prstGeom>
          <a:noFill/>
          <a:ln/>
        </p:spPr>
        <p:txBody>
          <a:bodyPr wrap="square" lIns="0" tIns="0" rIns="0" bIns="0" rtlCol="0" anchor="t"/>
          <a:lstStyle/>
          <a:p>
            <a:pPr indent="0" marL="0">
              <a:buNone/>
            </a:pPr>
            <a:r>
              <a:rPr lang="en-US" sz="1700" b="1" dirty="0">
                <a:solidFill>
                  <a:srgbClr val="1F2A44"/>
                </a:solidFill>
                <a:latin typeface="Calibri" pitchFamily="34" charset="0"/>
                <a:ea typeface="Calibri" pitchFamily="34" charset="-122"/>
                <a:cs typeface="Calibri" pitchFamily="34" charset="-120"/>
              </a:rPr>
              <a:t>Theme</a:t>
            </a:r>
            <a:endParaRPr lang="en-US" sz="1700" dirty="0"/>
          </a:p>
        </p:txBody>
      </p:sp>
      <p:sp>
        <p:nvSpPr>
          <p:cNvPr id="12" name="Text 9"/>
          <p:cNvSpPr txBox="1"/>
          <p:nvPr/>
        </p:nvSpPr>
        <p:spPr>
          <a:xfrm>
            <a:off x="4023360" y="4453128"/>
            <a:ext cx="7589520" cy="420624"/>
          </a:xfrm>
          <a:prstGeom prst="rect">
            <a:avLst/>
          </a:prstGeom>
          <a:noFill/>
          <a:ln/>
        </p:spPr>
        <p:txBody>
          <a:bodyPr wrap="square" lIns="0" tIns="0" rIns="0" bIns="0" rtlCol="0" anchor="t"/>
          <a:lstStyle/>
          <a:p>
            <a:pPr indent="0" marL="0">
              <a:buNone/>
            </a:pPr>
            <a:r>
              <a:rPr lang="en-US" sz="1700" dirty="0">
                <a:solidFill>
                  <a:srgbClr val="2B2F36"/>
                </a:solidFill>
                <a:latin typeface="Calibri" pitchFamily="34" charset="0"/>
                <a:ea typeface="Calibri" pitchFamily="34" charset="-122"/>
                <a:cs typeface="Calibri" pitchFamily="34" charset="-120"/>
              </a:rPr>
              <a:t>Smart Automation</a:t>
            </a:r>
            <a:endParaRPr lang="en-US" sz="1700" dirty="0"/>
          </a:p>
        </p:txBody>
      </p:sp>
      <p:sp>
        <p:nvSpPr>
          <p:cNvPr id="13" name="Text 10"/>
          <p:cNvSpPr txBox="1"/>
          <p:nvPr/>
        </p:nvSpPr>
        <p:spPr>
          <a:xfrm>
            <a:off x="822960" y="4928616"/>
            <a:ext cx="3108960" cy="420624"/>
          </a:xfrm>
          <a:prstGeom prst="rect">
            <a:avLst/>
          </a:prstGeom>
          <a:noFill/>
          <a:ln/>
        </p:spPr>
        <p:txBody>
          <a:bodyPr wrap="square" lIns="0" tIns="0" rIns="0" bIns="0" rtlCol="0" anchor="t"/>
          <a:lstStyle/>
          <a:p>
            <a:pPr indent="0" marL="0">
              <a:buNone/>
            </a:pPr>
            <a:r>
              <a:rPr lang="en-US" sz="1700" b="1" dirty="0">
                <a:solidFill>
                  <a:srgbClr val="1F2A44"/>
                </a:solidFill>
                <a:latin typeface="Calibri" pitchFamily="34" charset="0"/>
                <a:ea typeface="Calibri" pitchFamily="34" charset="-122"/>
                <a:cs typeface="Calibri" pitchFamily="34" charset="-120"/>
              </a:rPr>
              <a:t>PS Category</a:t>
            </a:r>
            <a:endParaRPr lang="en-US" sz="1700" dirty="0"/>
          </a:p>
        </p:txBody>
      </p:sp>
      <p:sp>
        <p:nvSpPr>
          <p:cNvPr id="14" name="Text 11"/>
          <p:cNvSpPr txBox="1"/>
          <p:nvPr/>
        </p:nvSpPr>
        <p:spPr>
          <a:xfrm>
            <a:off x="4023360" y="4928616"/>
            <a:ext cx="7589520" cy="420624"/>
          </a:xfrm>
          <a:prstGeom prst="rect">
            <a:avLst/>
          </a:prstGeom>
          <a:noFill/>
          <a:ln/>
        </p:spPr>
        <p:txBody>
          <a:bodyPr wrap="square" lIns="0" tIns="0" rIns="0" bIns="0" rtlCol="0" anchor="t"/>
          <a:lstStyle/>
          <a:p>
            <a:pPr indent="0" marL="0">
              <a:buNone/>
            </a:pPr>
            <a:r>
              <a:rPr lang="en-US" sz="1700" dirty="0">
                <a:solidFill>
                  <a:srgbClr val="2B2F36"/>
                </a:solidFill>
                <a:latin typeface="Calibri" pitchFamily="34" charset="0"/>
                <a:ea typeface="Calibri" pitchFamily="34" charset="-122"/>
                <a:cs typeface="Calibri" pitchFamily="34" charset="-120"/>
              </a:rPr>
              <a:t>Software</a:t>
            </a:r>
            <a:endParaRPr lang="en-US" sz="1700" dirty="0"/>
          </a:p>
        </p:txBody>
      </p:sp>
      <p:sp>
        <p:nvSpPr>
          <p:cNvPr id="15" name="Text 12"/>
          <p:cNvSpPr txBox="1"/>
          <p:nvPr/>
        </p:nvSpPr>
        <p:spPr>
          <a:xfrm>
            <a:off x="822960" y="5404104"/>
            <a:ext cx="3108960" cy="420624"/>
          </a:xfrm>
          <a:prstGeom prst="rect">
            <a:avLst/>
          </a:prstGeom>
          <a:noFill/>
          <a:ln/>
        </p:spPr>
        <p:txBody>
          <a:bodyPr wrap="square" lIns="0" tIns="0" rIns="0" bIns="0" rtlCol="0" anchor="t"/>
          <a:lstStyle/>
          <a:p>
            <a:pPr indent="0" marL="0">
              <a:buNone/>
            </a:pPr>
            <a:r>
              <a:rPr lang="en-US" sz="1700" b="1" dirty="0">
                <a:solidFill>
                  <a:srgbClr val="1F2A44"/>
                </a:solidFill>
                <a:latin typeface="Calibri" pitchFamily="34" charset="0"/>
                <a:ea typeface="Calibri" pitchFamily="34" charset="-122"/>
                <a:cs typeface="Calibri" pitchFamily="34" charset="-120"/>
              </a:rPr>
              <a:t>Team ID</a:t>
            </a:r>
            <a:endParaRPr lang="en-US" sz="1700" dirty="0"/>
          </a:p>
        </p:txBody>
      </p:sp>
      <p:sp>
        <p:nvSpPr>
          <p:cNvPr id="16" name="Text 13"/>
          <p:cNvSpPr txBox="1"/>
          <p:nvPr/>
        </p:nvSpPr>
        <p:spPr>
          <a:xfrm>
            <a:off x="4023360" y="5404104"/>
            <a:ext cx="7589520" cy="420624"/>
          </a:xfrm>
          <a:prstGeom prst="rect">
            <a:avLst/>
          </a:prstGeom>
          <a:noFill/>
          <a:ln/>
        </p:spPr>
        <p:txBody>
          <a:bodyPr wrap="square" lIns="0" tIns="0" rIns="0" bIns="0" rtlCol="0" anchor="t"/>
          <a:lstStyle/>
          <a:p>
            <a:pPr indent="0" marL="0">
              <a:buNone/>
            </a:pPr>
            <a:endParaRPr lang="en-US" sz="1700" dirty="0"/>
          </a:p>
        </p:txBody>
      </p:sp>
      <p:sp>
        <p:nvSpPr>
          <p:cNvPr id="17" name="Text 14"/>
          <p:cNvSpPr txBox="1"/>
          <p:nvPr/>
        </p:nvSpPr>
        <p:spPr>
          <a:xfrm>
            <a:off x="822960" y="5879592"/>
            <a:ext cx="3108960" cy="420624"/>
          </a:xfrm>
          <a:prstGeom prst="rect">
            <a:avLst/>
          </a:prstGeom>
          <a:noFill/>
          <a:ln/>
        </p:spPr>
        <p:txBody>
          <a:bodyPr wrap="square" lIns="0" tIns="0" rIns="0" bIns="0" rtlCol="0" anchor="t"/>
          <a:lstStyle/>
          <a:p>
            <a:pPr indent="0" marL="0">
              <a:buNone/>
            </a:pPr>
            <a:r>
              <a:rPr lang="en-US" sz="1700" b="1" dirty="0">
                <a:solidFill>
                  <a:srgbClr val="1F2A44"/>
                </a:solidFill>
                <a:latin typeface="Calibri" pitchFamily="34" charset="0"/>
                <a:ea typeface="Calibri" pitchFamily="34" charset="-122"/>
                <a:cs typeface="Calibri" pitchFamily="34" charset="-120"/>
              </a:rPr>
              <a:t>Team Name</a:t>
            </a:r>
            <a:endParaRPr lang="en-US" sz="1700" dirty="0"/>
          </a:p>
        </p:txBody>
      </p:sp>
      <p:sp>
        <p:nvSpPr>
          <p:cNvPr id="18" name="Text 15"/>
          <p:cNvSpPr txBox="1"/>
          <p:nvPr/>
        </p:nvSpPr>
        <p:spPr>
          <a:xfrm>
            <a:off x="4023360" y="5879592"/>
            <a:ext cx="7589520" cy="420624"/>
          </a:xfrm>
          <a:prstGeom prst="rect">
            <a:avLst/>
          </a:prstGeom>
          <a:noFill/>
          <a:ln/>
        </p:spPr>
        <p:txBody>
          <a:bodyPr wrap="square" lIns="0" tIns="0" rIns="0" bIns="0" rtlCol="0" anchor="t"/>
          <a:lstStyle/>
          <a:p>
            <a:pPr indent="0" marL="0">
              <a:buNone/>
            </a:pPr>
            <a:r>
              <a:rPr lang="en-US" sz="1700" dirty="0">
                <a:solidFill>
                  <a:srgbClr val="2B2F36"/>
                </a:solidFill>
                <a:latin typeface="Calibri" pitchFamily="34" charset="0"/>
                <a:ea typeface="Calibri" pitchFamily="34" charset="-122"/>
                <a:cs typeface="Calibri" pitchFamily="34" charset="-120"/>
              </a:rPr>
              <a:t>ZeroCloud</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darsh\nirnay\deliverables\deck\tpl\ppt\media\image1.png">    </p:cNvPr>
          <p:cNvPicPr>
            <a:picLocks noChangeAspect="1"/>
          </p:cNvPicPr>
          <p:nvPr/>
        </p:nvPicPr>
        <p:blipFill>
          <a:blip r:embed="rId1"/>
          <a:stretch>
            <a:fillRect/>
          </a:stretch>
        </p:blipFill>
        <p:spPr>
          <a:xfrm>
            <a:off x="10104120" y="201168"/>
            <a:ext cx="1691640" cy="799186"/>
          </a:xfrm>
          <a:prstGeom prst="rect">
            <a:avLst/>
          </a:prstGeom>
        </p:spPr>
      </p:pic>
      <p:sp>
        <p:nvSpPr>
          <p:cNvPr id="3" name="Text 0"/>
          <p:cNvSpPr txBox="1"/>
          <p:nvPr/>
        </p:nvSpPr>
        <p:spPr>
          <a:xfrm>
            <a:off x="457200" y="274320"/>
            <a:ext cx="9418320" cy="640080"/>
          </a:xfrm>
          <a:prstGeom prst="rect">
            <a:avLst/>
          </a:prstGeom>
          <a:noFill/>
          <a:ln/>
        </p:spPr>
        <p:txBody>
          <a:bodyPr wrap="square" lIns="0" tIns="0" rIns="0" bIns="0" rtlCol="0" anchor="ctr"/>
          <a:lstStyle/>
          <a:p>
            <a:pPr indent="0" marL="0">
              <a:buNone/>
            </a:pPr>
            <a:r>
              <a:rPr lang="en-US" sz="2800" b="1" dirty="0">
                <a:solidFill>
                  <a:srgbClr val="1F2A44"/>
                </a:solidFill>
                <a:latin typeface="Arial" pitchFamily="34" charset="0"/>
                <a:ea typeface="Arial" pitchFamily="34" charset="-122"/>
                <a:cs typeface="Arial" pitchFamily="34" charset="-120"/>
              </a:rPr>
              <a:t>PROPOSED SOLUTION</a:t>
            </a:r>
            <a:endParaRPr lang="en-US" sz="2800" dirty="0"/>
          </a:p>
        </p:txBody>
      </p:sp>
      <p:sp>
        <p:nvSpPr>
          <p:cNvPr id="4" name="Text 1"/>
          <p:cNvSpPr txBox="1"/>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@SIH Idea submission  ·  Team ZeroCloud  ·  SIH26119</a:t>
            </a:r>
            <a:endParaRPr lang="en-US" sz="9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2</a:t>
            </a:r>
            <a:endParaRPr lang="en-US" sz="900" dirty="0"/>
          </a:p>
        </p:txBody>
      </p:sp>
      <p:sp>
        <p:nvSpPr>
          <p:cNvPr id="6" name="Text 3"/>
          <p:cNvSpPr txBox="1"/>
          <p:nvPr/>
        </p:nvSpPr>
        <p:spPr>
          <a:xfrm>
            <a:off x="457200" y="960120"/>
            <a:ext cx="9418320" cy="457200"/>
          </a:xfrm>
          <a:prstGeom prst="rect">
            <a:avLst/>
          </a:prstGeom>
          <a:noFill/>
          <a:ln/>
        </p:spPr>
        <p:txBody>
          <a:bodyPr wrap="square" lIns="0" tIns="0" rIns="0" bIns="0" rtlCol="0" anchor="ctr"/>
          <a:lstStyle/>
          <a:p>
            <a:pPr indent="0" marL="0">
              <a:buNone/>
            </a:pPr>
            <a:r>
              <a:rPr lang="en-US" sz="2000" b="1" dirty="0">
                <a:solidFill>
                  <a:srgbClr val="E8702A"/>
                </a:solidFill>
                <a:latin typeface="Arial" pitchFamily="34" charset="0"/>
                <a:ea typeface="Arial" pitchFamily="34" charset="-122"/>
                <a:cs typeface="Arial" pitchFamily="34" charset="-120"/>
              </a:rPr>
              <a:t>NIRNAY — an optimisation engine India can read, change and own</a:t>
            </a:r>
            <a:endParaRPr lang="en-US" sz="2000" dirty="0"/>
          </a:p>
        </p:txBody>
      </p:sp>
      <p:sp>
        <p:nvSpPr>
          <p:cNvPr id="7" name="Text 4"/>
          <p:cNvSpPr txBox="1"/>
          <p:nvPr/>
        </p:nvSpPr>
        <p:spPr>
          <a:xfrm>
            <a:off x="457200" y="1417320"/>
            <a:ext cx="9418320" cy="548640"/>
          </a:xfrm>
          <a:prstGeom prst="rect">
            <a:avLst/>
          </a:prstGeom>
          <a:noFill/>
          <a:ln/>
        </p:spPr>
        <p:txBody>
          <a:bodyPr wrap="square" lIns="0" tIns="0" rIns="0" bIns="0" rtlCol="0" anchor="ctr"/>
          <a:lstStyle/>
          <a:p>
            <a:pPr indent="0" marL="0">
              <a:buNone/>
            </a:pPr>
            <a:r>
              <a:rPr lang="en-US" sz="1400" dirty="0">
                <a:solidFill>
                  <a:srgbClr val="2B2F36"/>
                </a:solidFill>
                <a:latin typeface="Calibri" pitchFamily="34" charset="0"/>
                <a:ea typeface="Calibri" pitchFamily="34" charset="-122"/>
                <a:cs typeface="Calibri" pitchFamily="34" charset="-120"/>
              </a:rPr>
              <a:t>A solver core for LP, MILP and QP written from mathematical foundations: no solver library inside, every factorisation our own, GPU acceleration where it measurably pays.</a:t>
            </a:r>
            <a:endParaRPr lang="en-US" sz="1400" dirty="0"/>
          </a:p>
        </p:txBody>
      </p:sp>
      <p:sp>
        <p:nvSpPr>
          <p:cNvPr id="8" name="Text 5"/>
          <p:cNvSpPr txBox="1"/>
          <p:nvPr/>
        </p:nvSpPr>
        <p:spPr>
          <a:xfrm>
            <a:off x="457200" y="2103120"/>
            <a:ext cx="6309360" cy="2514600"/>
          </a:xfrm>
          <a:prstGeom prst="rect">
            <a:avLst/>
          </a:prstGeom>
          <a:noFill/>
          <a:ln/>
        </p:spPr>
        <p:txBody>
          <a:bodyPr wrap="square" lIns="0" tIns="0" rIns="0" bIns="0" rtlCol="0" anchor="t"/>
          <a:lstStyle/>
          <a:p>
            <a:pPr indent="0" marL="0">
              <a:spcAft>
                <a:spcPts val="400"/>
              </a:spcAft>
              <a:buNone/>
            </a:pPr>
            <a:r>
              <a:rPr lang="en-US" sz="1500" b="1" dirty="0">
                <a:solidFill>
                  <a:srgbClr val="1F2A44"/>
                </a:solidFill>
                <a:latin typeface="Calibri" pitchFamily="34" charset="0"/>
                <a:ea typeface="Calibri" pitchFamily="34" charset="-122"/>
                <a:cs typeface="Calibri" pitchFamily="34" charset="-120"/>
              </a:rPr>
              <a:t>The problem</a:t>
            </a:r>
            <a:endParaRPr lang="en-US" sz="1500" dirty="0"/>
          </a:p>
          <a:p>
            <a:pPr marL="342900" indent="-342900">
              <a:spcAft>
                <a:spcPts val="400"/>
              </a:spcAft>
              <a:buSzPct val="100000"/>
              <a:buChar char="•"/>
            </a:pPr>
            <a:r>
              <a:rPr lang="en-US" sz="1300" dirty="0">
                <a:solidFill>
                  <a:srgbClr val="2B2F36"/>
                </a:solidFill>
                <a:latin typeface="Calibri" pitchFamily="34" charset="0"/>
                <a:ea typeface="Calibri" pitchFamily="34" charset="-122"/>
                <a:cs typeface="Calibri" pitchFamily="34" charset="-120"/>
              </a:rPr>
              <a:t>Refinery scheduling, crude blending, planning and dispatch in India run on CPLEX, Gurobi or Xpress: recurring licence cost, and no way to inspect or adapt the algorithms.</a:t>
            </a:r>
            <a:endParaRPr lang="en-US" sz="1500" dirty="0"/>
          </a:p>
          <a:p>
            <a:pPr marL="342900" indent="-342900">
              <a:spcAft>
                <a:spcPts val="400"/>
              </a:spcAft>
              <a:buSzPct val="100000"/>
              <a:buChar char="•"/>
            </a:pPr>
            <a:r>
              <a:rPr lang="en-US" sz="1300" dirty="0">
                <a:solidFill>
                  <a:srgbClr val="2B2F36"/>
                </a:solidFill>
                <a:latin typeface="Calibri" pitchFamily="34" charset="0"/>
                <a:ea typeface="Calibri" pitchFamily="34" charset="-122"/>
                <a:cs typeface="Calibri" pitchFamily="34" charset="-120"/>
              </a:rPr>
              <a:t>Open-source solvers exist but lag on hard industrial MILPs and were never tuned for Indian models.</a:t>
            </a:r>
            <a:endParaRPr lang="en-US" sz="1500" dirty="0"/>
          </a:p>
          <a:p>
            <a:pPr indent="0" marL="0">
              <a:spcAft>
                <a:spcPts val="400"/>
              </a:spcAft>
              <a:buNone/>
            </a:pPr>
            <a:r>
              <a:rPr lang="en-US" sz="1500" b="1" dirty="0">
                <a:solidFill>
                  <a:srgbClr val="1F2A44"/>
                </a:solidFill>
                <a:latin typeface="Calibri" pitchFamily="34" charset="0"/>
                <a:ea typeface="Calibri" pitchFamily="34" charset="-122"/>
                <a:cs typeface="Calibri" pitchFamily="34" charset="-120"/>
              </a:rPr>
              <a:t>How NIRNAY answers it</a:t>
            </a:r>
            <a:endParaRPr lang="en-US" sz="1500" dirty="0"/>
          </a:p>
          <a:p>
            <a:pPr marL="342900" indent="-342900">
              <a:spcAft>
                <a:spcPts val="400"/>
              </a:spcAft>
              <a:buSzPct val="100000"/>
              <a:buChar char="•"/>
            </a:pPr>
            <a:r>
              <a:rPr lang="en-US" sz="1300" dirty="0">
                <a:solidFill>
                  <a:srgbClr val="2B2F36"/>
                </a:solidFill>
                <a:latin typeface="Calibri" pitchFamily="34" charset="0"/>
                <a:ea typeface="Calibri" pitchFamily="34" charset="-122"/>
                <a:cs typeface="Calibri" pitchFamily="34" charset="-120"/>
              </a:rPr>
              <a:t>Three LP engines behind one API, picked by problem shape: dual simplex, interior point, and PDLP on the GPU.</a:t>
            </a:r>
            <a:endParaRPr lang="en-US" sz="1500" dirty="0"/>
          </a:p>
          <a:p>
            <a:pPr marL="342900" indent="-342900">
              <a:spcAft>
                <a:spcPts val="400"/>
              </a:spcAft>
              <a:buSzPct val="100000"/>
              <a:buChar char="•"/>
            </a:pPr>
            <a:r>
              <a:rPr lang="en-US" sz="1300" dirty="0">
                <a:solidFill>
                  <a:srgbClr val="2B2F36"/>
                </a:solidFill>
                <a:latin typeface="Calibri" pitchFamily="34" charset="0"/>
                <a:ea typeface="Calibri" pitchFamily="34" charset="-122"/>
                <a:cs typeface="Calibri" pitchFamily="34" charset="-120"/>
              </a:rPr>
              <a:t>Branch-and-bound for MILP on warm-started dual simplex; interior point for convex QP.</a:t>
            </a:r>
            <a:endParaRPr lang="en-US" sz="1500" dirty="0"/>
          </a:p>
          <a:p>
            <a:pPr marL="342900" indent="-342900">
              <a:spcAft>
                <a:spcPts val="400"/>
              </a:spcAft>
              <a:buSzPct val="100000"/>
              <a:buChar char="•"/>
            </a:pPr>
            <a:r>
              <a:rPr lang="en-US" sz="1300" dirty="0">
                <a:solidFill>
                  <a:srgbClr val="2B2F36"/>
                </a:solidFill>
                <a:latin typeface="Calibri" pitchFamily="34" charset="0"/>
                <a:ea typeface="Calibri" pitchFamily="34" charset="-122"/>
                <a:cs typeface="Calibri" pitchFamily="34" charset="-120"/>
              </a:rPr>
              <a:t>Reads the MPS/QPS files every benchmark and every planning tool already produces.</a:t>
            </a:r>
            <a:endParaRPr lang="en-US" sz="1500" dirty="0"/>
          </a:p>
        </p:txBody>
      </p:sp>
      <p:sp>
        <p:nvSpPr>
          <p:cNvPr id="9" name="Shape 6"/>
          <p:cNvSpPr/>
          <p:nvPr/>
        </p:nvSpPr>
        <p:spPr>
          <a:xfrm>
            <a:off x="7086600" y="2103120"/>
            <a:ext cx="4663440" cy="2514600"/>
          </a:xfrm>
          <a:prstGeom prst="rect">
            <a:avLst/>
          </a:prstGeom>
          <a:solidFill>
            <a:srgbClr val="F2F4F7"/>
          </a:solidFill>
          <a:ln w="12700">
            <a:solidFill>
              <a:srgbClr val="F2F4F7"/>
            </a:solidFill>
            <a:prstDash val="solid"/>
          </a:ln>
        </p:spPr>
      </p:sp>
      <p:sp>
        <p:nvSpPr>
          <p:cNvPr id="10" name="Text 7"/>
          <p:cNvSpPr txBox="1"/>
          <p:nvPr/>
        </p:nvSpPr>
        <p:spPr>
          <a:xfrm>
            <a:off x="7315200" y="2212848"/>
            <a:ext cx="4206240" cy="274320"/>
          </a:xfrm>
          <a:prstGeom prst="rect">
            <a:avLst/>
          </a:prstGeom>
          <a:noFill/>
          <a:ln/>
        </p:spPr>
        <p:txBody>
          <a:bodyPr wrap="square" lIns="0" tIns="0" rIns="0" bIns="0" rtlCol="0" anchor="ctr"/>
          <a:lstStyle/>
          <a:p>
            <a:pPr indent="0" marL="0">
              <a:buNone/>
            </a:pPr>
            <a:r>
              <a:rPr lang="en-US" sz="1100" b="1" spc="100" kern="0" dirty="0">
                <a:solidFill>
                  <a:srgbClr val="5B6770"/>
                </a:solidFill>
                <a:latin typeface="Arial" pitchFamily="34" charset="0"/>
                <a:ea typeface="Arial" pitchFamily="34" charset="-122"/>
                <a:cs typeface="Arial" pitchFamily="34" charset="-120"/>
              </a:rPr>
              <a:t>MEASURED ON 30 SEP 2026</a:t>
            </a:r>
            <a:endParaRPr lang="en-US" sz="1100" dirty="0"/>
          </a:p>
        </p:txBody>
      </p:sp>
      <p:sp>
        <p:nvSpPr>
          <p:cNvPr id="11" name="Text 8"/>
          <p:cNvSpPr txBox="1"/>
          <p:nvPr/>
        </p:nvSpPr>
        <p:spPr>
          <a:xfrm>
            <a:off x="7315200" y="2560320"/>
            <a:ext cx="1600200" cy="566928"/>
          </a:xfrm>
          <a:prstGeom prst="rect">
            <a:avLst/>
          </a:prstGeom>
          <a:noFill/>
          <a:ln/>
        </p:spPr>
        <p:txBody>
          <a:bodyPr wrap="square" lIns="0" tIns="0" rIns="0" bIns="0" rtlCol="0" anchor="ctr"/>
          <a:lstStyle/>
          <a:p>
            <a:pPr indent="0" marL="0">
              <a:buNone/>
            </a:pPr>
            <a:r>
              <a:rPr lang="en-US" sz="2600" b="1" dirty="0">
                <a:solidFill>
                  <a:srgbClr val="E8702A"/>
                </a:solidFill>
                <a:latin typeface="Arial" pitchFamily="34" charset="0"/>
                <a:ea typeface="Arial" pitchFamily="34" charset="-122"/>
                <a:cs typeface="Arial" pitchFamily="34" charset="-120"/>
              </a:rPr>
              <a:t>88 / 90</a:t>
            </a:r>
            <a:endParaRPr lang="en-US" sz="2600" dirty="0"/>
          </a:p>
        </p:txBody>
      </p:sp>
      <p:sp>
        <p:nvSpPr>
          <p:cNvPr id="12" name="Text 9"/>
          <p:cNvSpPr txBox="1"/>
          <p:nvPr/>
        </p:nvSpPr>
        <p:spPr>
          <a:xfrm>
            <a:off x="8961120" y="2560320"/>
            <a:ext cx="2651760" cy="566928"/>
          </a:xfrm>
          <a:prstGeom prst="rect">
            <a:avLst/>
          </a:prstGeom>
          <a:noFill/>
          <a:ln/>
        </p:spPr>
        <p:txBody>
          <a:bodyPr wrap="square" lIns="0" tIns="0" rIns="0" bIns="0" rtlCol="0" anchor="ctr"/>
          <a:lstStyle/>
          <a:p>
            <a:pPr indent="0" marL="0">
              <a:buNone/>
            </a:pPr>
            <a:r>
              <a:rPr lang="en-US" sz="1150" dirty="0">
                <a:solidFill>
                  <a:srgbClr val="2B2F36"/>
                </a:solidFill>
                <a:latin typeface="Calibri" pitchFamily="34" charset="0"/>
                <a:ea typeface="Calibri" pitchFamily="34" charset="-122"/>
                <a:cs typeface="Calibri" pitchFamily="34" charset="-120"/>
              </a:rPr>
              <a:t>Netlib LPs solved to the known optimum by at least one NIRNAY engine</a:t>
            </a:r>
            <a:endParaRPr lang="en-US" sz="1150" dirty="0"/>
          </a:p>
        </p:txBody>
      </p:sp>
      <p:sp>
        <p:nvSpPr>
          <p:cNvPr id="13" name="Text 10"/>
          <p:cNvSpPr txBox="1"/>
          <p:nvPr/>
        </p:nvSpPr>
        <p:spPr>
          <a:xfrm>
            <a:off x="7315200" y="3236976"/>
            <a:ext cx="1600200" cy="566928"/>
          </a:xfrm>
          <a:prstGeom prst="rect">
            <a:avLst/>
          </a:prstGeom>
          <a:noFill/>
          <a:ln/>
        </p:spPr>
        <p:txBody>
          <a:bodyPr wrap="square" lIns="0" tIns="0" rIns="0" bIns="0" rtlCol="0" anchor="ctr"/>
          <a:lstStyle/>
          <a:p>
            <a:pPr indent="0" marL="0">
              <a:buNone/>
            </a:pPr>
            <a:r>
              <a:rPr lang="en-US" sz="2600" b="1" dirty="0">
                <a:solidFill>
                  <a:srgbClr val="E8702A"/>
                </a:solidFill>
                <a:latin typeface="Arial" pitchFamily="34" charset="0"/>
                <a:ea typeface="Arial" pitchFamily="34" charset="-122"/>
                <a:cs typeface="Arial" pitchFamily="34" charset="-120"/>
              </a:rPr>
              <a:t>86 / 90</a:t>
            </a:r>
            <a:endParaRPr lang="en-US" sz="2600" dirty="0"/>
          </a:p>
        </p:txBody>
      </p:sp>
      <p:sp>
        <p:nvSpPr>
          <p:cNvPr id="14" name="Text 11"/>
          <p:cNvSpPr txBox="1"/>
          <p:nvPr/>
        </p:nvSpPr>
        <p:spPr>
          <a:xfrm>
            <a:off x="8961120" y="3236976"/>
            <a:ext cx="2651760" cy="566928"/>
          </a:xfrm>
          <a:prstGeom prst="rect">
            <a:avLst/>
          </a:prstGeom>
          <a:noFill/>
          <a:ln/>
        </p:spPr>
        <p:txBody>
          <a:bodyPr wrap="square" lIns="0" tIns="0" rIns="0" bIns="0" rtlCol="0" anchor="ctr"/>
          <a:lstStyle/>
          <a:p>
            <a:pPr indent="0" marL="0">
              <a:buNone/>
            </a:pPr>
            <a:r>
              <a:rPr lang="en-US" sz="1150" dirty="0">
                <a:solidFill>
                  <a:srgbClr val="2B2F36"/>
                </a:solidFill>
                <a:latin typeface="Calibri" pitchFamily="34" charset="0"/>
                <a:ea typeface="Calibri" pitchFamily="34" charset="-122"/>
                <a:cs typeface="Calibri" pitchFamily="34" charset="-120"/>
              </a:rPr>
              <a:t>by our interior-point method alone (Mehrotra predictor-corrector)</a:t>
            </a:r>
            <a:endParaRPr lang="en-US" sz="1150" dirty="0"/>
          </a:p>
        </p:txBody>
      </p:sp>
      <p:sp>
        <p:nvSpPr>
          <p:cNvPr id="15" name="Text 12"/>
          <p:cNvSpPr txBox="1"/>
          <p:nvPr/>
        </p:nvSpPr>
        <p:spPr>
          <a:xfrm>
            <a:off x="7315200" y="3913632"/>
            <a:ext cx="1600200" cy="566928"/>
          </a:xfrm>
          <a:prstGeom prst="rect">
            <a:avLst/>
          </a:prstGeom>
          <a:noFill/>
          <a:ln/>
        </p:spPr>
        <p:txBody>
          <a:bodyPr wrap="square" lIns="0" tIns="0" rIns="0" bIns="0" rtlCol="0" anchor="ctr"/>
          <a:lstStyle/>
          <a:p>
            <a:pPr indent="0" marL="0">
              <a:buNone/>
            </a:pPr>
            <a:r>
              <a:rPr lang="en-US" sz="2600" b="1" dirty="0">
                <a:solidFill>
                  <a:srgbClr val="1E8C45"/>
                </a:solidFill>
                <a:latin typeface="Arial" pitchFamily="34" charset="0"/>
                <a:ea typeface="Arial" pitchFamily="34" charset="-122"/>
                <a:cs typeface="Arial" pitchFamily="34" charset="-120"/>
              </a:rPr>
              <a:t>0</a:t>
            </a:r>
            <a:endParaRPr lang="en-US" sz="2600" dirty="0"/>
          </a:p>
        </p:txBody>
      </p:sp>
      <p:sp>
        <p:nvSpPr>
          <p:cNvPr id="16" name="Text 13"/>
          <p:cNvSpPr txBox="1"/>
          <p:nvPr/>
        </p:nvSpPr>
        <p:spPr>
          <a:xfrm>
            <a:off x="8961120" y="3913632"/>
            <a:ext cx="2651760" cy="566928"/>
          </a:xfrm>
          <a:prstGeom prst="rect">
            <a:avLst/>
          </a:prstGeom>
          <a:noFill/>
          <a:ln/>
        </p:spPr>
        <p:txBody>
          <a:bodyPr wrap="square" lIns="0" tIns="0" rIns="0" bIns="0" rtlCol="0" anchor="ctr"/>
          <a:lstStyle/>
          <a:p>
            <a:pPr indent="0" marL="0">
              <a:buNone/>
            </a:pPr>
            <a:r>
              <a:rPr lang="en-US" sz="1150" dirty="0">
                <a:solidFill>
                  <a:srgbClr val="2B2F36"/>
                </a:solidFill>
                <a:latin typeface="Calibri" pitchFamily="34" charset="0"/>
                <a:ea typeface="Calibri" pitchFamily="34" charset="-122"/>
                <a:cs typeface="Calibri" pitchFamily="34" charset="-120"/>
              </a:rPr>
              <a:t>optimisation libraries inside: sparse LU, Cholesky and orderings are ours</a:t>
            </a:r>
            <a:endParaRPr lang="en-US" sz="1150" dirty="0"/>
          </a:p>
        </p:txBody>
      </p:sp>
      <p:sp>
        <p:nvSpPr>
          <p:cNvPr id="17" name="Text 14"/>
          <p:cNvSpPr txBox="1"/>
          <p:nvPr/>
        </p:nvSpPr>
        <p:spPr>
          <a:xfrm>
            <a:off x="457200" y="4754880"/>
            <a:ext cx="7315200" cy="274320"/>
          </a:xfrm>
          <a:prstGeom prst="rect">
            <a:avLst/>
          </a:prstGeom>
          <a:noFill/>
          <a:ln/>
        </p:spPr>
        <p:txBody>
          <a:bodyPr wrap="square" lIns="0" tIns="0" rIns="0" bIns="0" rtlCol="0" anchor="ctr"/>
          <a:lstStyle/>
          <a:p>
            <a:pPr indent="0" marL="0">
              <a:buNone/>
            </a:pPr>
            <a:r>
              <a:rPr lang="en-US" sz="1200" b="1" spc="100" kern="0" dirty="0">
                <a:solidFill>
                  <a:srgbClr val="1F2A44"/>
                </a:solidFill>
                <a:latin typeface="Arial" pitchFamily="34" charset="0"/>
                <a:ea typeface="Arial" pitchFamily="34" charset="-122"/>
                <a:cs typeface="Arial" pitchFamily="34" charset="-120"/>
              </a:rPr>
              <a:t>INNOVATION AND UNIQUENESS</a:t>
            </a:r>
            <a:endParaRPr lang="en-US" sz="1200" dirty="0"/>
          </a:p>
        </p:txBody>
      </p:sp>
      <p:sp>
        <p:nvSpPr>
          <p:cNvPr id="18" name="Shape 15"/>
          <p:cNvSpPr/>
          <p:nvPr/>
        </p:nvSpPr>
        <p:spPr>
          <a:xfrm>
            <a:off x="457200" y="5074920"/>
            <a:ext cx="2697480" cy="1280160"/>
          </a:xfrm>
          <a:prstGeom prst="rect">
            <a:avLst/>
          </a:prstGeom>
          <a:solidFill>
            <a:srgbClr val="F2F4F7"/>
          </a:solidFill>
          <a:ln w="12700">
            <a:solidFill>
              <a:srgbClr val="F2F4F7"/>
            </a:solidFill>
            <a:prstDash val="solid"/>
          </a:ln>
        </p:spPr>
      </p:sp>
      <p:sp>
        <p:nvSpPr>
          <p:cNvPr id="19" name="Text 16"/>
          <p:cNvSpPr txBox="1"/>
          <p:nvPr/>
        </p:nvSpPr>
        <p:spPr>
          <a:xfrm>
            <a:off x="594360" y="5166360"/>
            <a:ext cx="365760" cy="365760"/>
          </a:xfrm>
          <a:prstGeom prst="rect">
            <a:avLst/>
          </a:prstGeom>
          <a:noFill/>
          <a:ln/>
        </p:spPr>
        <p:txBody>
          <a:bodyPr wrap="square" lIns="0" tIns="0" rIns="0" bIns="0" rtlCol="0" anchor="ctr"/>
          <a:lstStyle/>
          <a:p>
            <a:pPr indent="0" marL="0">
              <a:buNone/>
            </a:pPr>
            <a:r>
              <a:rPr lang="en-US" sz="1800" b="1" dirty="0">
                <a:solidFill>
                  <a:srgbClr val="E8702A"/>
                </a:solidFill>
                <a:latin typeface="Arial" pitchFamily="34" charset="0"/>
                <a:ea typeface="Arial" pitchFamily="34" charset="-122"/>
                <a:cs typeface="Arial" pitchFamily="34" charset="-120"/>
              </a:rPr>
              <a:t>1</a:t>
            </a:r>
            <a:endParaRPr lang="en-US" sz="1800" dirty="0"/>
          </a:p>
        </p:txBody>
      </p:sp>
      <p:sp>
        <p:nvSpPr>
          <p:cNvPr id="20" name="Text 17"/>
          <p:cNvSpPr txBox="1"/>
          <p:nvPr/>
        </p:nvSpPr>
        <p:spPr>
          <a:xfrm>
            <a:off x="960120" y="5166360"/>
            <a:ext cx="2103120" cy="365760"/>
          </a:xfrm>
          <a:prstGeom prst="rect">
            <a:avLst/>
          </a:prstGeom>
          <a:noFill/>
          <a:ln/>
        </p:spPr>
        <p:txBody>
          <a:bodyPr wrap="square" lIns="0" tIns="0" rIns="0" bIns="0" rtlCol="0" anchor="ctr"/>
          <a:lstStyle/>
          <a:p>
            <a:pPr indent="0" marL="0">
              <a:buNone/>
            </a:pPr>
            <a:r>
              <a:rPr lang="en-US" sz="1250" b="1" dirty="0">
                <a:solidFill>
                  <a:srgbClr val="1F2A44"/>
                </a:solidFill>
                <a:latin typeface="Calibri" pitchFamily="34" charset="0"/>
                <a:ea typeface="Calibri" pitchFamily="34" charset="-122"/>
                <a:cs typeface="Calibri" pitchFamily="34" charset="-120"/>
              </a:rPr>
              <a:t>Three engines, one decision</a:t>
            </a:r>
            <a:endParaRPr lang="en-US" sz="1250" dirty="0"/>
          </a:p>
        </p:txBody>
      </p:sp>
      <p:sp>
        <p:nvSpPr>
          <p:cNvPr id="21" name="Text 18"/>
          <p:cNvSpPr txBox="1"/>
          <p:nvPr/>
        </p:nvSpPr>
        <p:spPr>
          <a:xfrm>
            <a:off x="594360" y="5550408"/>
            <a:ext cx="2468880" cy="777240"/>
          </a:xfrm>
          <a:prstGeom prst="rect">
            <a:avLst/>
          </a:prstGeom>
          <a:noFill/>
          <a:ln/>
        </p:spPr>
        <p:txBody>
          <a:bodyPr wrap="square" lIns="0" tIns="0" rIns="0" bIns="0" rtlCol="0" anchor="t"/>
          <a:lstStyle/>
          <a:p>
            <a:pPr indent="0" marL="0">
              <a:buNone/>
            </a:pPr>
            <a:r>
              <a:rPr lang="en-US" sz="1000" dirty="0">
                <a:solidFill>
                  <a:srgbClr val="2B2F36"/>
                </a:solidFill>
                <a:latin typeface="Calibri" pitchFamily="34" charset="0"/>
                <a:ea typeface="Calibri" pitchFamily="34" charset="-122"/>
                <a:cs typeface="Calibri" pitchFamily="34" charset="-120"/>
              </a:rPr>
              <a:t>Simplex gives exact vertices and warm starts for MILP; interior point gives accuracy on large sparse LPs; GPU PDLP gives scale. The solver chooses.</a:t>
            </a:r>
            <a:endParaRPr lang="en-US" sz="1000" dirty="0"/>
          </a:p>
        </p:txBody>
      </p:sp>
      <p:sp>
        <p:nvSpPr>
          <p:cNvPr id="22" name="Shape 19"/>
          <p:cNvSpPr/>
          <p:nvPr/>
        </p:nvSpPr>
        <p:spPr>
          <a:xfrm>
            <a:off x="3291840" y="5074920"/>
            <a:ext cx="2697480" cy="1280160"/>
          </a:xfrm>
          <a:prstGeom prst="rect">
            <a:avLst/>
          </a:prstGeom>
          <a:solidFill>
            <a:srgbClr val="F2F4F7"/>
          </a:solidFill>
          <a:ln w="12700">
            <a:solidFill>
              <a:srgbClr val="F2F4F7"/>
            </a:solidFill>
            <a:prstDash val="solid"/>
          </a:ln>
        </p:spPr>
      </p:sp>
      <p:sp>
        <p:nvSpPr>
          <p:cNvPr id="23" name="Text 20"/>
          <p:cNvSpPr txBox="1"/>
          <p:nvPr/>
        </p:nvSpPr>
        <p:spPr>
          <a:xfrm>
            <a:off x="3429000" y="5166360"/>
            <a:ext cx="365760" cy="365760"/>
          </a:xfrm>
          <a:prstGeom prst="rect">
            <a:avLst/>
          </a:prstGeom>
          <a:noFill/>
          <a:ln/>
        </p:spPr>
        <p:txBody>
          <a:bodyPr wrap="square" lIns="0" tIns="0" rIns="0" bIns="0" rtlCol="0" anchor="ctr"/>
          <a:lstStyle/>
          <a:p>
            <a:pPr indent="0" marL="0">
              <a:buNone/>
            </a:pPr>
            <a:r>
              <a:rPr lang="en-US" sz="1800" b="1" dirty="0">
                <a:solidFill>
                  <a:srgbClr val="E8702A"/>
                </a:solidFill>
                <a:latin typeface="Arial" pitchFamily="34" charset="0"/>
                <a:ea typeface="Arial" pitchFamily="34" charset="-122"/>
                <a:cs typeface="Arial" pitchFamily="34" charset="-120"/>
              </a:rPr>
              <a:t>2</a:t>
            </a:r>
            <a:endParaRPr lang="en-US" sz="1800" dirty="0"/>
          </a:p>
        </p:txBody>
      </p:sp>
      <p:sp>
        <p:nvSpPr>
          <p:cNvPr id="24" name="Text 21"/>
          <p:cNvSpPr txBox="1"/>
          <p:nvPr/>
        </p:nvSpPr>
        <p:spPr>
          <a:xfrm>
            <a:off x="3794760" y="5166360"/>
            <a:ext cx="2103120" cy="365760"/>
          </a:xfrm>
          <a:prstGeom prst="rect">
            <a:avLst/>
          </a:prstGeom>
          <a:noFill/>
          <a:ln/>
        </p:spPr>
        <p:txBody>
          <a:bodyPr wrap="square" lIns="0" tIns="0" rIns="0" bIns="0" rtlCol="0" anchor="ctr"/>
          <a:lstStyle/>
          <a:p>
            <a:pPr indent="0" marL="0">
              <a:buNone/>
            </a:pPr>
            <a:r>
              <a:rPr lang="en-US" sz="1250" b="1" dirty="0">
                <a:solidFill>
                  <a:srgbClr val="1F2A44"/>
                </a:solidFill>
                <a:latin typeface="Calibri" pitchFamily="34" charset="0"/>
                <a:ea typeface="Calibri" pitchFamily="34" charset="-122"/>
                <a:cs typeface="Calibri" pitchFamily="34" charset="-120"/>
              </a:rPr>
              <a:t>Every factorisation is ours</a:t>
            </a:r>
            <a:endParaRPr lang="en-US" sz="1250" dirty="0"/>
          </a:p>
        </p:txBody>
      </p:sp>
      <p:sp>
        <p:nvSpPr>
          <p:cNvPr id="25" name="Text 22"/>
          <p:cNvSpPr txBox="1"/>
          <p:nvPr/>
        </p:nvSpPr>
        <p:spPr>
          <a:xfrm>
            <a:off x="3429000" y="5550408"/>
            <a:ext cx="2468880" cy="777240"/>
          </a:xfrm>
          <a:prstGeom prst="rect">
            <a:avLst/>
          </a:prstGeom>
          <a:noFill/>
          <a:ln/>
        </p:spPr>
        <p:txBody>
          <a:bodyPr wrap="square" lIns="0" tIns="0" rIns="0" bIns="0" rtlCol="0" anchor="t"/>
          <a:lstStyle/>
          <a:p>
            <a:pPr indent="0" marL="0">
              <a:buNone/>
            </a:pPr>
            <a:r>
              <a:rPr lang="en-US" sz="1000" dirty="0">
                <a:solidFill>
                  <a:srgbClr val="2B2F36"/>
                </a:solidFill>
                <a:latin typeface="Calibri" pitchFamily="34" charset="0"/>
                <a:ea typeface="Calibri" pitchFamily="34" charset="-122"/>
                <a:cs typeface="Calibri" pitchFamily="34" charset="-120"/>
              </a:rPr>
              <a:t>Sparse LU with basis repair, sparse Cholesky with minimum-degree ordering. Auditable end to end: no black box in the loop.</a:t>
            </a:r>
            <a:endParaRPr lang="en-US" sz="1000" dirty="0"/>
          </a:p>
        </p:txBody>
      </p:sp>
      <p:sp>
        <p:nvSpPr>
          <p:cNvPr id="26" name="Shape 23"/>
          <p:cNvSpPr/>
          <p:nvPr/>
        </p:nvSpPr>
        <p:spPr>
          <a:xfrm>
            <a:off x="6126480" y="5074920"/>
            <a:ext cx="2697480" cy="1280160"/>
          </a:xfrm>
          <a:prstGeom prst="rect">
            <a:avLst/>
          </a:prstGeom>
          <a:solidFill>
            <a:srgbClr val="F2F4F7"/>
          </a:solidFill>
          <a:ln w="12700">
            <a:solidFill>
              <a:srgbClr val="F2F4F7"/>
            </a:solidFill>
            <a:prstDash val="solid"/>
          </a:ln>
        </p:spPr>
      </p:sp>
      <p:sp>
        <p:nvSpPr>
          <p:cNvPr id="27" name="Text 24"/>
          <p:cNvSpPr txBox="1"/>
          <p:nvPr/>
        </p:nvSpPr>
        <p:spPr>
          <a:xfrm>
            <a:off x="6263640" y="5166360"/>
            <a:ext cx="365760" cy="365760"/>
          </a:xfrm>
          <a:prstGeom prst="rect">
            <a:avLst/>
          </a:prstGeom>
          <a:noFill/>
          <a:ln/>
        </p:spPr>
        <p:txBody>
          <a:bodyPr wrap="square" lIns="0" tIns="0" rIns="0" bIns="0" rtlCol="0" anchor="ctr"/>
          <a:lstStyle/>
          <a:p>
            <a:pPr indent="0" marL="0">
              <a:buNone/>
            </a:pPr>
            <a:r>
              <a:rPr lang="en-US" sz="1800" b="1" dirty="0">
                <a:solidFill>
                  <a:srgbClr val="E8702A"/>
                </a:solidFill>
                <a:latin typeface="Arial" pitchFamily="34" charset="0"/>
                <a:ea typeface="Arial" pitchFamily="34" charset="-122"/>
                <a:cs typeface="Arial" pitchFamily="34" charset="-120"/>
              </a:rPr>
              <a:t>3</a:t>
            </a:r>
            <a:endParaRPr lang="en-US" sz="1800" dirty="0"/>
          </a:p>
        </p:txBody>
      </p:sp>
      <p:sp>
        <p:nvSpPr>
          <p:cNvPr id="28" name="Text 25"/>
          <p:cNvSpPr txBox="1"/>
          <p:nvPr/>
        </p:nvSpPr>
        <p:spPr>
          <a:xfrm>
            <a:off x="6629400" y="5166360"/>
            <a:ext cx="2103120" cy="365760"/>
          </a:xfrm>
          <a:prstGeom prst="rect">
            <a:avLst/>
          </a:prstGeom>
          <a:noFill/>
          <a:ln/>
        </p:spPr>
        <p:txBody>
          <a:bodyPr wrap="square" lIns="0" tIns="0" rIns="0" bIns="0" rtlCol="0" anchor="ctr"/>
          <a:lstStyle/>
          <a:p>
            <a:pPr indent="0" marL="0">
              <a:buNone/>
            </a:pPr>
            <a:r>
              <a:rPr lang="en-US" sz="1250" b="1" dirty="0">
                <a:solidFill>
                  <a:srgbClr val="1F2A44"/>
                </a:solidFill>
                <a:latin typeface="Calibri" pitchFamily="34" charset="0"/>
                <a:ea typeface="Calibri" pitchFamily="34" charset="-122"/>
                <a:cs typeface="Calibri" pitchFamily="34" charset="-120"/>
              </a:rPr>
              <a:t>Built for bad models</a:t>
            </a:r>
            <a:endParaRPr lang="en-US" sz="1250" dirty="0"/>
          </a:p>
        </p:txBody>
      </p:sp>
      <p:sp>
        <p:nvSpPr>
          <p:cNvPr id="29" name="Text 26"/>
          <p:cNvSpPr txBox="1"/>
          <p:nvPr/>
        </p:nvSpPr>
        <p:spPr>
          <a:xfrm>
            <a:off x="6263640" y="5550408"/>
            <a:ext cx="2468880" cy="777240"/>
          </a:xfrm>
          <a:prstGeom prst="rect">
            <a:avLst/>
          </a:prstGeom>
          <a:noFill/>
          <a:ln/>
        </p:spPr>
        <p:txBody>
          <a:bodyPr wrap="square" lIns="0" tIns="0" rIns="0" bIns="0" rtlCol="0" anchor="t"/>
          <a:lstStyle/>
          <a:p>
            <a:pPr indent="0" marL="0">
              <a:buNone/>
            </a:pPr>
            <a:r>
              <a:rPr lang="en-US" sz="1000" dirty="0">
                <a:solidFill>
                  <a:srgbClr val="2B2F36"/>
                </a:solidFill>
                <a:latin typeface="Calibri" pitchFamily="34" charset="0"/>
                <a:ea typeface="Calibri" pitchFamily="34" charset="-122"/>
                <a:cs typeface="Calibri" pitchFamily="34" charset="-120"/>
              </a:rPr>
              <a:t>Scaling, cost perturbation, bound-flipping and Harris ratio tests, a stall-aware interior point: tested on Netlib's degenerate and ill-conditioned set.</a:t>
            </a:r>
            <a:endParaRPr lang="en-US" sz="1000" dirty="0"/>
          </a:p>
        </p:txBody>
      </p:sp>
      <p:sp>
        <p:nvSpPr>
          <p:cNvPr id="30" name="Shape 27"/>
          <p:cNvSpPr/>
          <p:nvPr/>
        </p:nvSpPr>
        <p:spPr>
          <a:xfrm>
            <a:off x="8961120" y="5074920"/>
            <a:ext cx="2697480" cy="1280160"/>
          </a:xfrm>
          <a:prstGeom prst="rect">
            <a:avLst/>
          </a:prstGeom>
          <a:solidFill>
            <a:srgbClr val="F2F4F7"/>
          </a:solidFill>
          <a:ln w="12700">
            <a:solidFill>
              <a:srgbClr val="F2F4F7"/>
            </a:solidFill>
            <a:prstDash val="solid"/>
          </a:ln>
        </p:spPr>
      </p:sp>
      <p:sp>
        <p:nvSpPr>
          <p:cNvPr id="31" name="Text 28"/>
          <p:cNvSpPr txBox="1"/>
          <p:nvPr/>
        </p:nvSpPr>
        <p:spPr>
          <a:xfrm>
            <a:off x="9098280" y="5166360"/>
            <a:ext cx="365760" cy="365760"/>
          </a:xfrm>
          <a:prstGeom prst="rect">
            <a:avLst/>
          </a:prstGeom>
          <a:noFill/>
          <a:ln/>
        </p:spPr>
        <p:txBody>
          <a:bodyPr wrap="square" lIns="0" tIns="0" rIns="0" bIns="0" rtlCol="0" anchor="ctr"/>
          <a:lstStyle/>
          <a:p>
            <a:pPr indent="0" marL="0">
              <a:buNone/>
            </a:pPr>
            <a:r>
              <a:rPr lang="en-US" sz="1800" b="1" dirty="0">
                <a:solidFill>
                  <a:srgbClr val="E8702A"/>
                </a:solidFill>
                <a:latin typeface="Arial" pitchFamily="34" charset="0"/>
                <a:ea typeface="Arial" pitchFamily="34" charset="-122"/>
                <a:cs typeface="Arial" pitchFamily="34" charset="-120"/>
              </a:rPr>
              <a:t>4</a:t>
            </a:r>
            <a:endParaRPr lang="en-US" sz="1800" dirty="0"/>
          </a:p>
        </p:txBody>
      </p:sp>
      <p:sp>
        <p:nvSpPr>
          <p:cNvPr id="32" name="Text 29"/>
          <p:cNvSpPr txBox="1"/>
          <p:nvPr/>
        </p:nvSpPr>
        <p:spPr>
          <a:xfrm>
            <a:off x="9464040" y="5166360"/>
            <a:ext cx="2103120" cy="365760"/>
          </a:xfrm>
          <a:prstGeom prst="rect">
            <a:avLst/>
          </a:prstGeom>
          <a:noFill/>
          <a:ln/>
        </p:spPr>
        <p:txBody>
          <a:bodyPr wrap="square" lIns="0" tIns="0" rIns="0" bIns="0" rtlCol="0" anchor="ctr"/>
          <a:lstStyle/>
          <a:p>
            <a:pPr indent="0" marL="0">
              <a:buNone/>
            </a:pPr>
            <a:r>
              <a:rPr lang="en-US" sz="1250" b="1" dirty="0">
                <a:solidFill>
                  <a:srgbClr val="1F2A44"/>
                </a:solidFill>
                <a:latin typeface="Calibri" pitchFamily="34" charset="0"/>
                <a:ea typeface="Calibri" pitchFamily="34" charset="-122"/>
                <a:cs typeface="Calibri" pitchFamily="34" charset="-120"/>
              </a:rPr>
              <a:t>Benchmarks MRPL recognises</a:t>
            </a:r>
            <a:endParaRPr lang="en-US" sz="1250" dirty="0"/>
          </a:p>
        </p:txBody>
      </p:sp>
      <p:sp>
        <p:nvSpPr>
          <p:cNvPr id="33" name="Text 30"/>
          <p:cNvSpPr txBox="1"/>
          <p:nvPr/>
        </p:nvSpPr>
        <p:spPr>
          <a:xfrm>
            <a:off x="9098280" y="5550408"/>
            <a:ext cx="2468880" cy="777240"/>
          </a:xfrm>
          <a:prstGeom prst="rect">
            <a:avLst/>
          </a:prstGeom>
          <a:noFill/>
          <a:ln/>
        </p:spPr>
        <p:txBody>
          <a:bodyPr wrap="square" lIns="0" tIns="0" rIns="0" bIns="0" rtlCol="0" anchor="t"/>
          <a:lstStyle/>
          <a:p>
            <a:pPr indent="0" marL="0">
              <a:buNone/>
            </a:pPr>
            <a:r>
              <a:rPr lang="en-US" sz="1000" dirty="0">
                <a:solidFill>
                  <a:srgbClr val="2B2F36"/>
                </a:solidFill>
                <a:latin typeface="Calibri" pitchFamily="34" charset="0"/>
                <a:ea typeface="Calibri" pitchFamily="34" charset="-122"/>
                <a:cs typeface="Calibri" pitchFamily="34" charset="-120"/>
              </a:rPr>
              <a:t>Netlib, MIPLIB and Maros–Mészáros, plus public refinery-blending, unit-commitment and supply-chain models, each checked against HiGHS.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darsh\nirnay\deliverables\deck\tpl\ppt\media\image1.png">    </p:cNvPr>
          <p:cNvPicPr>
            <a:picLocks noChangeAspect="1"/>
          </p:cNvPicPr>
          <p:nvPr/>
        </p:nvPicPr>
        <p:blipFill>
          <a:blip r:embed="rId1"/>
          <a:stretch>
            <a:fillRect/>
          </a:stretch>
        </p:blipFill>
        <p:spPr>
          <a:xfrm>
            <a:off x="10104120" y="201168"/>
            <a:ext cx="1691640" cy="799186"/>
          </a:xfrm>
          <a:prstGeom prst="rect">
            <a:avLst/>
          </a:prstGeom>
        </p:spPr>
      </p:pic>
      <p:sp>
        <p:nvSpPr>
          <p:cNvPr id="3" name="Text 0"/>
          <p:cNvSpPr txBox="1"/>
          <p:nvPr/>
        </p:nvSpPr>
        <p:spPr>
          <a:xfrm>
            <a:off x="457200" y="274320"/>
            <a:ext cx="9418320" cy="640080"/>
          </a:xfrm>
          <a:prstGeom prst="rect">
            <a:avLst/>
          </a:prstGeom>
          <a:noFill/>
          <a:ln/>
        </p:spPr>
        <p:txBody>
          <a:bodyPr wrap="square" lIns="0" tIns="0" rIns="0" bIns="0" rtlCol="0" anchor="ctr"/>
          <a:lstStyle/>
          <a:p>
            <a:pPr indent="0" marL="0">
              <a:buNone/>
            </a:pPr>
            <a:r>
              <a:rPr lang="en-US" sz="2800" b="1" dirty="0">
                <a:solidFill>
                  <a:srgbClr val="1F2A44"/>
                </a:solidFill>
                <a:latin typeface="Arial" pitchFamily="34" charset="0"/>
                <a:ea typeface="Arial" pitchFamily="34" charset="-122"/>
                <a:cs typeface="Arial" pitchFamily="34" charset="-120"/>
              </a:rPr>
              <a:t>TECHNICAL APPROACH</a:t>
            </a:r>
            <a:endParaRPr lang="en-US" sz="2800" dirty="0"/>
          </a:p>
        </p:txBody>
      </p:sp>
      <p:sp>
        <p:nvSpPr>
          <p:cNvPr id="4" name="Text 1"/>
          <p:cNvSpPr txBox="1"/>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@SIH Idea submission  ·  Team ZeroCloud  ·  SIH26119</a:t>
            </a:r>
            <a:endParaRPr lang="en-US" sz="9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3</a:t>
            </a:r>
            <a:endParaRPr lang="en-US" sz="900" dirty="0"/>
          </a:p>
        </p:txBody>
      </p:sp>
      <p:sp>
        <p:nvSpPr>
          <p:cNvPr id="6" name="Text 3"/>
          <p:cNvSpPr txBox="1"/>
          <p:nvPr/>
        </p:nvSpPr>
        <p:spPr>
          <a:xfrm>
            <a:off x="457200" y="960120"/>
            <a:ext cx="9418320" cy="365760"/>
          </a:xfrm>
          <a:prstGeom prst="rect">
            <a:avLst/>
          </a:prstGeom>
          <a:noFill/>
          <a:ln/>
        </p:spPr>
        <p:txBody>
          <a:bodyPr wrap="square" lIns="0" tIns="0" rIns="0" bIns="0" rtlCol="0" anchor="ctr"/>
          <a:lstStyle/>
          <a:p>
            <a:pPr indent="0" marL="0">
              <a:buNone/>
            </a:pPr>
            <a:r>
              <a:rPr lang="en-US" sz="1400" i="1" dirty="0">
                <a:solidFill>
                  <a:srgbClr val="5B6770"/>
                </a:solidFill>
                <a:latin typeface="Calibri" pitchFamily="34" charset="0"/>
                <a:ea typeface="Calibri" pitchFamily="34" charset="-122"/>
                <a:cs typeface="Calibri" pitchFamily="34" charset="-120"/>
              </a:rPr>
              <a:t>One engine, six layers. Everything below the API is written from the mathematics up.</a:t>
            </a:r>
            <a:endParaRPr lang="en-US" sz="1400" dirty="0"/>
          </a:p>
        </p:txBody>
      </p:sp>
      <p:sp>
        <p:nvSpPr>
          <p:cNvPr id="7" name="Shape 4"/>
          <p:cNvSpPr/>
          <p:nvPr/>
        </p:nvSpPr>
        <p:spPr>
          <a:xfrm>
            <a:off x="457200" y="1463040"/>
            <a:ext cx="7223760" cy="566928"/>
          </a:xfrm>
          <a:prstGeom prst="rect">
            <a:avLst/>
          </a:prstGeom>
          <a:solidFill>
            <a:srgbClr val="1F2A44"/>
          </a:solidFill>
          <a:ln w="12700">
            <a:solidFill>
              <a:srgbClr val="1F2A44"/>
            </a:solidFill>
            <a:prstDash val="solid"/>
          </a:ln>
        </p:spPr>
      </p:sp>
      <p:sp>
        <p:nvSpPr>
          <p:cNvPr id="8" name="Text 5"/>
          <p:cNvSpPr txBox="1"/>
          <p:nvPr/>
        </p:nvSpPr>
        <p:spPr>
          <a:xfrm>
            <a:off x="594360" y="1463040"/>
            <a:ext cx="1463040" cy="566928"/>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INPUT</a:t>
            </a:r>
            <a:endParaRPr lang="en-US" sz="1100" dirty="0"/>
          </a:p>
        </p:txBody>
      </p:sp>
      <p:sp>
        <p:nvSpPr>
          <p:cNvPr id="9" name="Text 6"/>
          <p:cNvSpPr txBox="1"/>
          <p:nvPr/>
        </p:nvSpPr>
        <p:spPr>
          <a:xfrm>
            <a:off x="2057400" y="1463040"/>
            <a:ext cx="548640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MPS / QPS reader (fixed and free, all bound types) · Python API · command line</a:t>
            </a:r>
            <a:endParaRPr lang="en-US" sz="1150" dirty="0"/>
          </a:p>
        </p:txBody>
      </p:sp>
      <p:sp>
        <p:nvSpPr>
          <p:cNvPr id="10" name="Shape 7"/>
          <p:cNvSpPr/>
          <p:nvPr/>
        </p:nvSpPr>
        <p:spPr>
          <a:xfrm>
            <a:off x="457200" y="2121408"/>
            <a:ext cx="7223760" cy="566928"/>
          </a:xfrm>
          <a:prstGeom prst="rect">
            <a:avLst/>
          </a:prstGeom>
          <a:solidFill>
            <a:srgbClr val="3A4A6B"/>
          </a:solidFill>
          <a:ln w="12700">
            <a:solidFill>
              <a:srgbClr val="3A4A6B"/>
            </a:solidFill>
            <a:prstDash val="solid"/>
          </a:ln>
        </p:spPr>
      </p:sp>
      <p:sp>
        <p:nvSpPr>
          <p:cNvPr id="11" name="Text 8"/>
          <p:cNvSpPr txBox="1"/>
          <p:nvPr/>
        </p:nvSpPr>
        <p:spPr>
          <a:xfrm>
            <a:off x="594360" y="2121408"/>
            <a:ext cx="1463040" cy="566928"/>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PRESOLVE</a:t>
            </a:r>
            <a:endParaRPr lang="en-US" sz="1100" dirty="0"/>
          </a:p>
        </p:txBody>
      </p:sp>
      <p:sp>
        <p:nvSpPr>
          <p:cNvPr id="12" name="Text 9"/>
          <p:cNvSpPr txBox="1"/>
          <p:nvPr/>
        </p:nvSpPr>
        <p:spPr>
          <a:xfrm>
            <a:off x="2057400" y="2121408"/>
            <a:ext cx="548640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Fixed columns, free and singleton rows, bound tightening · geometric scaling in powers of two</a:t>
            </a:r>
            <a:endParaRPr lang="en-US" sz="1150" dirty="0"/>
          </a:p>
        </p:txBody>
      </p:sp>
      <p:sp>
        <p:nvSpPr>
          <p:cNvPr id="13" name="Shape 10"/>
          <p:cNvSpPr/>
          <p:nvPr/>
        </p:nvSpPr>
        <p:spPr>
          <a:xfrm>
            <a:off x="457200" y="2779776"/>
            <a:ext cx="2316480" cy="1234440"/>
          </a:xfrm>
          <a:prstGeom prst="rect">
            <a:avLst/>
          </a:prstGeom>
          <a:solidFill>
            <a:srgbClr val="E3ECF7"/>
          </a:solidFill>
          <a:ln w="12700">
            <a:solidFill>
              <a:srgbClr val="E3ECF7"/>
            </a:solidFill>
            <a:prstDash val="solid"/>
          </a:ln>
        </p:spPr>
      </p:sp>
      <p:sp>
        <p:nvSpPr>
          <p:cNvPr id="14" name="Text 11"/>
          <p:cNvSpPr txBox="1"/>
          <p:nvPr/>
        </p:nvSpPr>
        <p:spPr>
          <a:xfrm>
            <a:off x="566928" y="2852928"/>
            <a:ext cx="2097024" cy="320040"/>
          </a:xfrm>
          <a:prstGeom prst="rect">
            <a:avLst/>
          </a:prstGeom>
          <a:noFill/>
          <a:ln/>
        </p:spPr>
        <p:txBody>
          <a:bodyPr wrap="square" lIns="0" tIns="0" rIns="0" bIns="0" rtlCol="0" anchor="ctr"/>
          <a:lstStyle/>
          <a:p>
            <a:pPr indent="0" marL="0">
              <a:buNone/>
            </a:pPr>
            <a:r>
              <a:rPr lang="en-US" sz="1250" b="1" dirty="0">
                <a:solidFill>
                  <a:srgbClr val="1F2A44"/>
                </a:solidFill>
                <a:latin typeface="Arial" pitchFamily="34" charset="0"/>
                <a:ea typeface="Arial" pitchFamily="34" charset="-122"/>
                <a:cs typeface="Arial" pitchFamily="34" charset="-120"/>
              </a:rPr>
              <a:t>Dual simplex</a:t>
            </a:r>
            <a:endParaRPr lang="en-US" sz="1250" dirty="0"/>
          </a:p>
        </p:txBody>
      </p:sp>
      <p:sp>
        <p:nvSpPr>
          <p:cNvPr id="15" name="Text 12"/>
          <p:cNvSpPr txBox="1"/>
          <p:nvPr/>
        </p:nvSpPr>
        <p:spPr>
          <a:xfrm>
            <a:off x="566928" y="3191256"/>
            <a:ext cx="2097024" cy="77724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Own sparse LU + eta updates · dual steepest edge · bound-flipping ratio test · perturbation against degeneracy</a:t>
            </a:r>
            <a:endParaRPr lang="en-US" sz="1050" dirty="0"/>
          </a:p>
        </p:txBody>
      </p:sp>
      <p:sp>
        <p:nvSpPr>
          <p:cNvPr id="16" name="Shape 13"/>
          <p:cNvSpPr/>
          <p:nvPr/>
        </p:nvSpPr>
        <p:spPr>
          <a:xfrm>
            <a:off x="2910840" y="2779776"/>
            <a:ext cx="2316480" cy="1234440"/>
          </a:xfrm>
          <a:prstGeom prst="rect">
            <a:avLst/>
          </a:prstGeom>
          <a:solidFill>
            <a:srgbClr val="E3ECF7"/>
          </a:solidFill>
          <a:ln w="12700">
            <a:solidFill>
              <a:srgbClr val="E3ECF7"/>
            </a:solidFill>
            <a:prstDash val="solid"/>
          </a:ln>
        </p:spPr>
      </p:sp>
      <p:sp>
        <p:nvSpPr>
          <p:cNvPr id="17" name="Text 14"/>
          <p:cNvSpPr txBox="1"/>
          <p:nvPr/>
        </p:nvSpPr>
        <p:spPr>
          <a:xfrm>
            <a:off x="3020568" y="2852928"/>
            <a:ext cx="2097024" cy="320040"/>
          </a:xfrm>
          <a:prstGeom prst="rect">
            <a:avLst/>
          </a:prstGeom>
          <a:noFill/>
          <a:ln/>
        </p:spPr>
        <p:txBody>
          <a:bodyPr wrap="square" lIns="0" tIns="0" rIns="0" bIns="0" rtlCol="0" anchor="ctr"/>
          <a:lstStyle/>
          <a:p>
            <a:pPr indent="0" marL="0">
              <a:buNone/>
            </a:pPr>
            <a:r>
              <a:rPr lang="en-US" sz="1250" b="1" dirty="0">
                <a:solidFill>
                  <a:srgbClr val="1F2A44"/>
                </a:solidFill>
                <a:latin typeface="Arial" pitchFamily="34" charset="0"/>
                <a:ea typeface="Arial" pitchFamily="34" charset="-122"/>
                <a:cs typeface="Arial" pitchFamily="34" charset="-120"/>
              </a:rPr>
              <a:t>Interior point</a:t>
            </a:r>
            <a:endParaRPr lang="en-US" sz="1250" dirty="0"/>
          </a:p>
        </p:txBody>
      </p:sp>
      <p:sp>
        <p:nvSpPr>
          <p:cNvPr id="18" name="Text 15"/>
          <p:cNvSpPr txBox="1"/>
          <p:nvPr/>
        </p:nvSpPr>
        <p:spPr>
          <a:xfrm>
            <a:off x="3020568" y="3191256"/>
            <a:ext cx="2097024" cy="77724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Mehrotra predictor-corrector · own sparse Cholesky with minimum-degree ordering · regularisation</a:t>
            </a:r>
            <a:endParaRPr lang="en-US" sz="1050" dirty="0"/>
          </a:p>
        </p:txBody>
      </p:sp>
      <p:sp>
        <p:nvSpPr>
          <p:cNvPr id="19" name="Shape 16"/>
          <p:cNvSpPr/>
          <p:nvPr/>
        </p:nvSpPr>
        <p:spPr>
          <a:xfrm>
            <a:off x="5364480" y="2779776"/>
            <a:ext cx="2316480" cy="1234440"/>
          </a:xfrm>
          <a:prstGeom prst="rect">
            <a:avLst/>
          </a:prstGeom>
          <a:solidFill>
            <a:srgbClr val="FCE9DC"/>
          </a:solidFill>
          <a:ln w="12700">
            <a:solidFill>
              <a:srgbClr val="FCE9DC"/>
            </a:solidFill>
            <a:prstDash val="solid"/>
          </a:ln>
        </p:spPr>
      </p:sp>
      <p:sp>
        <p:nvSpPr>
          <p:cNvPr id="20" name="Text 17"/>
          <p:cNvSpPr txBox="1"/>
          <p:nvPr/>
        </p:nvSpPr>
        <p:spPr>
          <a:xfrm>
            <a:off x="5474208" y="2852928"/>
            <a:ext cx="2097024" cy="320040"/>
          </a:xfrm>
          <a:prstGeom prst="rect">
            <a:avLst/>
          </a:prstGeom>
          <a:noFill/>
          <a:ln/>
        </p:spPr>
        <p:txBody>
          <a:bodyPr wrap="square" lIns="0" tIns="0" rIns="0" bIns="0" rtlCol="0" anchor="ctr"/>
          <a:lstStyle/>
          <a:p>
            <a:pPr indent="0" marL="0">
              <a:buNone/>
            </a:pPr>
            <a:r>
              <a:rPr lang="en-US" sz="1250" b="1" dirty="0">
                <a:solidFill>
                  <a:srgbClr val="E8702A"/>
                </a:solidFill>
                <a:latin typeface="Arial" pitchFamily="34" charset="0"/>
                <a:ea typeface="Arial" pitchFamily="34" charset="-122"/>
                <a:cs typeface="Arial" pitchFamily="34" charset="-120"/>
              </a:rPr>
              <a:t>PDLP  (GPU)</a:t>
            </a:r>
            <a:endParaRPr lang="en-US" sz="1250" dirty="0"/>
          </a:p>
        </p:txBody>
      </p:sp>
      <p:sp>
        <p:nvSpPr>
          <p:cNvPr id="21" name="Text 18"/>
          <p:cNvSpPr txBox="1"/>
          <p:nvPr/>
        </p:nvSpPr>
        <p:spPr>
          <a:xfrm>
            <a:off x="5474208" y="3191256"/>
            <a:ext cx="2097024" cy="77724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Restarted primal-dual hybrid gradient · adaptive steps · only mat-vec products, so it scales on CUDA</a:t>
            </a:r>
            <a:endParaRPr lang="en-US" sz="1050" dirty="0"/>
          </a:p>
        </p:txBody>
      </p:sp>
      <p:sp>
        <p:nvSpPr>
          <p:cNvPr id="22" name="Shape 19"/>
          <p:cNvSpPr/>
          <p:nvPr/>
        </p:nvSpPr>
        <p:spPr>
          <a:xfrm>
            <a:off x="457200" y="4105656"/>
            <a:ext cx="7223760" cy="566928"/>
          </a:xfrm>
          <a:prstGeom prst="rect">
            <a:avLst/>
          </a:prstGeom>
          <a:solidFill>
            <a:srgbClr val="E6F3EA"/>
          </a:solidFill>
          <a:ln w="12700">
            <a:solidFill>
              <a:srgbClr val="E6F3EA"/>
            </a:solidFill>
            <a:prstDash val="solid"/>
          </a:ln>
        </p:spPr>
      </p:sp>
      <p:sp>
        <p:nvSpPr>
          <p:cNvPr id="23" name="Text 20"/>
          <p:cNvSpPr txBox="1"/>
          <p:nvPr/>
        </p:nvSpPr>
        <p:spPr>
          <a:xfrm>
            <a:off x="594360" y="4105656"/>
            <a:ext cx="1463040" cy="566928"/>
          </a:xfrm>
          <a:prstGeom prst="rect">
            <a:avLst/>
          </a:prstGeom>
          <a:noFill/>
          <a:ln/>
        </p:spPr>
        <p:txBody>
          <a:bodyPr wrap="square" lIns="0" tIns="0" rIns="0" bIns="0" rtlCol="0" anchor="ctr"/>
          <a:lstStyle/>
          <a:p>
            <a:pPr indent="0" marL="0">
              <a:buNone/>
            </a:pPr>
            <a:r>
              <a:rPr lang="en-US" sz="1100" b="1" dirty="0">
                <a:solidFill>
                  <a:srgbClr val="1E8C45"/>
                </a:solidFill>
                <a:latin typeface="Arial" pitchFamily="34" charset="0"/>
                <a:ea typeface="Arial" pitchFamily="34" charset="-122"/>
                <a:cs typeface="Arial" pitchFamily="34" charset="-120"/>
              </a:rPr>
              <a:t>MILP</a:t>
            </a:r>
            <a:endParaRPr lang="en-US" sz="1100" dirty="0"/>
          </a:p>
        </p:txBody>
      </p:sp>
      <p:sp>
        <p:nvSpPr>
          <p:cNvPr id="24" name="Text 21"/>
          <p:cNvSpPr txBox="1"/>
          <p:nvPr/>
        </p:nvSpPr>
        <p:spPr>
          <a:xfrm>
            <a:off x="2057400" y="4105656"/>
            <a:ext cx="5486400" cy="566928"/>
          </a:xfrm>
          <a:prstGeom prst="rect">
            <a:avLst/>
          </a:prstGeom>
          <a:noFill/>
          <a:ln/>
        </p:spPr>
        <p:txBody>
          <a:bodyPr wrap="square" lIns="0" tIns="0" rIns="0" bIns="0" rtlCol="0" anchor="ctr"/>
          <a:lstStyle/>
          <a:p>
            <a:pPr indent="0" marL="0">
              <a:buNone/>
            </a:pPr>
            <a:r>
              <a:rPr lang="en-US" sz="1150" dirty="0">
                <a:solidFill>
                  <a:srgbClr val="2B2F36"/>
                </a:solidFill>
                <a:latin typeface="Calibri" pitchFamily="34" charset="0"/>
                <a:ea typeface="Calibri" pitchFamily="34" charset="-122"/>
                <a:cs typeface="Calibri" pitchFamily="34" charset="-120"/>
              </a:rPr>
              <a:t>Branch-and-bound on warm-started dual simplex · reliability branching · domain propagation · Gomory cuts · diving and rounding heuristics</a:t>
            </a:r>
            <a:endParaRPr lang="en-US" sz="1150" dirty="0"/>
          </a:p>
        </p:txBody>
      </p:sp>
      <p:sp>
        <p:nvSpPr>
          <p:cNvPr id="25" name="Shape 22"/>
          <p:cNvSpPr/>
          <p:nvPr/>
        </p:nvSpPr>
        <p:spPr>
          <a:xfrm>
            <a:off x="457200" y="4764024"/>
            <a:ext cx="7223760" cy="566928"/>
          </a:xfrm>
          <a:prstGeom prst="rect">
            <a:avLst/>
          </a:prstGeom>
          <a:solidFill>
            <a:srgbClr val="E6F3EA"/>
          </a:solidFill>
          <a:ln w="12700">
            <a:solidFill>
              <a:srgbClr val="E6F3EA"/>
            </a:solidFill>
            <a:prstDash val="solid"/>
          </a:ln>
        </p:spPr>
      </p:sp>
      <p:sp>
        <p:nvSpPr>
          <p:cNvPr id="26" name="Text 23"/>
          <p:cNvSpPr txBox="1"/>
          <p:nvPr/>
        </p:nvSpPr>
        <p:spPr>
          <a:xfrm>
            <a:off x="594360" y="4764024"/>
            <a:ext cx="1463040" cy="566928"/>
          </a:xfrm>
          <a:prstGeom prst="rect">
            <a:avLst/>
          </a:prstGeom>
          <a:noFill/>
          <a:ln/>
        </p:spPr>
        <p:txBody>
          <a:bodyPr wrap="square" lIns="0" tIns="0" rIns="0" bIns="0" rtlCol="0" anchor="ctr"/>
          <a:lstStyle/>
          <a:p>
            <a:pPr indent="0" marL="0">
              <a:buNone/>
            </a:pPr>
            <a:r>
              <a:rPr lang="en-US" sz="1100" b="1" dirty="0">
                <a:solidFill>
                  <a:srgbClr val="1E8C45"/>
                </a:solidFill>
                <a:latin typeface="Arial" pitchFamily="34" charset="0"/>
                <a:ea typeface="Arial" pitchFamily="34" charset="-122"/>
                <a:cs typeface="Arial" pitchFamily="34" charset="-120"/>
              </a:rPr>
              <a:t>QP</a:t>
            </a:r>
            <a:endParaRPr lang="en-US" sz="1100" dirty="0"/>
          </a:p>
        </p:txBody>
      </p:sp>
      <p:sp>
        <p:nvSpPr>
          <p:cNvPr id="27" name="Text 24"/>
          <p:cNvSpPr txBox="1"/>
          <p:nvPr/>
        </p:nvSpPr>
        <p:spPr>
          <a:xfrm>
            <a:off x="2057400" y="4764024"/>
            <a:ext cx="5486400" cy="566928"/>
          </a:xfrm>
          <a:prstGeom prst="rect">
            <a:avLst/>
          </a:prstGeom>
          <a:noFill/>
          <a:ln/>
        </p:spPr>
        <p:txBody>
          <a:bodyPr wrap="square" lIns="0" tIns="0" rIns="0" bIns="0" rtlCol="0" anchor="ctr"/>
          <a:lstStyle/>
          <a:p>
            <a:pPr indent="0" marL="0">
              <a:buNone/>
            </a:pPr>
            <a:r>
              <a:rPr lang="en-US" sz="1150" dirty="0">
                <a:solidFill>
                  <a:srgbClr val="2B2F36"/>
                </a:solidFill>
                <a:latin typeface="Calibri" pitchFamily="34" charset="0"/>
                <a:ea typeface="Calibri" pitchFamily="34" charset="-122"/>
                <a:cs typeface="Calibri" pitchFamily="34" charset="-120"/>
              </a:rPr>
              <a:t>Convex quadratic programmes by interior point on the same Cholesky core; PDHG for large sparse QPs</a:t>
            </a:r>
            <a:endParaRPr lang="en-US" sz="1150" dirty="0"/>
          </a:p>
        </p:txBody>
      </p:sp>
      <p:sp>
        <p:nvSpPr>
          <p:cNvPr id="28" name="Shape 25"/>
          <p:cNvSpPr/>
          <p:nvPr/>
        </p:nvSpPr>
        <p:spPr>
          <a:xfrm>
            <a:off x="457200" y="5422392"/>
            <a:ext cx="7223760" cy="566928"/>
          </a:xfrm>
          <a:prstGeom prst="rect">
            <a:avLst/>
          </a:prstGeom>
          <a:solidFill>
            <a:srgbClr val="EEF0F3"/>
          </a:solidFill>
          <a:ln w="12700">
            <a:solidFill>
              <a:srgbClr val="EEF0F3"/>
            </a:solidFill>
            <a:prstDash val="solid"/>
          </a:ln>
        </p:spPr>
      </p:sp>
      <p:sp>
        <p:nvSpPr>
          <p:cNvPr id="29" name="Text 26"/>
          <p:cNvSpPr txBox="1"/>
          <p:nvPr/>
        </p:nvSpPr>
        <p:spPr>
          <a:xfrm>
            <a:off x="594360" y="5422392"/>
            <a:ext cx="1463040" cy="566928"/>
          </a:xfrm>
          <a:prstGeom prst="rect">
            <a:avLst/>
          </a:prstGeom>
          <a:noFill/>
          <a:ln/>
        </p:spPr>
        <p:txBody>
          <a:bodyPr wrap="square" lIns="0" tIns="0" rIns="0" bIns="0" rtlCol="0" anchor="ctr"/>
          <a:lstStyle/>
          <a:p>
            <a:pPr indent="0" marL="0">
              <a:buNone/>
            </a:pPr>
            <a:r>
              <a:rPr lang="en-US" sz="1100" b="1" dirty="0">
                <a:solidFill>
                  <a:srgbClr val="1F2A44"/>
                </a:solidFill>
                <a:latin typeface="Arial" pitchFamily="34" charset="0"/>
                <a:ea typeface="Arial" pitchFamily="34" charset="-122"/>
                <a:cs typeface="Arial" pitchFamily="34" charset="-120"/>
              </a:rPr>
              <a:t>KERNELS</a:t>
            </a:r>
            <a:endParaRPr lang="en-US" sz="1100" dirty="0"/>
          </a:p>
        </p:txBody>
      </p:sp>
      <p:sp>
        <p:nvSpPr>
          <p:cNvPr id="30" name="Text 27"/>
          <p:cNvSpPr txBox="1"/>
          <p:nvPr/>
        </p:nvSpPr>
        <p:spPr>
          <a:xfrm>
            <a:off x="2057400" y="5422392"/>
            <a:ext cx="5486400" cy="566928"/>
          </a:xfrm>
          <a:prstGeom prst="rect">
            <a:avLst/>
          </a:prstGeom>
          <a:noFill/>
          <a:ln/>
        </p:spPr>
        <p:txBody>
          <a:bodyPr wrap="square" lIns="0" tIns="0" rIns="0" bIns="0" rtlCol="0" anchor="ctr"/>
          <a:lstStyle/>
          <a:p>
            <a:pPr indent="0" marL="0">
              <a:buNone/>
            </a:pPr>
            <a:r>
              <a:rPr lang="en-US" sz="1150" dirty="0">
                <a:solidFill>
                  <a:srgbClr val="2B2F36"/>
                </a:solidFill>
                <a:latin typeface="Calibri" pitchFamily="34" charset="0"/>
                <a:ea typeface="Calibri" pitchFamily="34" charset="-122"/>
                <a:cs typeface="Calibri" pitchFamily="34" charset="-120"/>
              </a:rPr>
              <a:t>Numba-compiled native code on all CPU cores · CUDA kernels via CuPy on the GPU · no solver library anywhere</a:t>
            </a:r>
            <a:endParaRPr lang="en-US" sz="1150" dirty="0"/>
          </a:p>
        </p:txBody>
      </p:sp>
      <p:sp>
        <p:nvSpPr>
          <p:cNvPr id="31" name="Text 28"/>
          <p:cNvSpPr txBox="1"/>
          <p:nvPr/>
        </p:nvSpPr>
        <p:spPr>
          <a:xfrm>
            <a:off x="8046720" y="1463040"/>
            <a:ext cx="3703320" cy="274320"/>
          </a:xfrm>
          <a:prstGeom prst="rect">
            <a:avLst/>
          </a:prstGeom>
          <a:noFill/>
          <a:ln/>
        </p:spPr>
        <p:txBody>
          <a:bodyPr wrap="square" lIns="0" tIns="0" rIns="0" bIns="0" rtlCol="0" anchor="ctr"/>
          <a:lstStyle/>
          <a:p>
            <a:pPr indent="0" marL="0">
              <a:buNone/>
            </a:pPr>
            <a:r>
              <a:rPr lang="en-US" sz="1100" b="1" spc="100" kern="0" dirty="0">
                <a:solidFill>
                  <a:srgbClr val="5B6770"/>
                </a:solidFill>
                <a:latin typeface="Arial" pitchFamily="34" charset="0"/>
                <a:ea typeface="Arial" pitchFamily="34" charset="-122"/>
                <a:cs typeface="Arial" pitchFamily="34" charset="-120"/>
              </a:rPr>
              <a:t>TECHNOLOGY</a:t>
            </a:r>
            <a:endParaRPr lang="en-US" sz="1100" dirty="0"/>
          </a:p>
        </p:txBody>
      </p:sp>
      <p:sp>
        <p:nvSpPr>
          <p:cNvPr id="32" name="Text 29"/>
          <p:cNvSpPr txBox="1"/>
          <p:nvPr/>
        </p:nvSpPr>
        <p:spPr>
          <a:xfrm>
            <a:off x="8046720" y="1783080"/>
            <a:ext cx="3703320" cy="1371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B2F36"/>
                </a:solidFill>
                <a:latin typeface="Calibri" pitchFamily="34" charset="0"/>
                <a:ea typeface="Calibri" pitchFamily="34" charset="-122"/>
                <a:cs typeface="Calibri" pitchFamily="34" charset="-120"/>
              </a:rPr>
              <a:t>Python 3.12 API, NumPy arrays</a:t>
            </a:r>
            <a:endParaRPr lang="en-US" sz="1200" dirty="0"/>
          </a:p>
          <a:p>
            <a:pPr marL="342900" indent="-342900">
              <a:spcAft>
                <a:spcPts val="300"/>
              </a:spcAft>
              <a:buSzPct val="100000"/>
              <a:buChar char="•"/>
            </a:pPr>
            <a:r>
              <a:rPr lang="en-US" sz="1200" dirty="0">
                <a:solidFill>
                  <a:srgbClr val="2B2F36"/>
                </a:solidFill>
                <a:latin typeface="Calibri" pitchFamily="34" charset="0"/>
                <a:ea typeface="Calibri" pitchFamily="34" charset="-122"/>
                <a:cs typeface="Calibri" pitchFamily="34" charset="-120"/>
              </a:rPr>
              <a:t>Numba: kernels compiled to native, multi-threaded code</a:t>
            </a:r>
            <a:endParaRPr lang="en-US" sz="1200" dirty="0"/>
          </a:p>
          <a:p>
            <a:pPr marL="342900" indent="-342900">
              <a:spcAft>
                <a:spcPts val="300"/>
              </a:spcAft>
              <a:buSzPct val="100000"/>
              <a:buChar char="•"/>
            </a:pPr>
            <a:r>
              <a:rPr lang="en-US" sz="1200" dirty="0">
                <a:solidFill>
                  <a:srgbClr val="2B2F36"/>
                </a:solidFill>
                <a:latin typeface="Calibri" pitchFamily="34" charset="0"/>
                <a:ea typeface="Calibri" pitchFamily="34" charset="-122"/>
                <a:cs typeface="Calibri" pitchFamily="34" charset="-120"/>
              </a:rPr>
              <a:t>CUDA through CuPy for the GPU engine</a:t>
            </a:r>
            <a:endParaRPr lang="en-US" sz="1200" dirty="0"/>
          </a:p>
          <a:p>
            <a:pPr marL="342900" indent="-342900">
              <a:spcAft>
                <a:spcPts val="300"/>
              </a:spcAft>
              <a:buSzPct val="100000"/>
              <a:buChar char="•"/>
            </a:pPr>
            <a:r>
              <a:rPr lang="en-US" sz="1200" dirty="0">
                <a:solidFill>
                  <a:srgbClr val="2B2F36"/>
                </a:solidFill>
                <a:latin typeface="Calibri" pitchFamily="34" charset="0"/>
                <a:ea typeface="Calibri" pitchFamily="34" charset="-122"/>
                <a:cs typeface="Calibri" pitchFamily="34" charset="-120"/>
              </a:rPr>
              <a:t>Apache-2.0 licence, so any PSU can adopt and extend it</a:t>
            </a:r>
            <a:endParaRPr lang="en-US" sz="1200" dirty="0"/>
          </a:p>
        </p:txBody>
      </p:sp>
      <p:sp>
        <p:nvSpPr>
          <p:cNvPr id="33" name="Text 30"/>
          <p:cNvSpPr txBox="1"/>
          <p:nvPr/>
        </p:nvSpPr>
        <p:spPr>
          <a:xfrm>
            <a:off x="8046720" y="3246120"/>
            <a:ext cx="3703320" cy="274320"/>
          </a:xfrm>
          <a:prstGeom prst="rect">
            <a:avLst/>
          </a:prstGeom>
          <a:noFill/>
          <a:ln/>
        </p:spPr>
        <p:txBody>
          <a:bodyPr wrap="square" lIns="0" tIns="0" rIns="0" bIns="0" rtlCol="0" anchor="ctr"/>
          <a:lstStyle/>
          <a:p>
            <a:pPr indent="0" marL="0">
              <a:buNone/>
            </a:pPr>
            <a:r>
              <a:rPr lang="en-US" sz="1100" b="1" spc="100" kern="0" dirty="0">
                <a:solidFill>
                  <a:srgbClr val="5B6770"/>
                </a:solidFill>
                <a:latin typeface="Arial" pitchFamily="34" charset="0"/>
                <a:ea typeface="Arial" pitchFamily="34" charset="-122"/>
                <a:cs typeface="Arial" pitchFamily="34" charset="-120"/>
              </a:rPr>
              <a:t>HOW IT IS CHECKED</a:t>
            </a:r>
            <a:endParaRPr lang="en-US" sz="1100" dirty="0"/>
          </a:p>
        </p:txBody>
      </p:sp>
      <p:sp>
        <p:nvSpPr>
          <p:cNvPr id="34" name="Text 31"/>
          <p:cNvSpPr txBox="1"/>
          <p:nvPr/>
        </p:nvSpPr>
        <p:spPr>
          <a:xfrm>
            <a:off x="8046720" y="3566160"/>
            <a:ext cx="3703320" cy="21945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B2F36"/>
                </a:solidFill>
                <a:latin typeface="Calibri" pitchFamily="34" charset="0"/>
                <a:ea typeface="Calibri" pitchFamily="34" charset="-122"/>
                <a:cs typeface="Calibri" pitchFamily="34" charset="-120"/>
              </a:rPr>
              <a:t>Netlib LP (90), MIPLIB, Mittelmann, Maros–Mészáros QP: the sets the problem statement names</a:t>
            </a:r>
            <a:endParaRPr lang="en-US" sz="1200" dirty="0"/>
          </a:p>
          <a:p>
            <a:pPr marL="342900" indent="-342900">
              <a:spcAft>
                <a:spcPts val="300"/>
              </a:spcAft>
              <a:buSzPct val="100000"/>
              <a:buChar char="•"/>
            </a:pPr>
            <a:r>
              <a:rPr lang="en-US" sz="1200" dirty="0">
                <a:solidFill>
                  <a:srgbClr val="2B2F36"/>
                </a:solidFill>
                <a:latin typeface="Calibri" pitchFamily="34" charset="0"/>
                <a:ea typeface="Calibri" pitchFamily="34" charset="-122"/>
                <a:cs typeface="Calibri" pitchFamily="34" charset="-120"/>
              </a:rPr>
              <a:t>Every instance re-solved by HiGHS as the reference; relative error and residuals logged</a:t>
            </a:r>
            <a:endParaRPr lang="en-US" sz="1200" dirty="0"/>
          </a:p>
          <a:p>
            <a:pPr marL="342900" indent="-342900">
              <a:spcAft>
                <a:spcPts val="300"/>
              </a:spcAft>
              <a:buSzPct val="100000"/>
              <a:buChar char="•"/>
            </a:pPr>
            <a:r>
              <a:rPr lang="en-US" sz="1200" dirty="0">
                <a:solidFill>
                  <a:srgbClr val="2B2F36"/>
                </a:solidFill>
                <a:latin typeface="Calibri" pitchFamily="34" charset="0"/>
                <a:ea typeface="Calibri" pitchFamily="34" charset="-122"/>
                <a:cs typeface="Calibri" pitchFamily="34" charset="-120"/>
              </a:rPr>
              <a:t>Hard cases on purpose: degenerate (DEGEN3), ill-conditioned (PILOT, GREENBEA), weak relaxations (MIPLIB)</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darsh\nirnay\deliverables\deck\tpl\ppt\media\image1.png">    </p:cNvPr>
          <p:cNvPicPr>
            <a:picLocks noChangeAspect="1"/>
          </p:cNvPicPr>
          <p:nvPr/>
        </p:nvPicPr>
        <p:blipFill>
          <a:blip r:embed="rId1"/>
          <a:stretch>
            <a:fillRect/>
          </a:stretch>
        </p:blipFill>
        <p:spPr>
          <a:xfrm>
            <a:off x="10104120" y="201168"/>
            <a:ext cx="1691640" cy="799186"/>
          </a:xfrm>
          <a:prstGeom prst="rect">
            <a:avLst/>
          </a:prstGeom>
        </p:spPr>
      </p:pic>
      <p:sp>
        <p:nvSpPr>
          <p:cNvPr id="3" name="Text 0"/>
          <p:cNvSpPr txBox="1"/>
          <p:nvPr/>
        </p:nvSpPr>
        <p:spPr>
          <a:xfrm>
            <a:off x="457200" y="274320"/>
            <a:ext cx="9418320" cy="640080"/>
          </a:xfrm>
          <a:prstGeom prst="rect">
            <a:avLst/>
          </a:prstGeom>
          <a:noFill/>
          <a:ln/>
        </p:spPr>
        <p:txBody>
          <a:bodyPr wrap="square" lIns="0" tIns="0" rIns="0" bIns="0" rtlCol="0" anchor="ctr"/>
          <a:lstStyle/>
          <a:p>
            <a:pPr indent="0" marL="0">
              <a:buNone/>
            </a:pPr>
            <a:r>
              <a:rPr lang="en-US" sz="2800" b="1" dirty="0">
                <a:solidFill>
                  <a:srgbClr val="1F2A44"/>
                </a:solidFill>
                <a:latin typeface="Arial" pitchFamily="34" charset="0"/>
                <a:ea typeface="Arial" pitchFamily="34" charset="-122"/>
                <a:cs typeface="Arial" pitchFamily="34" charset="-120"/>
              </a:rPr>
              <a:t>FEASIBILITY AND VIABILITY</a:t>
            </a:r>
            <a:endParaRPr lang="en-US" sz="2800" dirty="0"/>
          </a:p>
        </p:txBody>
      </p:sp>
      <p:sp>
        <p:nvSpPr>
          <p:cNvPr id="4" name="Text 1"/>
          <p:cNvSpPr txBox="1"/>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@SIH Idea submission  ·  Team ZeroCloud  ·  SIH26119</a:t>
            </a:r>
            <a:endParaRPr lang="en-US" sz="9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4</a:t>
            </a:r>
            <a:endParaRPr lang="en-US" sz="900" dirty="0"/>
          </a:p>
        </p:txBody>
      </p:sp>
      <p:sp>
        <p:nvSpPr>
          <p:cNvPr id="6" name="Text 3"/>
          <p:cNvSpPr txBox="1"/>
          <p:nvPr/>
        </p:nvSpPr>
        <p:spPr>
          <a:xfrm>
            <a:off x="457200" y="960120"/>
            <a:ext cx="6309360" cy="548640"/>
          </a:xfrm>
          <a:prstGeom prst="rect">
            <a:avLst/>
          </a:prstGeom>
          <a:noFill/>
          <a:ln/>
        </p:spPr>
        <p:txBody>
          <a:bodyPr wrap="square" lIns="0" tIns="0" rIns="0" bIns="0" rtlCol="0" anchor="ctr"/>
          <a:lstStyle/>
          <a:p>
            <a:pPr indent="0" marL="0">
              <a:buNone/>
            </a:pPr>
            <a:r>
              <a:rPr lang="en-US" sz="1300" dirty="0">
                <a:solidFill>
                  <a:srgbClr val="2B2F36"/>
                </a:solidFill>
                <a:latin typeface="Calibri" pitchFamily="34" charset="0"/>
                <a:ea typeface="Calibri" pitchFamily="34" charset="-122"/>
                <a:cs typeface="Calibri" pitchFamily="34" charset="-120"/>
              </a:rPr>
              <a:t>Not a plan: the core already runs. Netlib LPs solved to the known optimum (relative error &lt; 1e-6 against HiGHS):</a:t>
            </a:r>
            <a:endParaRPr lang="en-US" sz="1300" dirty="0"/>
          </a:p>
        </p:txBody>
      </p:sp>
      <p:graphicFrame>
        <p:nvGraphicFramePr>
          <p:cNvPr id="7" name="Chart 0" descr=""/>
          <p:cNvGraphicFramePr/>
          <p:nvPr/>
        </p:nvGraphicFramePr>
        <p:xfrm>
          <a:off x="457200" y="1508760"/>
          <a:ext cx="6309360" cy="29260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457200" y="4480560"/>
            <a:ext cx="6309360" cy="320040"/>
          </a:xfrm>
          <a:prstGeom prst="rect">
            <a:avLst/>
          </a:prstGeom>
          <a:noFill/>
          <a:ln/>
        </p:spPr>
        <p:txBody>
          <a:bodyPr wrap="square" lIns="0" tIns="0" rIns="0" bIns="0" rtlCol="0" anchor="ctr"/>
          <a:lstStyle/>
          <a:p>
            <a:pPr indent="0" marL="0">
              <a:buNone/>
            </a:pPr>
            <a:r>
              <a:rPr lang="en-US" sz="1050" i="1" dirty="0">
                <a:solidFill>
                  <a:srgbClr val="5B6770"/>
                </a:solidFill>
                <a:latin typeface="Calibri" pitchFamily="34" charset="0"/>
                <a:ea typeface="Calibri" pitchFamily="34" charset="-122"/>
                <a:cs typeface="Calibri" pitchFamily="34" charset="-120"/>
              </a:rPr>
              <a:t>Simplex sweep covers 87 of 90 so far. Solutions agree with HiGHS to 1e-11 to 1e-15 where solved.</a:t>
            </a:r>
            <a:endParaRPr lang="en-US" sz="1050" dirty="0"/>
          </a:p>
        </p:txBody>
      </p:sp>
      <p:sp>
        <p:nvSpPr>
          <p:cNvPr id="9" name="Text 5"/>
          <p:cNvSpPr txBox="1"/>
          <p:nvPr/>
        </p:nvSpPr>
        <p:spPr>
          <a:xfrm>
            <a:off x="457200" y="4892040"/>
            <a:ext cx="6309360" cy="274320"/>
          </a:xfrm>
          <a:prstGeom prst="rect">
            <a:avLst/>
          </a:prstGeom>
          <a:noFill/>
          <a:ln/>
        </p:spPr>
        <p:txBody>
          <a:bodyPr wrap="square" lIns="0" tIns="0" rIns="0" bIns="0" rtlCol="0" anchor="ctr"/>
          <a:lstStyle/>
          <a:p>
            <a:pPr indent="0" marL="0">
              <a:buNone/>
            </a:pPr>
            <a:r>
              <a:rPr lang="en-US" sz="1100" b="1" spc="100" kern="0" dirty="0">
                <a:solidFill>
                  <a:srgbClr val="1F2A44"/>
                </a:solidFill>
                <a:latin typeface="Arial" pitchFamily="34" charset="0"/>
                <a:ea typeface="Arial" pitchFamily="34" charset="-122"/>
                <a:cs typeface="Arial" pitchFamily="34" charset="-120"/>
              </a:rPr>
              <a:t>WHY IT IS BUILDABLE</a:t>
            </a:r>
            <a:endParaRPr lang="en-US" sz="1100" dirty="0"/>
          </a:p>
        </p:txBody>
      </p:sp>
      <p:sp>
        <p:nvSpPr>
          <p:cNvPr id="10" name="Text 6"/>
          <p:cNvSpPr txBox="1"/>
          <p:nvPr/>
        </p:nvSpPr>
        <p:spPr>
          <a:xfrm>
            <a:off x="457200" y="5212080"/>
            <a:ext cx="6309360" cy="118872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rgbClr val="2B2F36"/>
                </a:solidFill>
                <a:latin typeface="Calibri" pitchFamily="34" charset="0"/>
                <a:ea typeface="Calibri" pitchFamily="34" charset="-122"/>
                <a:cs typeface="Calibri" pitchFamily="34" charset="-120"/>
              </a:rPr>
              <a:t>Runs today on a 4 GB laptop GPU; a server GPU only makes the large LPs faster.</a:t>
            </a:r>
            <a:endParaRPr lang="en-US" sz="1150" dirty="0"/>
          </a:p>
          <a:p>
            <a:pPr marL="342900" indent="-342900">
              <a:spcAft>
                <a:spcPts val="200"/>
              </a:spcAft>
              <a:buSzPct val="100000"/>
              <a:buChar char="•"/>
            </a:pPr>
            <a:r>
              <a:rPr lang="en-US" sz="1150" dirty="0">
                <a:solidFill>
                  <a:srgbClr val="2B2F36"/>
                </a:solidFill>
                <a:latin typeface="Calibri" pitchFamily="34" charset="0"/>
                <a:ea typeface="Calibri" pitchFamily="34" charset="-122"/>
                <a:cs typeface="Calibri" pitchFamily="34" charset="-120"/>
              </a:rPr>
              <a:t>Algorithms are fifty years of published, well-documented mathematics; we implement them, we do not invent them.</a:t>
            </a:r>
            <a:endParaRPr lang="en-US" sz="1150" dirty="0"/>
          </a:p>
          <a:p>
            <a:pPr marL="342900" indent="-342900">
              <a:spcAft>
                <a:spcPts val="200"/>
              </a:spcAft>
              <a:buSzPct val="100000"/>
              <a:buChar char="•"/>
            </a:pPr>
            <a:r>
              <a:rPr lang="en-US" sz="1150" dirty="0">
                <a:solidFill>
                  <a:srgbClr val="2B2F36"/>
                </a:solidFill>
                <a:latin typeface="Calibri" pitchFamily="34" charset="0"/>
                <a:ea typeface="Calibri" pitchFamily="34" charset="-122"/>
                <a:cs typeface="Calibri" pitchFamily="34" charset="-120"/>
              </a:rPr>
              <a:t>Team skills (Python, systems, DevOps) map onto the kernel and benchmark work directly.</a:t>
            </a:r>
            <a:endParaRPr lang="en-US" sz="1150" dirty="0"/>
          </a:p>
        </p:txBody>
      </p:sp>
      <p:sp>
        <p:nvSpPr>
          <p:cNvPr id="11" name="Text 7"/>
          <p:cNvSpPr txBox="1"/>
          <p:nvPr/>
        </p:nvSpPr>
        <p:spPr>
          <a:xfrm>
            <a:off x="7178040" y="1097280"/>
            <a:ext cx="4572000" cy="274320"/>
          </a:xfrm>
          <a:prstGeom prst="rect">
            <a:avLst/>
          </a:prstGeom>
          <a:noFill/>
          <a:ln/>
        </p:spPr>
        <p:txBody>
          <a:bodyPr wrap="square" lIns="0" tIns="0" rIns="0" bIns="0" rtlCol="0" anchor="ctr"/>
          <a:lstStyle/>
          <a:p>
            <a:pPr indent="0" marL="0">
              <a:buNone/>
            </a:pPr>
            <a:r>
              <a:rPr lang="en-US" sz="1100" b="1" spc="100" kern="0" dirty="0">
                <a:solidFill>
                  <a:srgbClr val="1F2A44"/>
                </a:solidFill>
                <a:latin typeface="Arial" pitchFamily="34" charset="0"/>
                <a:ea typeface="Arial" pitchFamily="34" charset="-122"/>
                <a:cs typeface="Arial" pitchFamily="34" charset="-120"/>
              </a:rPr>
              <a:t>RISKS AND HOW WE RETIRE THEM</a:t>
            </a:r>
            <a:endParaRPr lang="en-US" sz="1100" dirty="0"/>
          </a:p>
        </p:txBody>
      </p:sp>
      <p:sp>
        <p:nvSpPr>
          <p:cNvPr id="12" name="Shape 8"/>
          <p:cNvSpPr/>
          <p:nvPr/>
        </p:nvSpPr>
        <p:spPr>
          <a:xfrm>
            <a:off x="7178040" y="1463040"/>
            <a:ext cx="4572000" cy="868680"/>
          </a:xfrm>
          <a:prstGeom prst="rect">
            <a:avLst/>
          </a:prstGeom>
          <a:solidFill>
            <a:srgbClr val="F2F4F7"/>
          </a:solidFill>
          <a:ln w="12700">
            <a:solidFill>
              <a:srgbClr val="F2F4F7"/>
            </a:solidFill>
            <a:prstDash val="solid"/>
          </a:ln>
        </p:spPr>
      </p:sp>
      <p:sp>
        <p:nvSpPr>
          <p:cNvPr id="13" name="Text 9"/>
          <p:cNvSpPr txBox="1"/>
          <p:nvPr/>
        </p:nvSpPr>
        <p:spPr>
          <a:xfrm>
            <a:off x="7315200" y="1527048"/>
            <a:ext cx="4297680" cy="292608"/>
          </a:xfrm>
          <a:prstGeom prst="rect">
            <a:avLst/>
          </a:prstGeom>
          <a:noFill/>
          <a:ln/>
        </p:spPr>
        <p:txBody>
          <a:bodyPr wrap="square" lIns="0" tIns="0" rIns="0" bIns="0" rtlCol="0" anchor="ctr"/>
          <a:lstStyle/>
          <a:p>
            <a:pPr indent="0" marL="0">
              <a:buNone/>
            </a:pPr>
            <a:r>
              <a:rPr lang="en-US" sz="1200" b="1" dirty="0">
                <a:solidFill>
                  <a:srgbClr val="1F2A44"/>
                </a:solidFill>
                <a:latin typeface="Calibri" pitchFamily="34" charset="0"/>
                <a:ea typeface="Calibri" pitchFamily="34" charset="-122"/>
                <a:cs typeface="Calibri" pitchFamily="34" charset="-120"/>
              </a:rPr>
              <a:t>Hard MIPLIB instances time out</a:t>
            </a:r>
            <a:endParaRPr lang="en-US" sz="1200" dirty="0"/>
          </a:p>
        </p:txBody>
      </p:sp>
      <p:sp>
        <p:nvSpPr>
          <p:cNvPr id="14" name="Text 10"/>
          <p:cNvSpPr txBox="1"/>
          <p:nvPr/>
        </p:nvSpPr>
        <p:spPr>
          <a:xfrm>
            <a:off x="7315200" y="1828800"/>
            <a:ext cx="4297680" cy="45720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Report proven gap, not just failure; cuts and heuristics close the gap step by step, measured per release</a:t>
            </a:r>
            <a:endParaRPr lang="en-US" sz="1050" dirty="0"/>
          </a:p>
        </p:txBody>
      </p:sp>
      <p:sp>
        <p:nvSpPr>
          <p:cNvPr id="15" name="Shape 11"/>
          <p:cNvSpPr/>
          <p:nvPr/>
        </p:nvSpPr>
        <p:spPr>
          <a:xfrm>
            <a:off x="7178040" y="2423160"/>
            <a:ext cx="4572000" cy="868680"/>
          </a:xfrm>
          <a:prstGeom prst="rect">
            <a:avLst/>
          </a:prstGeom>
          <a:solidFill>
            <a:srgbClr val="F2F4F7"/>
          </a:solidFill>
          <a:ln w="12700">
            <a:solidFill>
              <a:srgbClr val="F2F4F7"/>
            </a:solidFill>
            <a:prstDash val="solid"/>
          </a:ln>
        </p:spPr>
      </p:sp>
      <p:sp>
        <p:nvSpPr>
          <p:cNvPr id="16" name="Text 12"/>
          <p:cNvSpPr txBox="1"/>
          <p:nvPr/>
        </p:nvSpPr>
        <p:spPr>
          <a:xfrm>
            <a:off x="7315200" y="2487168"/>
            <a:ext cx="4297680" cy="292608"/>
          </a:xfrm>
          <a:prstGeom prst="rect">
            <a:avLst/>
          </a:prstGeom>
          <a:noFill/>
          <a:ln/>
        </p:spPr>
        <p:txBody>
          <a:bodyPr wrap="square" lIns="0" tIns="0" rIns="0" bIns="0" rtlCol="0" anchor="ctr"/>
          <a:lstStyle/>
          <a:p>
            <a:pPr indent="0" marL="0">
              <a:buNone/>
            </a:pPr>
            <a:r>
              <a:rPr lang="en-US" sz="1200" b="1" dirty="0">
                <a:solidFill>
                  <a:srgbClr val="1F2A44"/>
                </a:solidFill>
                <a:latin typeface="Calibri" pitchFamily="34" charset="0"/>
                <a:ea typeface="Calibri" pitchFamily="34" charset="-122"/>
                <a:cs typeface="Calibri" pitchFamily="34" charset="-120"/>
              </a:rPr>
              <a:t>Python slower than C++ solvers</a:t>
            </a:r>
            <a:endParaRPr lang="en-US" sz="1200" dirty="0"/>
          </a:p>
        </p:txBody>
      </p:sp>
      <p:sp>
        <p:nvSpPr>
          <p:cNvPr id="17" name="Text 13"/>
          <p:cNvSpPr txBox="1"/>
          <p:nvPr/>
        </p:nvSpPr>
        <p:spPr>
          <a:xfrm>
            <a:off x="7315200" y="2788920"/>
            <a:ext cx="4297680" cy="45720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Hot loops are Numba-compiled native code; the kernel boundary is clean enough to port to C++ later</a:t>
            </a:r>
            <a:endParaRPr lang="en-US" sz="1050" dirty="0"/>
          </a:p>
        </p:txBody>
      </p:sp>
      <p:sp>
        <p:nvSpPr>
          <p:cNvPr id="18" name="Shape 14"/>
          <p:cNvSpPr/>
          <p:nvPr/>
        </p:nvSpPr>
        <p:spPr>
          <a:xfrm>
            <a:off x="7178040" y="3383280"/>
            <a:ext cx="4572000" cy="868680"/>
          </a:xfrm>
          <a:prstGeom prst="rect">
            <a:avLst/>
          </a:prstGeom>
          <a:solidFill>
            <a:srgbClr val="F2F4F7"/>
          </a:solidFill>
          <a:ln w="12700">
            <a:solidFill>
              <a:srgbClr val="F2F4F7"/>
            </a:solidFill>
            <a:prstDash val="solid"/>
          </a:ln>
        </p:spPr>
      </p:sp>
      <p:sp>
        <p:nvSpPr>
          <p:cNvPr id="19" name="Text 15"/>
          <p:cNvSpPr txBox="1"/>
          <p:nvPr/>
        </p:nvSpPr>
        <p:spPr>
          <a:xfrm>
            <a:off x="7315200" y="3447288"/>
            <a:ext cx="4297680" cy="292608"/>
          </a:xfrm>
          <a:prstGeom prst="rect">
            <a:avLst/>
          </a:prstGeom>
          <a:noFill/>
          <a:ln/>
        </p:spPr>
        <p:txBody>
          <a:bodyPr wrap="square" lIns="0" tIns="0" rIns="0" bIns="0" rtlCol="0" anchor="ctr"/>
          <a:lstStyle/>
          <a:p>
            <a:pPr indent="0" marL="0">
              <a:buNone/>
            </a:pPr>
            <a:r>
              <a:rPr lang="en-US" sz="1200" b="1" dirty="0">
                <a:solidFill>
                  <a:srgbClr val="1F2A44"/>
                </a:solidFill>
                <a:latin typeface="Calibri" pitchFamily="34" charset="0"/>
                <a:ea typeface="Calibri" pitchFamily="34" charset="-122"/>
                <a:cs typeface="Calibri" pitchFamily="34" charset="-120"/>
              </a:rPr>
              <a:t>Numerical breakdown on bad models</a:t>
            </a:r>
            <a:endParaRPr lang="en-US" sz="1200" dirty="0"/>
          </a:p>
        </p:txBody>
      </p:sp>
      <p:sp>
        <p:nvSpPr>
          <p:cNvPr id="20" name="Text 16"/>
          <p:cNvSpPr txBox="1"/>
          <p:nvPr/>
        </p:nvSpPr>
        <p:spPr>
          <a:xfrm>
            <a:off x="7315200" y="3749040"/>
            <a:ext cx="4297680" cy="45720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Three engines as fallbacks for each other; scaling, perturbation, basis repair, stall detection</a:t>
            </a:r>
            <a:endParaRPr lang="en-US" sz="1050" dirty="0"/>
          </a:p>
        </p:txBody>
      </p:sp>
      <p:sp>
        <p:nvSpPr>
          <p:cNvPr id="21" name="Shape 17"/>
          <p:cNvSpPr/>
          <p:nvPr/>
        </p:nvSpPr>
        <p:spPr>
          <a:xfrm>
            <a:off x="7178040" y="4343400"/>
            <a:ext cx="4572000" cy="868680"/>
          </a:xfrm>
          <a:prstGeom prst="rect">
            <a:avLst/>
          </a:prstGeom>
          <a:solidFill>
            <a:srgbClr val="F2F4F7"/>
          </a:solidFill>
          <a:ln w="12700">
            <a:solidFill>
              <a:srgbClr val="F2F4F7"/>
            </a:solidFill>
            <a:prstDash val="solid"/>
          </a:ln>
        </p:spPr>
      </p:sp>
      <p:sp>
        <p:nvSpPr>
          <p:cNvPr id="22" name="Text 18"/>
          <p:cNvSpPr txBox="1"/>
          <p:nvPr/>
        </p:nvSpPr>
        <p:spPr>
          <a:xfrm>
            <a:off x="7315200" y="4407408"/>
            <a:ext cx="4297680" cy="292608"/>
          </a:xfrm>
          <a:prstGeom prst="rect">
            <a:avLst/>
          </a:prstGeom>
          <a:noFill/>
          <a:ln/>
        </p:spPr>
        <p:txBody>
          <a:bodyPr wrap="square" lIns="0" tIns="0" rIns="0" bIns="0" rtlCol="0" anchor="ctr"/>
          <a:lstStyle/>
          <a:p>
            <a:pPr indent="0" marL="0">
              <a:buNone/>
            </a:pPr>
            <a:r>
              <a:rPr lang="en-US" sz="1200" b="1" dirty="0">
                <a:solidFill>
                  <a:srgbClr val="1F2A44"/>
                </a:solidFill>
                <a:latin typeface="Calibri" pitchFamily="34" charset="0"/>
                <a:ea typeface="Calibri" pitchFamily="34" charset="-122"/>
                <a:cs typeface="Calibri" pitchFamily="34" charset="-120"/>
              </a:rPr>
              <a:t>GPU not always available</a:t>
            </a:r>
            <a:endParaRPr lang="en-US" sz="1200" dirty="0"/>
          </a:p>
        </p:txBody>
      </p:sp>
      <p:sp>
        <p:nvSpPr>
          <p:cNvPr id="23" name="Text 19"/>
          <p:cNvSpPr txBox="1"/>
          <p:nvPr/>
        </p:nvSpPr>
        <p:spPr>
          <a:xfrm>
            <a:off x="7315200" y="4709160"/>
            <a:ext cx="4297680" cy="45720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PDLP runs on CPU with the same code path; GPU is an accelerator, never a requirement</a:t>
            </a:r>
            <a:endParaRPr lang="en-US" sz="1050" dirty="0"/>
          </a:p>
        </p:txBody>
      </p:sp>
      <p:sp>
        <p:nvSpPr>
          <p:cNvPr id="24" name="Shape 20"/>
          <p:cNvSpPr/>
          <p:nvPr/>
        </p:nvSpPr>
        <p:spPr>
          <a:xfrm>
            <a:off x="7178040" y="5303520"/>
            <a:ext cx="4572000" cy="868680"/>
          </a:xfrm>
          <a:prstGeom prst="rect">
            <a:avLst/>
          </a:prstGeom>
          <a:solidFill>
            <a:srgbClr val="F2F4F7"/>
          </a:solidFill>
          <a:ln w="12700">
            <a:solidFill>
              <a:srgbClr val="F2F4F7"/>
            </a:solidFill>
            <a:prstDash val="solid"/>
          </a:ln>
        </p:spPr>
      </p:sp>
      <p:sp>
        <p:nvSpPr>
          <p:cNvPr id="25" name="Text 21"/>
          <p:cNvSpPr txBox="1"/>
          <p:nvPr/>
        </p:nvSpPr>
        <p:spPr>
          <a:xfrm>
            <a:off x="7315200" y="5367528"/>
            <a:ext cx="4297680" cy="292608"/>
          </a:xfrm>
          <a:prstGeom prst="rect">
            <a:avLst/>
          </a:prstGeom>
          <a:noFill/>
          <a:ln/>
        </p:spPr>
        <p:txBody>
          <a:bodyPr wrap="square" lIns="0" tIns="0" rIns="0" bIns="0" rtlCol="0" anchor="ctr"/>
          <a:lstStyle/>
          <a:p>
            <a:pPr indent="0" marL="0">
              <a:buNone/>
            </a:pPr>
            <a:r>
              <a:rPr lang="en-US" sz="1200" b="1" dirty="0">
                <a:solidFill>
                  <a:srgbClr val="1F2A44"/>
                </a:solidFill>
                <a:latin typeface="Calibri" pitchFamily="34" charset="0"/>
                <a:ea typeface="Calibri" pitchFamily="34" charset="-122"/>
                <a:cs typeface="Calibri" pitchFamily="34" charset="-120"/>
              </a:rPr>
              <a:t>Claims a jury cannot check</a:t>
            </a:r>
            <a:endParaRPr lang="en-US" sz="1200" dirty="0"/>
          </a:p>
        </p:txBody>
      </p:sp>
      <p:sp>
        <p:nvSpPr>
          <p:cNvPr id="26" name="Text 22"/>
          <p:cNvSpPr txBox="1"/>
          <p:nvPr/>
        </p:nvSpPr>
        <p:spPr>
          <a:xfrm>
            <a:off x="7315200" y="5669280"/>
            <a:ext cx="4297680" cy="457200"/>
          </a:xfrm>
          <a:prstGeom prst="rect">
            <a:avLst/>
          </a:prstGeom>
          <a:noFill/>
          <a:ln/>
        </p:spPr>
        <p:txBody>
          <a:bodyPr wrap="square" lIns="0" tIns="0" rIns="0" bIns="0" rtlCol="0" anchor="t"/>
          <a:lstStyle/>
          <a:p>
            <a:pPr indent="0" marL="0">
              <a:buNone/>
            </a:pPr>
            <a:r>
              <a:rPr lang="en-US" sz="1050" dirty="0">
                <a:solidFill>
                  <a:srgbClr val="2B2F36"/>
                </a:solidFill>
                <a:latin typeface="Calibri" pitchFamily="34" charset="0"/>
                <a:ea typeface="Calibri" pitchFamily="34" charset="-122"/>
                <a:cs typeface="Calibri" pitchFamily="34" charset="-120"/>
              </a:rPr>
              <a:t>Every number regenerates from one script against HiGHS on public benchmark files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darsh\nirnay\deliverables\deck\tpl\ppt\media\image1.png">    </p:cNvPr>
          <p:cNvPicPr>
            <a:picLocks noChangeAspect="1"/>
          </p:cNvPicPr>
          <p:nvPr/>
        </p:nvPicPr>
        <p:blipFill>
          <a:blip r:embed="rId1"/>
          <a:stretch>
            <a:fillRect/>
          </a:stretch>
        </p:blipFill>
        <p:spPr>
          <a:xfrm>
            <a:off x="10104120" y="201168"/>
            <a:ext cx="1691640" cy="799186"/>
          </a:xfrm>
          <a:prstGeom prst="rect">
            <a:avLst/>
          </a:prstGeom>
        </p:spPr>
      </p:pic>
      <p:sp>
        <p:nvSpPr>
          <p:cNvPr id="3" name="Text 0"/>
          <p:cNvSpPr txBox="1"/>
          <p:nvPr/>
        </p:nvSpPr>
        <p:spPr>
          <a:xfrm>
            <a:off x="457200" y="274320"/>
            <a:ext cx="9418320" cy="640080"/>
          </a:xfrm>
          <a:prstGeom prst="rect">
            <a:avLst/>
          </a:prstGeom>
          <a:noFill/>
          <a:ln/>
        </p:spPr>
        <p:txBody>
          <a:bodyPr wrap="square" lIns="0" tIns="0" rIns="0" bIns="0" rtlCol="0" anchor="ctr"/>
          <a:lstStyle/>
          <a:p>
            <a:pPr indent="0" marL="0">
              <a:buNone/>
            </a:pPr>
            <a:r>
              <a:rPr lang="en-US" sz="2800" b="1" dirty="0">
                <a:solidFill>
                  <a:srgbClr val="1F2A44"/>
                </a:solidFill>
                <a:latin typeface="Arial" pitchFamily="34" charset="0"/>
                <a:ea typeface="Arial" pitchFamily="34" charset="-122"/>
                <a:cs typeface="Arial" pitchFamily="34" charset="-120"/>
              </a:rPr>
              <a:t>IMPACT AND BENEFITS</a:t>
            </a:r>
            <a:endParaRPr lang="en-US" sz="2800" dirty="0"/>
          </a:p>
        </p:txBody>
      </p:sp>
      <p:sp>
        <p:nvSpPr>
          <p:cNvPr id="4" name="Text 1"/>
          <p:cNvSpPr txBox="1"/>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@SIH Idea submission  ·  Team ZeroCloud  ·  SIH26119</a:t>
            </a:r>
            <a:endParaRPr lang="en-US" sz="9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5</a:t>
            </a:r>
            <a:endParaRPr lang="en-US" sz="900" dirty="0"/>
          </a:p>
        </p:txBody>
      </p:sp>
      <p:sp>
        <p:nvSpPr>
          <p:cNvPr id="6" name="Text 3"/>
          <p:cNvSpPr txBox="1"/>
          <p:nvPr/>
        </p:nvSpPr>
        <p:spPr>
          <a:xfrm>
            <a:off x="457200" y="960120"/>
            <a:ext cx="9418320" cy="548640"/>
          </a:xfrm>
          <a:prstGeom prst="rect">
            <a:avLst/>
          </a:prstGeom>
          <a:noFill/>
          <a:ln/>
        </p:spPr>
        <p:txBody>
          <a:bodyPr wrap="square" lIns="0" tIns="0" rIns="0" bIns="0" rtlCol="0" anchor="ctr"/>
          <a:lstStyle/>
          <a:p>
            <a:pPr indent="0" marL="0">
              <a:buNone/>
            </a:pPr>
            <a:r>
              <a:rPr lang="en-US" sz="1400" i="1" dirty="0">
                <a:solidFill>
                  <a:srgbClr val="5B6770"/>
                </a:solidFill>
                <a:latin typeface="Calibri" pitchFamily="34" charset="0"/>
                <a:ea typeface="Calibri" pitchFamily="34" charset="-122"/>
                <a:cs typeface="Calibri" pitchFamily="34" charset="-120"/>
              </a:rPr>
              <a:t>Every refinery plan, crude blend, schedule and dispatch decision sits on an optimisation solver. Owning that layer is owning the decision.</a:t>
            </a:r>
            <a:endParaRPr lang="en-US" sz="1400" dirty="0"/>
          </a:p>
        </p:txBody>
      </p:sp>
      <p:sp>
        <p:nvSpPr>
          <p:cNvPr id="7" name="Shape 4"/>
          <p:cNvSpPr/>
          <p:nvPr/>
        </p:nvSpPr>
        <p:spPr>
          <a:xfrm>
            <a:off x="457200" y="1691640"/>
            <a:ext cx="3639312" cy="2148840"/>
          </a:xfrm>
          <a:prstGeom prst="rect">
            <a:avLst/>
          </a:prstGeom>
          <a:solidFill>
            <a:srgbClr val="F2F4F7"/>
          </a:solidFill>
          <a:ln w="12700">
            <a:solidFill>
              <a:srgbClr val="F2F4F7"/>
            </a:solidFill>
            <a:prstDash val="solid"/>
          </a:ln>
        </p:spPr>
      </p:sp>
      <p:sp>
        <p:nvSpPr>
          <p:cNvPr id="8" name="Shape 5"/>
          <p:cNvSpPr/>
          <p:nvPr/>
        </p:nvSpPr>
        <p:spPr>
          <a:xfrm>
            <a:off x="658368" y="1920240"/>
            <a:ext cx="457200" cy="457200"/>
          </a:xfrm>
          <a:prstGeom prst="ellipse">
            <a:avLst/>
          </a:prstGeom>
          <a:solidFill>
            <a:srgbClr val="1F2A44"/>
          </a:solidFill>
          <a:ln w="12700">
            <a:solidFill>
              <a:srgbClr val="1F2A44"/>
            </a:solidFill>
            <a:prstDash val="solid"/>
          </a:ln>
        </p:spPr>
      </p:sp>
      <p:sp>
        <p:nvSpPr>
          <p:cNvPr id="9" name="Text 6"/>
          <p:cNvSpPr txBox="1"/>
          <p:nvPr/>
        </p:nvSpPr>
        <p:spPr>
          <a:xfrm>
            <a:off x="658368"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txBox="1"/>
          <p:nvPr/>
        </p:nvSpPr>
        <p:spPr>
          <a:xfrm>
            <a:off x="1234440" y="1920240"/>
            <a:ext cx="2743200" cy="457200"/>
          </a:xfrm>
          <a:prstGeom prst="rect">
            <a:avLst/>
          </a:prstGeom>
          <a:noFill/>
          <a:ln/>
        </p:spPr>
        <p:txBody>
          <a:bodyPr wrap="square" lIns="0" tIns="0" rIns="0" bIns="0" rtlCol="0" anchor="ctr"/>
          <a:lstStyle/>
          <a:p>
            <a:pPr indent="0" marL="0">
              <a:buNone/>
            </a:pPr>
            <a:r>
              <a:rPr lang="en-US" sz="1450" b="1" dirty="0">
                <a:solidFill>
                  <a:srgbClr val="1F2A44"/>
                </a:solidFill>
                <a:latin typeface="Arial" pitchFamily="34" charset="0"/>
                <a:ea typeface="Arial" pitchFamily="34" charset="-122"/>
                <a:cs typeface="Arial" pitchFamily="34" charset="-120"/>
              </a:rPr>
              <a:t>Strategic</a:t>
            </a:r>
            <a:endParaRPr lang="en-US" sz="1450" dirty="0"/>
          </a:p>
        </p:txBody>
      </p:sp>
      <p:sp>
        <p:nvSpPr>
          <p:cNvPr id="11" name="Text 8"/>
          <p:cNvSpPr txBox="1"/>
          <p:nvPr/>
        </p:nvSpPr>
        <p:spPr>
          <a:xfrm>
            <a:off x="658368" y="2514600"/>
            <a:ext cx="3291840" cy="1234440"/>
          </a:xfrm>
          <a:prstGeom prst="rect">
            <a:avLst/>
          </a:prstGeom>
          <a:noFill/>
          <a:ln/>
        </p:spPr>
        <p:txBody>
          <a:bodyPr wrap="square" lIns="0" tIns="0" rIns="0" bIns="0" rtlCol="0" anchor="t"/>
          <a:lstStyle/>
          <a:p>
            <a:pPr indent="0" marL="0">
              <a:buNone/>
            </a:pPr>
            <a:r>
              <a:rPr lang="en-US" sz="1150" dirty="0">
                <a:solidFill>
                  <a:srgbClr val="2B2F36"/>
                </a:solidFill>
                <a:latin typeface="Calibri" pitchFamily="34" charset="0"/>
                <a:ea typeface="Calibri" pitchFamily="34" charset="-122"/>
                <a:cs typeface="Calibri" pitchFamily="34" charset="-120"/>
              </a:rPr>
              <a:t>A decision engine for critical energy infrastructure whose every line is readable and changeable in India. China took this route with COPT; India has no equivalent yet.</a:t>
            </a:r>
            <a:endParaRPr lang="en-US" sz="1150" dirty="0"/>
          </a:p>
        </p:txBody>
      </p:sp>
      <p:sp>
        <p:nvSpPr>
          <p:cNvPr id="12" name="Shape 9"/>
          <p:cNvSpPr/>
          <p:nvPr/>
        </p:nvSpPr>
        <p:spPr>
          <a:xfrm>
            <a:off x="4279392" y="1691640"/>
            <a:ext cx="3639312" cy="2148840"/>
          </a:xfrm>
          <a:prstGeom prst="rect">
            <a:avLst/>
          </a:prstGeom>
          <a:solidFill>
            <a:srgbClr val="F2F4F7"/>
          </a:solidFill>
          <a:ln w="12700">
            <a:solidFill>
              <a:srgbClr val="F2F4F7"/>
            </a:solidFill>
            <a:prstDash val="solid"/>
          </a:ln>
        </p:spPr>
      </p:sp>
      <p:sp>
        <p:nvSpPr>
          <p:cNvPr id="13" name="Shape 10"/>
          <p:cNvSpPr/>
          <p:nvPr/>
        </p:nvSpPr>
        <p:spPr>
          <a:xfrm>
            <a:off x="4480560" y="1920240"/>
            <a:ext cx="457200" cy="457200"/>
          </a:xfrm>
          <a:prstGeom prst="ellipse">
            <a:avLst/>
          </a:prstGeom>
          <a:solidFill>
            <a:srgbClr val="E8702A"/>
          </a:solidFill>
          <a:ln w="12700">
            <a:solidFill>
              <a:srgbClr val="E8702A"/>
            </a:solidFill>
            <a:prstDash val="solid"/>
          </a:ln>
        </p:spPr>
      </p:sp>
      <p:sp>
        <p:nvSpPr>
          <p:cNvPr id="14" name="Text 11"/>
          <p:cNvSpPr txBox="1"/>
          <p:nvPr/>
        </p:nvSpPr>
        <p:spPr>
          <a:xfrm>
            <a:off x="448056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2"/>
          <p:cNvSpPr txBox="1"/>
          <p:nvPr/>
        </p:nvSpPr>
        <p:spPr>
          <a:xfrm>
            <a:off x="5056632" y="1920240"/>
            <a:ext cx="2743200" cy="457200"/>
          </a:xfrm>
          <a:prstGeom prst="rect">
            <a:avLst/>
          </a:prstGeom>
          <a:noFill/>
          <a:ln/>
        </p:spPr>
        <p:txBody>
          <a:bodyPr wrap="square" lIns="0" tIns="0" rIns="0" bIns="0" rtlCol="0" anchor="ctr"/>
          <a:lstStyle/>
          <a:p>
            <a:pPr indent="0" marL="0">
              <a:buNone/>
            </a:pPr>
            <a:r>
              <a:rPr lang="en-US" sz="1450" b="1" dirty="0">
                <a:solidFill>
                  <a:srgbClr val="1F2A44"/>
                </a:solidFill>
                <a:latin typeface="Arial" pitchFamily="34" charset="0"/>
                <a:ea typeface="Arial" pitchFamily="34" charset="-122"/>
                <a:cs typeface="Arial" pitchFamily="34" charset="-120"/>
              </a:rPr>
              <a:t>Economic</a:t>
            </a:r>
            <a:endParaRPr lang="en-US" sz="1450" dirty="0"/>
          </a:p>
        </p:txBody>
      </p:sp>
      <p:sp>
        <p:nvSpPr>
          <p:cNvPr id="16" name="Text 13"/>
          <p:cNvSpPr txBox="1"/>
          <p:nvPr/>
        </p:nvSpPr>
        <p:spPr>
          <a:xfrm>
            <a:off x="4480560" y="2514600"/>
            <a:ext cx="3291840" cy="1234440"/>
          </a:xfrm>
          <a:prstGeom prst="rect">
            <a:avLst/>
          </a:prstGeom>
          <a:noFill/>
          <a:ln/>
        </p:spPr>
        <p:txBody>
          <a:bodyPr wrap="square" lIns="0" tIns="0" rIns="0" bIns="0" rtlCol="0" anchor="t"/>
          <a:lstStyle/>
          <a:p>
            <a:pPr indent="0" marL="0">
              <a:buNone/>
            </a:pPr>
            <a:r>
              <a:rPr lang="en-US" sz="1150" dirty="0">
                <a:solidFill>
                  <a:srgbClr val="2B2F36"/>
                </a:solidFill>
                <a:latin typeface="Calibri" pitchFamily="34" charset="0"/>
                <a:ea typeface="Calibri" pitchFamily="34" charset="-122"/>
                <a:cs typeface="Calibri" pitchFamily="34" charset="-120"/>
              </a:rPr>
              <a:t>Commercial solvers cost recurring licence fees: IBM lists CPLEX developer subscriptions from US$320 per user per month; deployment prices are not published at all.</a:t>
            </a:r>
            <a:endParaRPr lang="en-US" sz="1150" dirty="0"/>
          </a:p>
        </p:txBody>
      </p:sp>
      <p:sp>
        <p:nvSpPr>
          <p:cNvPr id="17" name="Shape 14"/>
          <p:cNvSpPr/>
          <p:nvPr/>
        </p:nvSpPr>
        <p:spPr>
          <a:xfrm>
            <a:off x="8101584" y="1691640"/>
            <a:ext cx="3639312" cy="2148840"/>
          </a:xfrm>
          <a:prstGeom prst="rect">
            <a:avLst/>
          </a:prstGeom>
          <a:solidFill>
            <a:srgbClr val="F2F4F7"/>
          </a:solidFill>
          <a:ln w="12700">
            <a:solidFill>
              <a:srgbClr val="F2F4F7"/>
            </a:solidFill>
            <a:prstDash val="solid"/>
          </a:ln>
        </p:spPr>
      </p:sp>
      <p:sp>
        <p:nvSpPr>
          <p:cNvPr id="18" name="Shape 15"/>
          <p:cNvSpPr/>
          <p:nvPr/>
        </p:nvSpPr>
        <p:spPr>
          <a:xfrm>
            <a:off x="8302752" y="1920240"/>
            <a:ext cx="457200" cy="457200"/>
          </a:xfrm>
          <a:prstGeom prst="ellipse">
            <a:avLst/>
          </a:prstGeom>
          <a:solidFill>
            <a:srgbClr val="1E8C45"/>
          </a:solidFill>
          <a:ln w="12700">
            <a:solidFill>
              <a:srgbClr val="1E8C45"/>
            </a:solidFill>
            <a:prstDash val="solid"/>
          </a:ln>
        </p:spPr>
      </p:sp>
      <p:sp>
        <p:nvSpPr>
          <p:cNvPr id="19" name="Text 16"/>
          <p:cNvSpPr txBox="1"/>
          <p:nvPr/>
        </p:nvSpPr>
        <p:spPr>
          <a:xfrm>
            <a:off x="8302752"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txBox="1"/>
          <p:nvPr/>
        </p:nvSpPr>
        <p:spPr>
          <a:xfrm>
            <a:off x="8878824" y="1920240"/>
            <a:ext cx="2743200" cy="457200"/>
          </a:xfrm>
          <a:prstGeom prst="rect">
            <a:avLst/>
          </a:prstGeom>
          <a:noFill/>
          <a:ln/>
        </p:spPr>
        <p:txBody>
          <a:bodyPr wrap="square" lIns="0" tIns="0" rIns="0" bIns="0" rtlCol="0" anchor="ctr"/>
          <a:lstStyle/>
          <a:p>
            <a:pPr indent="0" marL="0">
              <a:buNone/>
            </a:pPr>
            <a:r>
              <a:rPr lang="en-US" sz="1450" b="1" dirty="0">
                <a:solidFill>
                  <a:srgbClr val="1F2A44"/>
                </a:solidFill>
                <a:latin typeface="Arial" pitchFamily="34" charset="0"/>
                <a:ea typeface="Arial" pitchFamily="34" charset="-122"/>
                <a:cs typeface="Arial" pitchFamily="34" charset="-120"/>
              </a:rPr>
              <a:t>Operational (MRPL)</a:t>
            </a:r>
            <a:endParaRPr lang="en-US" sz="1450" dirty="0"/>
          </a:p>
        </p:txBody>
      </p:sp>
      <p:sp>
        <p:nvSpPr>
          <p:cNvPr id="21" name="Text 18"/>
          <p:cNvSpPr txBox="1"/>
          <p:nvPr/>
        </p:nvSpPr>
        <p:spPr>
          <a:xfrm>
            <a:off x="8302752" y="2514600"/>
            <a:ext cx="3291840" cy="1234440"/>
          </a:xfrm>
          <a:prstGeom prst="rect">
            <a:avLst/>
          </a:prstGeom>
          <a:noFill/>
          <a:ln/>
        </p:spPr>
        <p:txBody>
          <a:bodyPr wrap="square" lIns="0" tIns="0" rIns="0" bIns="0" rtlCol="0" anchor="t"/>
          <a:lstStyle/>
          <a:p>
            <a:pPr indent="0" marL="0">
              <a:buNone/>
            </a:pPr>
            <a:r>
              <a:rPr lang="en-US" sz="1150" dirty="0">
                <a:solidFill>
                  <a:srgbClr val="2B2F36"/>
                </a:solidFill>
                <a:latin typeface="Calibri" pitchFamily="34" charset="0"/>
                <a:ea typeface="Calibri" pitchFamily="34" charset="-122"/>
                <a:cs typeface="Calibri" pitchFamily="34" charset="-120"/>
              </a:rPr>
              <a:t>Crude selection and blending LPs, unit scheduling MILPs, power and steam dispatch: the models MRPL already runs, solved on hardware it owns.</a:t>
            </a:r>
            <a:endParaRPr lang="en-US" sz="1150" dirty="0"/>
          </a:p>
        </p:txBody>
      </p:sp>
      <p:sp>
        <p:nvSpPr>
          <p:cNvPr id="22" name="Shape 19"/>
          <p:cNvSpPr/>
          <p:nvPr/>
        </p:nvSpPr>
        <p:spPr>
          <a:xfrm>
            <a:off x="457200" y="4023360"/>
            <a:ext cx="3639312" cy="2148840"/>
          </a:xfrm>
          <a:prstGeom prst="rect">
            <a:avLst/>
          </a:prstGeom>
          <a:solidFill>
            <a:srgbClr val="F2F4F7"/>
          </a:solidFill>
          <a:ln w="12700">
            <a:solidFill>
              <a:srgbClr val="F2F4F7"/>
            </a:solidFill>
            <a:prstDash val="solid"/>
          </a:ln>
        </p:spPr>
      </p:sp>
      <p:sp>
        <p:nvSpPr>
          <p:cNvPr id="23" name="Shape 20"/>
          <p:cNvSpPr/>
          <p:nvPr/>
        </p:nvSpPr>
        <p:spPr>
          <a:xfrm>
            <a:off x="658368" y="4251960"/>
            <a:ext cx="457200" cy="457200"/>
          </a:xfrm>
          <a:prstGeom prst="ellipse">
            <a:avLst/>
          </a:prstGeom>
          <a:solidFill>
            <a:srgbClr val="1F2A44"/>
          </a:solidFill>
          <a:ln w="12700">
            <a:solidFill>
              <a:srgbClr val="1F2A44"/>
            </a:solidFill>
            <a:prstDash val="solid"/>
          </a:ln>
        </p:spPr>
      </p:sp>
      <p:sp>
        <p:nvSpPr>
          <p:cNvPr id="24" name="Text 21"/>
          <p:cNvSpPr txBox="1"/>
          <p:nvPr/>
        </p:nvSpPr>
        <p:spPr>
          <a:xfrm>
            <a:off x="658368" y="4251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2"/>
          <p:cNvSpPr txBox="1"/>
          <p:nvPr/>
        </p:nvSpPr>
        <p:spPr>
          <a:xfrm>
            <a:off x="1234440" y="4251960"/>
            <a:ext cx="2743200" cy="457200"/>
          </a:xfrm>
          <a:prstGeom prst="rect">
            <a:avLst/>
          </a:prstGeom>
          <a:noFill/>
          <a:ln/>
        </p:spPr>
        <p:txBody>
          <a:bodyPr wrap="square" lIns="0" tIns="0" rIns="0" bIns="0" rtlCol="0" anchor="ctr"/>
          <a:lstStyle/>
          <a:p>
            <a:pPr indent="0" marL="0">
              <a:buNone/>
            </a:pPr>
            <a:r>
              <a:rPr lang="en-US" sz="1450" b="1" dirty="0">
                <a:solidFill>
                  <a:srgbClr val="1F2A44"/>
                </a:solidFill>
                <a:latin typeface="Arial" pitchFamily="34" charset="0"/>
                <a:ea typeface="Arial" pitchFamily="34" charset="-122"/>
                <a:cs typeface="Arial" pitchFamily="34" charset="-120"/>
              </a:rPr>
              <a:t>Transparency</a:t>
            </a:r>
            <a:endParaRPr lang="en-US" sz="1450" dirty="0"/>
          </a:p>
        </p:txBody>
      </p:sp>
      <p:sp>
        <p:nvSpPr>
          <p:cNvPr id="26" name="Text 23"/>
          <p:cNvSpPr txBox="1"/>
          <p:nvPr/>
        </p:nvSpPr>
        <p:spPr>
          <a:xfrm>
            <a:off x="658368" y="4846320"/>
            <a:ext cx="3291840" cy="1234440"/>
          </a:xfrm>
          <a:prstGeom prst="rect">
            <a:avLst/>
          </a:prstGeom>
          <a:noFill/>
          <a:ln/>
        </p:spPr>
        <p:txBody>
          <a:bodyPr wrap="square" lIns="0" tIns="0" rIns="0" bIns="0" rtlCol="0" anchor="t"/>
          <a:lstStyle/>
          <a:p>
            <a:pPr indent="0" marL="0">
              <a:buNone/>
            </a:pPr>
            <a:r>
              <a:rPr lang="en-US" sz="1150" dirty="0">
                <a:solidFill>
                  <a:srgbClr val="2B2F36"/>
                </a:solidFill>
                <a:latin typeface="Calibri" pitchFamily="34" charset="0"/>
                <a:ea typeface="Calibri" pitchFamily="34" charset="-122"/>
                <a:cs typeface="Calibri" pitchFamily="34" charset="-120"/>
              </a:rPr>
              <a:t>Every pivot, factorisation and cut is inspectable. Tolerances and heuristics can be tuned to Indian refinery models instead of generic benchmarks.</a:t>
            </a:r>
            <a:endParaRPr lang="en-US" sz="1150" dirty="0"/>
          </a:p>
        </p:txBody>
      </p:sp>
      <p:sp>
        <p:nvSpPr>
          <p:cNvPr id="27" name="Shape 24"/>
          <p:cNvSpPr/>
          <p:nvPr/>
        </p:nvSpPr>
        <p:spPr>
          <a:xfrm>
            <a:off x="4279392" y="4023360"/>
            <a:ext cx="3639312" cy="2148840"/>
          </a:xfrm>
          <a:prstGeom prst="rect">
            <a:avLst/>
          </a:prstGeom>
          <a:solidFill>
            <a:srgbClr val="F2F4F7"/>
          </a:solidFill>
          <a:ln w="12700">
            <a:solidFill>
              <a:srgbClr val="F2F4F7"/>
            </a:solidFill>
            <a:prstDash val="solid"/>
          </a:ln>
        </p:spPr>
      </p:sp>
      <p:sp>
        <p:nvSpPr>
          <p:cNvPr id="28" name="Shape 25"/>
          <p:cNvSpPr/>
          <p:nvPr/>
        </p:nvSpPr>
        <p:spPr>
          <a:xfrm>
            <a:off x="4480560" y="4251960"/>
            <a:ext cx="457200" cy="457200"/>
          </a:xfrm>
          <a:prstGeom prst="ellipse">
            <a:avLst/>
          </a:prstGeom>
          <a:solidFill>
            <a:srgbClr val="E8702A"/>
          </a:solidFill>
          <a:ln w="12700">
            <a:solidFill>
              <a:srgbClr val="E8702A"/>
            </a:solidFill>
            <a:prstDash val="solid"/>
          </a:ln>
        </p:spPr>
      </p:sp>
      <p:sp>
        <p:nvSpPr>
          <p:cNvPr id="29" name="Text 26"/>
          <p:cNvSpPr txBox="1"/>
          <p:nvPr/>
        </p:nvSpPr>
        <p:spPr>
          <a:xfrm>
            <a:off x="4480560" y="4251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7"/>
          <p:cNvSpPr txBox="1"/>
          <p:nvPr/>
        </p:nvSpPr>
        <p:spPr>
          <a:xfrm>
            <a:off x="5056632" y="4251960"/>
            <a:ext cx="2743200" cy="457200"/>
          </a:xfrm>
          <a:prstGeom prst="rect">
            <a:avLst/>
          </a:prstGeom>
          <a:noFill/>
          <a:ln/>
        </p:spPr>
        <p:txBody>
          <a:bodyPr wrap="square" lIns="0" tIns="0" rIns="0" bIns="0" rtlCol="0" anchor="ctr"/>
          <a:lstStyle/>
          <a:p>
            <a:pPr indent="0" marL="0">
              <a:buNone/>
            </a:pPr>
            <a:r>
              <a:rPr lang="en-US" sz="1450" b="1" dirty="0">
                <a:solidFill>
                  <a:srgbClr val="1F2A44"/>
                </a:solidFill>
                <a:latin typeface="Arial" pitchFamily="34" charset="0"/>
                <a:ea typeface="Arial" pitchFamily="34" charset="-122"/>
                <a:cs typeface="Arial" pitchFamily="34" charset="-120"/>
              </a:rPr>
              <a:t>Performance headroom</a:t>
            </a:r>
            <a:endParaRPr lang="en-US" sz="1450" dirty="0"/>
          </a:p>
        </p:txBody>
      </p:sp>
      <p:sp>
        <p:nvSpPr>
          <p:cNvPr id="31" name="Text 28"/>
          <p:cNvSpPr txBox="1"/>
          <p:nvPr/>
        </p:nvSpPr>
        <p:spPr>
          <a:xfrm>
            <a:off x="4480560" y="4846320"/>
            <a:ext cx="3291840" cy="1234440"/>
          </a:xfrm>
          <a:prstGeom prst="rect">
            <a:avLst/>
          </a:prstGeom>
          <a:noFill/>
          <a:ln/>
        </p:spPr>
        <p:txBody>
          <a:bodyPr wrap="square" lIns="0" tIns="0" rIns="0" bIns="0" rtlCol="0" anchor="t"/>
          <a:lstStyle/>
          <a:p>
            <a:pPr indent="0" marL="0">
              <a:buNone/>
            </a:pPr>
            <a:r>
              <a:rPr lang="en-US" sz="1150" dirty="0">
                <a:solidFill>
                  <a:srgbClr val="2B2F36"/>
                </a:solidFill>
                <a:latin typeface="Calibri" pitchFamily="34" charset="0"/>
                <a:ea typeface="Calibri" pitchFamily="34" charset="-122"/>
                <a:cs typeface="Calibri" pitchFamily="34" charset="-120"/>
              </a:rPr>
              <a:t>The GPU engine uses only matrix-vector products: large planning LPs speed up on commodity GPUs as the hardware improves.</a:t>
            </a:r>
            <a:endParaRPr lang="en-US" sz="1150" dirty="0"/>
          </a:p>
        </p:txBody>
      </p:sp>
      <p:sp>
        <p:nvSpPr>
          <p:cNvPr id="32" name="Shape 29"/>
          <p:cNvSpPr/>
          <p:nvPr/>
        </p:nvSpPr>
        <p:spPr>
          <a:xfrm>
            <a:off x="8101584" y="4023360"/>
            <a:ext cx="3639312" cy="2148840"/>
          </a:xfrm>
          <a:prstGeom prst="rect">
            <a:avLst/>
          </a:prstGeom>
          <a:solidFill>
            <a:srgbClr val="F2F4F7"/>
          </a:solidFill>
          <a:ln w="12700">
            <a:solidFill>
              <a:srgbClr val="F2F4F7"/>
            </a:solidFill>
            <a:prstDash val="solid"/>
          </a:ln>
        </p:spPr>
      </p:sp>
      <p:sp>
        <p:nvSpPr>
          <p:cNvPr id="33" name="Shape 30"/>
          <p:cNvSpPr/>
          <p:nvPr/>
        </p:nvSpPr>
        <p:spPr>
          <a:xfrm>
            <a:off x="8302752" y="4251960"/>
            <a:ext cx="457200" cy="457200"/>
          </a:xfrm>
          <a:prstGeom prst="ellipse">
            <a:avLst/>
          </a:prstGeom>
          <a:solidFill>
            <a:srgbClr val="1E8C45"/>
          </a:solidFill>
          <a:ln w="12700">
            <a:solidFill>
              <a:srgbClr val="1E8C45"/>
            </a:solidFill>
            <a:prstDash val="solid"/>
          </a:ln>
        </p:spPr>
      </p:sp>
      <p:sp>
        <p:nvSpPr>
          <p:cNvPr id="34" name="Text 31"/>
          <p:cNvSpPr txBox="1"/>
          <p:nvPr/>
        </p:nvSpPr>
        <p:spPr>
          <a:xfrm>
            <a:off x="8302752" y="4251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5" name="Text 32"/>
          <p:cNvSpPr txBox="1"/>
          <p:nvPr/>
        </p:nvSpPr>
        <p:spPr>
          <a:xfrm>
            <a:off x="8878824" y="4251960"/>
            <a:ext cx="2743200" cy="457200"/>
          </a:xfrm>
          <a:prstGeom prst="rect">
            <a:avLst/>
          </a:prstGeom>
          <a:noFill/>
          <a:ln/>
        </p:spPr>
        <p:txBody>
          <a:bodyPr wrap="square" lIns="0" tIns="0" rIns="0" bIns="0" rtlCol="0" anchor="ctr"/>
          <a:lstStyle/>
          <a:p>
            <a:pPr indent="0" marL="0">
              <a:buNone/>
            </a:pPr>
            <a:r>
              <a:rPr lang="en-US" sz="1450" b="1" dirty="0">
                <a:solidFill>
                  <a:srgbClr val="1F2A44"/>
                </a:solidFill>
                <a:latin typeface="Arial" pitchFamily="34" charset="0"/>
                <a:ea typeface="Arial" pitchFamily="34" charset="-122"/>
                <a:cs typeface="Arial" pitchFamily="34" charset="-120"/>
              </a:rPr>
              <a:t>Ecosystem</a:t>
            </a:r>
            <a:endParaRPr lang="en-US" sz="1450" dirty="0"/>
          </a:p>
        </p:txBody>
      </p:sp>
      <p:sp>
        <p:nvSpPr>
          <p:cNvPr id="36" name="Text 33"/>
          <p:cNvSpPr txBox="1"/>
          <p:nvPr/>
        </p:nvSpPr>
        <p:spPr>
          <a:xfrm>
            <a:off x="8302752" y="4846320"/>
            <a:ext cx="3291840" cy="1234440"/>
          </a:xfrm>
          <a:prstGeom prst="rect">
            <a:avLst/>
          </a:prstGeom>
          <a:noFill/>
          <a:ln/>
        </p:spPr>
        <p:txBody>
          <a:bodyPr wrap="square" lIns="0" tIns="0" rIns="0" bIns="0" rtlCol="0" anchor="t"/>
          <a:lstStyle/>
          <a:p>
            <a:pPr indent="0" marL="0">
              <a:buNone/>
            </a:pPr>
            <a:r>
              <a:rPr lang="en-US" sz="1150" dirty="0">
                <a:solidFill>
                  <a:srgbClr val="2B2F36"/>
                </a:solidFill>
                <a:latin typeface="Calibri" pitchFamily="34" charset="0"/>
                <a:ea typeface="Calibri" pitchFamily="34" charset="-122"/>
                <a:cs typeface="Calibri" pitchFamily="34" charset="-120"/>
              </a:rPr>
              <a:t>An Apache-2.0 base that PSUs, IITs and Indian start-ups can build on: modelling layers, domain heuristics, new problem classes (MIQP, MINLP).</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darsh\nirnay\deliverables\deck\tpl\ppt\media\image1.png">    </p:cNvPr>
          <p:cNvPicPr>
            <a:picLocks noChangeAspect="1"/>
          </p:cNvPicPr>
          <p:nvPr/>
        </p:nvPicPr>
        <p:blipFill>
          <a:blip r:embed="rId1"/>
          <a:stretch>
            <a:fillRect/>
          </a:stretch>
        </p:blipFill>
        <p:spPr>
          <a:xfrm>
            <a:off x="10104120" y="201168"/>
            <a:ext cx="1691640" cy="799186"/>
          </a:xfrm>
          <a:prstGeom prst="rect">
            <a:avLst/>
          </a:prstGeom>
        </p:spPr>
      </p:pic>
      <p:sp>
        <p:nvSpPr>
          <p:cNvPr id="3" name="Text 0"/>
          <p:cNvSpPr txBox="1"/>
          <p:nvPr/>
        </p:nvSpPr>
        <p:spPr>
          <a:xfrm>
            <a:off x="457200" y="274320"/>
            <a:ext cx="9418320" cy="640080"/>
          </a:xfrm>
          <a:prstGeom prst="rect">
            <a:avLst/>
          </a:prstGeom>
          <a:noFill/>
          <a:ln/>
        </p:spPr>
        <p:txBody>
          <a:bodyPr wrap="square" lIns="0" tIns="0" rIns="0" bIns="0" rtlCol="0" anchor="ctr"/>
          <a:lstStyle/>
          <a:p>
            <a:pPr indent="0" marL="0">
              <a:buNone/>
            </a:pPr>
            <a:r>
              <a:rPr lang="en-US" sz="2800" b="1" dirty="0">
                <a:solidFill>
                  <a:srgbClr val="1F2A44"/>
                </a:solidFill>
                <a:latin typeface="Arial" pitchFamily="34" charset="0"/>
                <a:ea typeface="Arial" pitchFamily="34" charset="-122"/>
                <a:cs typeface="Arial" pitchFamily="34" charset="-120"/>
              </a:rPr>
              <a:t>RESEARCH AND REFERENCES</a:t>
            </a:r>
            <a:endParaRPr lang="en-US" sz="2800" dirty="0"/>
          </a:p>
        </p:txBody>
      </p:sp>
      <p:sp>
        <p:nvSpPr>
          <p:cNvPr id="4" name="Text 1"/>
          <p:cNvSpPr txBox="1"/>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5B6770"/>
                </a:solidFill>
                <a:latin typeface="Calibri" pitchFamily="34" charset="0"/>
                <a:ea typeface="Calibri" pitchFamily="34" charset="-122"/>
                <a:cs typeface="Calibri" pitchFamily="34" charset="-120"/>
              </a:rPr>
              <a:t>@SIH Idea submission  ·  Team ZeroCloud  ·  SIH26119</a:t>
            </a:r>
            <a:endParaRPr lang="en-US" sz="9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5B6770"/>
                </a:solidFill>
                <a:latin typeface="Calibri" pitchFamily="34" charset="0"/>
                <a:ea typeface="Calibri" pitchFamily="34" charset="-122"/>
                <a:cs typeface="Calibri" pitchFamily="34" charset="-120"/>
              </a:rPr>
              <a:t>6</a:t>
            </a:r>
            <a:endParaRPr lang="en-US" sz="900" dirty="0"/>
          </a:p>
        </p:txBody>
      </p:sp>
      <p:sp>
        <p:nvSpPr>
          <p:cNvPr id="6" name="Text 3"/>
          <p:cNvSpPr txBox="1"/>
          <p:nvPr/>
        </p:nvSpPr>
        <p:spPr>
          <a:xfrm>
            <a:off x="457200" y="960120"/>
            <a:ext cx="9418320" cy="365760"/>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Primary sources only. Each maps onto a component we have implemented or are implementing.</a:t>
            </a:r>
            <a:endParaRPr lang="en-US" sz="1300" dirty="0"/>
          </a:p>
        </p:txBody>
      </p:sp>
      <p:sp>
        <p:nvSpPr>
          <p:cNvPr id="7" name="Text 4"/>
          <p:cNvSpPr txBox="1"/>
          <p:nvPr/>
        </p:nvSpPr>
        <p:spPr>
          <a:xfrm>
            <a:off x="457200" y="1463040"/>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Interior point</a:t>
            </a:r>
            <a:endParaRPr lang="en-US" sz="1150" dirty="0"/>
          </a:p>
        </p:txBody>
      </p:sp>
      <p:sp>
        <p:nvSpPr>
          <p:cNvPr id="8" name="Text 5"/>
          <p:cNvSpPr txBox="1"/>
          <p:nvPr/>
        </p:nvSpPr>
        <p:spPr>
          <a:xfrm>
            <a:off x="2057400" y="1463040"/>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Mehrotra, SIAM J. Optim. 2(4), 1992 — doi:10.1137/0802028</a:t>
            </a:r>
            <a:endParaRPr lang="en-US" sz="1100" dirty="0"/>
          </a:p>
        </p:txBody>
      </p:sp>
      <p:sp>
        <p:nvSpPr>
          <p:cNvPr id="9" name="Text 6"/>
          <p:cNvSpPr txBox="1"/>
          <p:nvPr/>
        </p:nvSpPr>
        <p:spPr>
          <a:xfrm>
            <a:off x="457200" y="2249424"/>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Dual simplex</a:t>
            </a:r>
            <a:endParaRPr lang="en-US" sz="1150" dirty="0"/>
          </a:p>
        </p:txBody>
      </p:sp>
      <p:sp>
        <p:nvSpPr>
          <p:cNvPr id="10" name="Text 7"/>
          <p:cNvSpPr txBox="1"/>
          <p:nvPr/>
        </p:nvSpPr>
        <p:spPr>
          <a:xfrm>
            <a:off x="2057400" y="2249424"/>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Koberstein, PhD thesis, Univ. Paderborn, 2005; Forrest &amp; Goldfarb, Math. Prog. 57, 1992 — doi:10.1007/BF01581089</a:t>
            </a:r>
            <a:endParaRPr lang="en-US" sz="1100" dirty="0"/>
          </a:p>
        </p:txBody>
      </p:sp>
      <p:sp>
        <p:nvSpPr>
          <p:cNvPr id="11" name="Text 8"/>
          <p:cNvSpPr txBox="1"/>
          <p:nvPr/>
        </p:nvSpPr>
        <p:spPr>
          <a:xfrm>
            <a:off x="457200" y="3035808"/>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Ratio tests</a:t>
            </a:r>
            <a:endParaRPr lang="en-US" sz="1150" dirty="0"/>
          </a:p>
        </p:txBody>
      </p:sp>
      <p:sp>
        <p:nvSpPr>
          <p:cNvPr id="12" name="Text 9"/>
          <p:cNvSpPr txBox="1"/>
          <p:nvPr/>
        </p:nvSpPr>
        <p:spPr>
          <a:xfrm>
            <a:off x="2057400" y="3035808"/>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Harris, Math. Prog. 5, 1973 — doi:10.1007/BF01580108; Maros, EJOR 149, 2003 (bound flipping)</a:t>
            </a:r>
            <a:endParaRPr lang="en-US" sz="1100" dirty="0"/>
          </a:p>
        </p:txBody>
      </p:sp>
      <p:sp>
        <p:nvSpPr>
          <p:cNvPr id="13" name="Text 10"/>
          <p:cNvSpPr txBox="1"/>
          <p:nvPr/>
        </p:nvSpPr>
        <p:spPr>
          <a:xfrm>
            <a:off x="457200" y="3822192"/>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Sparse LU</a:t>
            </a:r>
            <a:endParaRPr lang="en-US" sz="1150" dirty="0"/>
          </a:p>
        </p:txBody>
      </p:sp>
      <p:sp>
        <p:nvSpPr>
          <p:cNvPr id="14" name="Text 11"/>
          <p:cNvSpPr txBox="1"/>
          <p:nvPr/>
        </p:nvSpPr>
        <p:spPr>
          <a:xfrm>
            <a:off x="2057400" y="3822192"/>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Gilbert &amp; Peierls, SIAM J. Sci. Stat. Comput. 9(5), 1988 — doi:10.1137/0909058</a:t>
            </a:r>
            <a:endParaRPr lang="en-US" sz="1100" dirty="0"/>
          </a:p>
        </p:txBody>
      </p:sp>
      <p:sp>
        <p:nvSpPr>
          <p:cNvPr id="15" name="Text 12"/>
          <p:cNvSpPr txBox="1"/>
          <p:nvPr/>
        </p:nvSpPr>
        <p:spPr>
          <a:xfrm>
            <a:off x="457200" y="4608576"/>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Orderings</a:t>
            </a:r>
            <a:endParaRPr lang="en-US" sz="1150" dirty="0"/>
          </a:p>
        </p:txBody>
      </p:sp>
      <p:sp>
        <p:nvSpPr>
          <p:cNvPr id="16" name="Text 13"/>
          <p:cNvSpPr txBox="1"/>
          <p:nvPr/>
        </p:nvSpPr>
        <p:spPr>
          <a:xfrm>
            <a:off x="2057400" y="4608576"/>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Amestoy, Davis &amp; Duff, SIAM J. Matrix Anal. Appl. 17(4), 1996 — doi:10.1137/S0895479894278952</a:t>
            </a:r>
            <a:endParaRPr lang="en-US" sz="1100" dirty="0"/>
          </a:p>
        </p:txBody>
      </p:sp>
      <p:sp>
        <p:nvSpPr>
          <p:cNvPr id="17" name="Text 14"/>
          <p:cNvSpPr txBox="1"/>
          <p:nvPr/>
        </p:nvSpPr>
        <p:spPr>
          <a:xfrm>
            <a:off x="457200" y="5394960"/>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Presolve</a:t>
            </a:r>
            <a:endParaRPr lang="en-US" sz="1150" dirty="0"/>
          </a:p>
        </p:txBody>
      </p:sp>
      <p:sp>
        <p:nvSpPr>
          <p:cNvPr id="18" name="Text 15"/>
          <p:cNvSpPr txBox="1"/>
          <p:nvPr/>
        </p:nvSpPr>
        <p:spPr>
          <a:xfrm>
            <a:off x="2057400" y="5394960"/>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Andersen &amp; Andersen, Math. Prog. 71, 1995 — doi:10.1007/BF01586000</a:t>
            </a:r>
            <a:endParaRPr lang="en-US" sz="1100" dirty="0"/>
          </a:p>
        </p:txBody>
      </p:sp>
      <p:sp>
        <p:nvSpPr>
          <p:cNvPr id="19" name="Text 16"/>
          <p:cNvSpPr txBox="1"/>
          <p:nvPr/>
        </p:nvSpPr>
        <p:spPr>
          <a:xfrm>
            <a:off x="6263640" y="1463040"/>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PDLP</a:t>
            </a:r>
            <a:endParaRPr lang="en-US" sz="1150" dirty="0"/>
          </a:p>
        </p:txBody>
      </p:sp>
      <p:sp>
        <p:nvSpPr>
          <p:cNvPr id="20" name="Text 17"/>
          <p:cNvSpPr txBox="1"/>
          <p:nvPr/>
        </p:nvSpPr>
        <p:spPr>
          <a:xfrm>
            <a:off x="7863840" y="1463040"/>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Applegate et al., NeurIPS 2021 — arXiv:2106.04756; Math. Prog. Comp. 2026 — doi:10.1007/s12532-026-00309-2</a:t>
            </a:r>
            <a:endParaRPr lang="en-US" sz="1100" dirty="0"/>
          </a:p>
        </p:txBody>
      </p:sp>
      <p:sp>
        <p:nvSpPr>
          <p:cNvPr id="21" name="Text 18"/>
          <p:cNvSpPr txBox="1"/>
          <p:nvPr/>
        </p:nvSpPr>
        <p:spPr>
          <a:xfrm>
            <a:off x="6263640" y="2249424"/>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GPU LP</a:t>
            </a:r>
            <a:endParaRPr lang="en-US" sz="1150" dirty="0"/>
          </a:p>
        </p:txBody>
      </p:sp>
      <p:sp>
        <p:nvSpPr>
          <p:cNvPr id="22" name="Text 19"/>
          <p:cNvSpPr txBox="1"/>
          <p:nvPr/>
        </p:nvSpPr>
        <p:spPr>
          <a:xfrm>
            <a:off x="7863840" y="2249424"/>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Lu &amp; Yang, cuPDLP, Operations Research 73, 2025 — doi:10.1287/opre.2024.1069</a:t>
            </a:r>
            <a:endParaRPr lang="en-US" sz="1100" dirty="0"/>
          </a:p>
        </p:txBody>
      </p:sp>
      <p:sp>
        <p:nvSpPr>
          <p:cNvPr id="23" name="Text 20"/>
          <p:cNvSpPr txBox="1"/>
          <p:nvPr/>
        </p:nvSpPr>
        <p:spPr>
          <a:xfrm>
            <a:off x="6263640" y="3035808"/>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MILP</a:t>
            </a:r>
            <a:endParaRPr lang="en-US" sz="1150" dirty="0"/>
          </a:p>
        </p:txBody>
      </p:sp>
      <p:sp>
        <p:nvSpPr>
          <p:cNvPr id="24" name="Text 21"/>
          <p:cNvSpPr txBox="1"/>
          <p:nvPr/>
        </p:nvSpPr>
        <p:spPr>
          <a:xfrm>
            <a:off x="7863840" y="3035808"/>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Achterberg, Koch &amp; Martin, reliability branching, ORL 33, 2005 — doi:10.1016/j.orl.2004.04.002</a:t>
            </a:r>
            <a:endParaRPr lang="en-US" sz="1100" dirty="0"/>
          </a:p>
        </p:txBody>
      </p:sp>
      <p:sp>
        <p:nvSpPr>
          <p:cNvPr id="25" name="Text 22"/>
          <p:cNvSpPr txBox="1"/>
          <p:nvPr/>
        </p:nvSpPr>
        <p:spPr>
          <a:xfrm>
            <a:off x="6263640" y="3822192"/>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Cuts</a:t>
            </a:r>
            <a:endParaRPr lang="en-US" sz="1150" dirty="0"/>
          </a:p>
        </p:txBody>
      </p:sp>
      <p:sp>
        <p:nvSpPr>
          <p:cNvPr id="26" name="Text 23"/>
          <p:cNvSpPr txBox="1"/>
          <p:nvPr/>
        </p:nvSpPr>
        <p:spPr>
          <a:xfrm>
            <a:off x="7863840" y="3822192"/>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Balas, Ceria, Cornuéjols &amp; Natraj, 'Gomory cuts revisited', ORL 19, 1996</a:t>
            </a:r>
            <a:endParaRPr lang="en-US" sz="1100" dirty="0"/>
          </a:p>
        </p:txBody>
      </p:sp>
      <p:sp>
        <p:nvSpPr>
          <p:cNvPr id="27" name="Text 24"/>
          <p:cNvSpPr txBox="1"/>
          <p:nvPr/>
        </p:nvSpPr>
        <p:spPr>
          <a:xfrm>
            <a:off x="6263640" y="4608576"/>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Benchmarks</a:t>
            </a:r>
            <a:endParaRPr lang="en-US" sz="1150" dirty="0"/>
          </a:p>
        </p:txBody>
      </p:sp>
      <p:sp>
        <p:nvSpPr>
          <p:cNvPr id="28" name="Text 25"/>
          <p:cNvSpPr txBox="1"/>
          <p:nvPr/>
        </p:nvSpPr>
        <p:spPr>
          <a:xfrm>
            <a:off x="7863840" y="4608576"/>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MIPLIB 2017: Gleixner et al., Math. Prog. Comp. 13, 2021; exact Netlib optima: Koch, ORL 32, 2004</a:t>
            </a:r>
            <a:endParaRPr lang="en-US" sz="1100" dirty="0"/>
          </a:p>
        </p:txBody>
      </p:sp>
      <p:sp>
        <p:nvSpPr>
          <p:cNvPr id="29" name="Text 26"/>
          <p:cNvSpPr txBox="1"/>
          <p:nvPr/>
        </p:nvSpPr>
        <p:spPr>
          <a:xfrm>
            <a:off x="6263640" y="5394960"/>
            <a:ext cx="1554480" cy="685800"/>
          </a:xfrm>
          <a:prstGeom prst="rect">
            <a:avLst/>
          </a:prstGeom>
          <a:noFill/>
          <a:ln/>
        </p:spPr>
        <p:txBody>
          <a:bodyPr wrap="square" lIns="0" tIns="0" rIns="0" bIns="0" rtlCol="0" anchor="t"/>
          <a:lstStyle/>
          <a:p>
            <a:pPr indent="0" marL="0">
              <a:buNone/>
            </a:pPr>
            <a:r>
              <a:rPr lang="en-US" sz="1150" b="1" dirty="0">
                <a:solidFill>
                  <a:srgbClr val="E8702A"/>
                </a:solidFill>
                <a:latin typeface="Arial" pitchFamily="34" charset="0"/>
                <a:ea typeface="Arial" pitchFamily="34" charset="-122"/>
                <a:cs typeface="Arial" pitchFamily="34" charset="-120"/>
              </a:rPr>
              <a:t>QP</a:t>
            </a:r>
            <a:endParaRPr lang="en-US" sz="1150" dirty="0"/>
          </a:p>
        </p:txBody>
      </p:sp>
      <p:sp>
        <p:nvSpPr>
          <p:cNvPr id="30" name="Text 27"/>
          <p:cNvSpPr txBox="1"/>
          <p:nvPr/>
        </p:nvSpPr>
        <p:spPr>
          <a:xfrm>
            <a:off x="7863840" y="5394960"/>
            <a:ext cx="4023360" cy="685800"/>
          </a:xfrm>
          <a:prstGeom prst="rect">
            <a:avLst/>
          </a:prstGeom>
          <a:noFill/>
          <a:ln/>
        </p:spPr>
        <p:txBody>
          <a:bodyPr wrap="square" lIns="0" tIns="0" rIns="0" bIns="0" rtlCol="0" anchor="t"/>
          <a:lstStyle/>
          <a:p>
            <a:pPr indent="0" marL="0">
              <a:buNone/>
            </a:pPr>
            <a:r>
              <a:rPr lang="en-US" sz="1100" dirty="0">
                <a:solidFill>
                  <a:srgbClr val="2B2F36"/>
                </a:solidFill>
                <a:latin typeface="Calibri" pitchFamily="34" charset="0"/>
                <a:ea typeface="Calibri" pitchFamily="34" charset="-122"/>
                <a:cs typeface="Calibri" pitchFamily="34" charset="-120"/>
              </a:rPr>
              <a:t>Maros &amp; Mészáros, Optim. Methods Softw. 11, 1999 — doi:10.1080/10556789908805768</a:t>
            </a:r>
            <a:endParaRPr lang="en-US" sz="1100" dirty="0"/>
          </a:p>
        </p:txBody>
      </p:sp>
      <p:sp>
        <p:nvSpPr>
          <p:cNvPr id="31" name="Text 28"/>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950" dirty="0">
                <a:solidFill>
                  <a:srgbClr val="5B6770"/>
                </a:solidFill>
                <a:latin typeface="Calibri" pitchFamily="34" charset="0"/>
                <a:ea typeface="Calibri" pitchFamily="34" charset="-122"/>
                <a:cs typeface="Calibri" pitchFamily="34" charset="-120"/>
              </a:rPr>
              <a:t>Comparators used only in the benchmark harness, never inside the solver: HiGHS 1.15 (MIT), SCIP, OR-Tools. Benchmark data: Netlib via COIN-OR mirror, MIPLIB 3 / 2017 (miplib.zib.de).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SIH26119 — NIRNAY, a sovereign optimisation solver</dc:title>
  <dc:subject>PptxGenJS Presentation</dc:subject>
  <dc:creator>Team ZeroCloud</dc:creator>
  <cp:lastModifiedBy>Team ZeroCloud</cp:lastModifiedBy>
  <cp:revision>1</cp:revision>
  <dcterms:created xsi:type="dcterms:W3CDTF">2026-09-29T19:13:17Z</dcterms:created>
  <dcterms:modified xsi:type="dcterms:W3CDTF">2026-09-29T19:13:17Z</dcterms:modified>
</cp:coreProperties>
</file>