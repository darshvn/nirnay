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4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A44"/>
                </a:solidFill>
                <a:latin typeface="Arial"/>
              </a:rPr>
              <a:t>Problems solved to the reference optimum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NIRNAY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2F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Netlib LP (90)</c:v>
                  </c:pt>
                  <c:pt idx="1">
                    <c:v>MIPLIB 3, 60 s (64)</c:v>
                  </c:pt>
                  <c:pt idx="2">
                    <c:v>Maros–Mészáros QP (138)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51.6</c:v>
                </c:pt>
                <c:pt idx="2">
                  <c:v>87.7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Reference (HiGHS / Clarabel)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2F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Netlib LP (90)</c:v>
                  </c:pt>
                  <c:pt idx="1">
                    <c:v>MIPLIB 3, 60 s (64)</c:v>
                  </c:pt>
                  <c:pt idx="2">
                    <c:v>Maros–Mészáros QP (138)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73.4</c:v>
                </c:pt>
                <c:pt idx="2">
                  <c:v>88.4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2B2F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2F3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(20s). We are Team ZeroCloud, on problem statement SIH26119 from MRPL: an indigenous optimisation solver.
The title is copied exactly as the portal lists it, including its spelling of Xpress and CPLEX.
One line: every refinery plan, blend and schedule in India runs on a handful of foreign solvers nobody here can inspect. We are writing the engine itself, from the mathematics up, and it already solves the standard benchmarks.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IDEA (60s). Start from the dependency, not the code: every refinery plan and blend in India runs through CPLEX, Gurobi or Xpress. Recurring cost, and nobody here can see inside.
Then the proof it is real: our dual simplex solves all 90 of the 90 Netlib LPs to the known optimum, branch-and-bound proves 33 of 64 MIPLIB 3 problems optimal in 60 seconds, and the QP interior point solves 121 of 138 Maros–Mészáros QPs. No solver library is inside; the LU, Cholesky and LDLᵀ factorisations are ours.
If asked about speed: on Netlib the dual simplex is 3.7x slower than HiGHS in shifted geometric mean; the kernels are compiled but the iteration loop is still Python, and that is the next piece of work.
Land the four claims briefly. Spend the time on the first: we do not pick one algorithm, we ship three, because simplex, interior point and GPU PDLP each win on different problems, and a sovereign solver must not be weak where MRPL's models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APPROACH (75s). Walk the stack top to bottom, one sentence each.
The point to land: the problem statement forbids building on an existing solver, so the three places where solvers usually borrow code are the ones we wrote ourselves: the sparse LU under the simplex, the sparse Cholesky under the interior point, and the orderings that keep both sparse.
Then why three LP engines: simplex gives an exact vertex and warm starts, which branch-and-bound needs; interior point is the most reliable on big sparse LPs; PDLP needs only matrix-vector products, which is exactly what a GPU is good at. The published evidence (cuPDLP, Lu &amp; Yang 2023) is that GPU first-order methods win on very large LPs at moderate accuracy and lose at high accuracy, so we keep all three.
Close on verification: every benchmark run is re-solved by a reference solver (HiGHS for LP and MILP, Clarabel for QP).
Status, if asked: the green BUILT chips run today and are benchmarked. Presolve covers the classic reductions with an exact dual postsolve; doubleton, dominated-column and parallel-row reductions come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 (45s). Lead with the chart: this is measured, not planned. Dual simplex 90 of 90 Netlib LPs; branch-and-bound 33 of 64 MIPLIB 3 problems proven optimal in 60 seconds where HiGHS proves 47; QP interior point 121 of 138 Maros–Mészáros problems where Clarabel solves 122. Every value is checked against the reference.
Then two risks only: hard MIPLIB instances (we report the proven gap honestly and close it with cuts) and speed against C++ solvers (the hot loops are compiled native code). Say the others are on the slide.
If asked whether students can build a solver: the algorithms are published mathematics; the work is careful implementation and testing, which is what this chart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(35s). Pick three cards. Strategic: the decision engine behind critical energy infrastructure becomes something India can read and change; China made the same move with COPT. Economic: IBM's own pricing page lists CPLEX developer subscriptions from 320 US dollars per user per month, and deployment pricing is not published at all. Operational: these are the models MRPL already runs, crude blending, scheduling, dispatch, now on hardware it owns.
Close on the ecosystem: an open base that PSUs, IITs and start-ups can extend.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(25s, then stop). Do not read citations. Say: every component on the architecture slide has a primary source here: Mehrotra for the interior point, Koberstein and Forrest-Goldfarb for the dual simplex, Gilbert-Peierls for our LU, Applegate et al. for PDLP and Lu and Yang for the GPU version.
Then: comparators like HiGHS appear only in our test harness, never in the solver, which is what the problem statement requires.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3840480" cy="18132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846320" y="7772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4846320" y="1417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PAGE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7889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4023360" y="2788920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SIH26119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6440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3264408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Indigenous GPU-Accelerated Optimization Solver (Sovereign Alternative to Express / CEPLEX)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77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023360" y="3977640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Mangalore Refinery and Petrochemicals Limited (MRPL)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45312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4453128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Automation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9286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4928616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404104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4023360" y="5404104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879592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587959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ZeroCloud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NIRNAY — an optimisation engine India can read, change and own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41732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solver core for LP, MILP and QP written from mathematical foundations: no solver library inside, every factorisation our own, GPU acceleration where it measurably pays.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103120"/>
            <a:ext cx="63093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Refinery scheduling, crude blending, planning and dispatch in India run on CPLEX, Gurobi or Xpress: recurring licence cost, and no way to inspect or adapt the algorithms.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solvers exist but lag on hard industrial MILPs and were never tuned for Indian models.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NIRNAY answers it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LP engines behind one API, picked by problem shape: dual simplex, interior point, and PDLP on the GPU.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Branch-and-bound for MILP on warm-started dual simplex; interior point for convex QP.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MPS/QPS files every benchmark and every planning tool already produces.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086600" y="2103120"/>
            <a:ext cx="4663440" cy="251460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0" y="22128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30 SEP 2026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2514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/ 90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Netlib LPs solved to the known optimum by our dual simplex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302666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64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052560" y="302666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MIPLIB 3 problems proven optimal in 60 s by our branch-and-bound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315200" y="353872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 / 138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052560" y="353872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Maros–Mészáros convex QPs solved by our QP interior point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315200" y="40507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052560" y="40507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libraries inside: LU, Cholesky, LDLᵀ and orderings are ours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754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AND UNIQUENESS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57200" y="5074920"/>
            <a:ext cx="2697480" cy="12801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9436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60120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engines, one decision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55504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Simplex gives exact vertices and warm starts for MILP; interior point gives accuracy on large sparse LPs; GPU PDLP gives scale. The solver chooses.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91840" y="5074920"/>
            <a:ext cx="2697480" cy="12801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2900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3794760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factorisation is ours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3429000" y="55504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LU with basis repair, sparse Cholesky with minimum-degree ordering. Auditable end to end: no black box in the loop.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126480" y="5074920"/>
            <a:ext cx="2697480" cy="12801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6364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629400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bad models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6263640" y="55504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Scaling, cost perturbation, bound-flipping and Harris ratio tests, a stall-aware interior point: tested on Netlib's degenerate and ill-conditioned set.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961120" y="5074920"/>
            <a:ext cx="2697480" cy="12801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9828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464040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MRPL recognises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9098280" y="55504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Netlib, MIPLIB and Maros–Mészáros, plus public refinery-blending, unit-commitment and supply-chain models, each checked against a reference solver.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APPROACH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six layers. Everything below the API is written from the mathematics up.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7223760" cy="566928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146304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057400" y="14630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MPS / QPS reader (fixed and free, all bound types) · Python API · command line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675120" y="1627632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75120" y="162763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57200" y="2121408"/>
            <a:ext cx="7223760" cy="566928"/>
          </a:xfrm>
          <a:prstGeom prst="rect">
            <a:avLst/>
          </a:prstGeom>
          <a:solidFill>
            <a:srgbClr val="3A4A6B"/>
          </a:solidFill>
          <a:ln w="12700">
            <a:solidFill>
              <a:srgbClr val="3A4A6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4360" y="21214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PRESOLVE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057400" y="212140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in powers of two · singleton, empty and redundant rows · fixed and free-singleton columns · exact dual postsolve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675120" y="2286000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75120" y="22860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57200" y="2779776"/>
            <a:ext cx="2316480" cy="1234440"/>
          </a:xfrm>
          <a:prstGeom prst="rect">
            <a:avLst/>
          </a:prstGeom>
          <a:solidFill>
            <a:srgbClr val="E3ECF7"/>
          </a:solidFill>
          <a:ln w="12700">
            <a:solidFill>
              <a:srgbClr val="E3ECF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" y="2852928"/>
            <a:ext cx="121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simplex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1813560" y="2889504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813560" y="288950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3191256"/>
            <a:ext cx="2097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sparse LU + eta updates · dual steepest edge · bound-flipping ratio test · perturbation against degeneracy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10840" y="2779776"/>
            <a:ext cx="2316480" cy="1234440"/>
          </a:xfrm>
          <a:prstGeom prst="rect">
            <a:avLst/>
          </a:prstGeom>
          <a:solidFill>
            <a:srgbClr val="E3ECF7"/>
          </a:solidFill>
          <a:ln w="12700">
            <a:solidFill>
              <a:srgbClr val="E3EC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020568" y="2852928"/>
            <a:ext cx="121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Interior point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67200" y="2889504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267200" y="288950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3020568" y="3191256"/>
            <a:ext cx="2097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Mehrotra predictor-corrector · own sparse Cholesky with minimum-degree ordering · regularisation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364480" y="2779776"/>
            <a:ext cx="2316480" cy="1234440"/>
          </a:xfrm>
          <a:prstGeom prst="rect">
            <a:avLst/>
          </a:prstGeom>
          <a:solidFill>
            <a:srgbClr val="FCE9DC"/>
          </a:solidFill>
          <a:ln w="12700">
            <a:solidFill>
              <a:srgbClr val="FCE9D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74208" y="2852928"/>
            <a:ext cx="121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PDLP  (GPU)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6720840" y="2889504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20840" y="288950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5474208" y="3191256"/>
            <a:ext cx="2097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Restarted primal-dual hybrid gradient · adaptive steps · only mat-vec products, so it scales on CUDA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57200" y="4105656"/>
            <a:ext cx="7223760" cy="566928"/>
          </a:xfrm>
          <a:prstGeom prst="rect">
            <a:avLst/>
          </a:prstGeom>
          <a:solidFill>
            <a:srgbClr val="E6F3EA"/>
          </a:solidFill>
          <a:ln w="12700">
            <a:solidFill>
              <a:srgbClr val="E6F3E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94360" y="410565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MILP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57400" y="4105656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Branch-and-bound on warm-started dual simplex · reliability branching · propagation · Gomory cuts · diving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675120" y="4270248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675120" y="427024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57200" y="4764024"/>
            <a:ext cx="7223760" cy="566928"/>
          </a:xfrm>
          <a:prstGeom prst="rect">
            <a:avLst/>
          </a:prstGeom>
          <a:solidFill>
            <a:srgbClr val="E6F3EA"/>
          </a:solidFill>
          <a:ln w="12700">
            <a:solidFill>
              <a:srgbClr val="E6F3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94360" y="476402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QP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2057400" y="476402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 QP by interior point on the quasi-definite augmented system, own sparse LDLᵀ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6675120" y="4928616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675120" y="49286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457200" y="5422392"/>
            <a:ext cx="7223760" cy="566928"/>
          </a:xfrm>
          <a:prstGeom prst="rect">
            <a:avLst/>
          </a:prstGeom>
          <a:solidFill>
            <a:srgbClr val="EEF0F3"/>
          </a:solidFill>
          <a:ln w="12700">
            <a:solidFill>
              <a:srgbClr val="EEF0F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94360" y="5422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KERNELS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2057400" y="542239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Numba-compiled native machine code · CUDA via CuPy on the GPU · no solver library anywhere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675120" y="5586984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75120" y="558698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8046720" y="1463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046720" y="1783080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API, NumPy arrays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Numba: kernels compiled to native machine code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 through CuPy for the GPU engine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Apache-2.0 licence, so any PSU can adopt and extend it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8046720" y="32461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CHECKED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8046720" y="3566160"/>
            <a:ext cx="3703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Netlib LP (90), MIPLIB, Mittelmann, Maros–Mészáros QP: the sets the problem statement names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instance re-solved by a reference (HiGHS for LP and MILP, Clarabel for QP); errors and residuals logged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cases on purpose: degenerate (DEGEN3), ill-conditioned (PILOT, GREENBEA), weak relaxations (MIPLIB)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AND VIABILITY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plan: the core already runs. Share of each public benchmark set solved, NIRNAY against the reference solver on the same laptop: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508760"/>
          <a:ext cx="6309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448056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within 1e-6 of HiGHS (dual simplex 90, interior point 86); MILP proven optimal within 1e-4; QP within 1e-6 of Clarabel.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8920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IS BUILDABLE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21208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today on a 4 GB laptop GPU; a server GPU only makes the large LPs faster.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are fifty years of published, well-documented mathematics; we implement them, we do not invent them.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skills (Python, systems, DevOps) map onto the kernel and benchmark work directly.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178040" y="1097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AND HOW WE RETIRE THEM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178040" y="146304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0" y="15270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MIPLIB instances time out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proven gap, not just failure; cuts and heuristics close the gap step by step, measured per release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178040" y="242316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0" y="24871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slower than C++ solvers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7315200" y="2788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loops are Numba-compiled native code; the kernel boundary is clean enough to port to C++ later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178040" y="338328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0" y="34472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breakdown on bad models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315200" y="3749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engines as fallbacks for each other; scaling, perturbation, basis repair, stall detection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7178040" y="434340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44074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not always available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315200" y="4709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PDLP runs on CPU with the same code path; GPU is an accelerator, never a requirement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7178040" y="530352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0" y="53675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a jury cannot check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315200" y="5669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regenerates from one script against HiGHS and Clarabel on public benchmark files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AND BENEFITS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refinery plan, crude blend, schedule and dispatch decision sits on an optimisation solver. Owning that layer is owning the decision.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169164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1920240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51460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engine for critical energy infrastructure whose every line is readable and changeable in India. China took this route with COPT; India has no equivalent yet.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79392" y="169164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0560" y="1920240"/>
            <a:ext cx="457200" cy="457200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805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56632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51460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solvers cost recurring licence fees: IBM lists CPLEX developer subscriptions from US$320 per user per month; deployment prices are not published at all.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101584" y="169164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302752" y="1920240"/>
            <a:ext cx="457200" cy="457200"/>
          </a:xfrm>
          <a:prstGeom prst="ellipse">
            <a:avLst/>
          </a:prstGeom>
          <a:solidFill>
            <a:srgbClr val="1E8C45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02752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878824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(MRPL)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8302752" y="251460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selection and blending LPs, unit scheduling MILPs, power and steam dispatch: the models MRPL already runs, solved on hardware it owns.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57200" y="402336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8368" y="4251960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234440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Transparency</a:t>
            </a:r>
            <a:endParaRPr lang="en-US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658368" y="484632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pivot, factorisation and cut is inspectable. Tolerances and heuristics can be tuned to Indian refinery models instead of generic benchmarks.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279392" y="402336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80560" y="4251960"/>
            <a:ext cx="457200" cy="457200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4805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056632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headroom</a:t>
            </a:r>
            <a:endParaRPr lang="en-US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484632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GPU engine uses only matrix-vector products: large planning LPs speed up on commodity GPUs as the hardware improves.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8101584" y="402336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302752" y="4251960"/>
            <a:ext cx="457200" cy="457200"/>
          </a:xfrm>
          <a:prstGeom prst="ellipse">
            <a:avLst/>
          </a:prstGeom>
          <a:solidFill>
            <a:srgbClr val="1E8C45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02752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878824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</a:t>
            </a:r>
            <a:endParaRPr lang="en-US" sz="1450" dirty="0"/>
          </a:p>
        </p:txBody>
      </p:sp>
      <p:sp>
        <p:nvSpPr>
          <p:cNvPr id="36" name="Text 33"/>
          <p:cNvSpPr txBox="1"/>
          <p:nvPr/>
        </p:nvSpPr>
        <p:spPr>
          <a:xfrm>
            <a:off x="8302752" y="484632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Apache-2.0 base that PSUs, IITs and Indian start-ups can build on: modelling layers, domain heuristics, new problem classes (MIQP, MINLP).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AND REFERENCES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sources only. Each maps onto a component we have implemented or are implementing.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4630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Interior point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057400" y="1463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Mehrotra, SIAM J. Optim. 2(4), 1992 — doi:10.1137/0802028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942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simplex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2057400" y="2249424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Koberstein, PhD thesis, Univ. Paderborn, 2005; Forrest &amp; Goldfarb, Math. Prog. 57, 1992 — doi:10.1007/BF01581089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03580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 tests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2057400" y="30358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Harris, Math. Prog. 5, 1973 — doi:10.1007/BF01580108; Maros, EJOR 149, 2003 (bound flipping)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221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Sparse LU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057400" y="382219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Gilbert &amp; Peierls, SIAM J. Sci. Stat. Comput. 9(5), 1988 — doi:10.1137/0909058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60857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Orderings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2057400" y="4608576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Amestoy, Davis &amp; Duff, SIAM J. Matrix Anal. Appl. 17(4), 1996 — doi:10.1137/S0895479894278952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5394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Presolve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2057400" y="5394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Andersen &amp; Andersen, Math. Prog. 71, 1995 — doi:10.1007/BF01586000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14630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PDLP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1463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Applegate et al., NeurIPS 2021 — arXiv:2106.04756; Math. Prog. Comp. 2026 — doi:10.1007/s12532-026-00309-2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263640" y="224942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LP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2249424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 &amp; Yang, cuPDLP, Operations Research 73, 2025 — doi:10.1287/opre.2024.1069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303580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MILP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30358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Achterberg, Koch &amp; Martin, reliability branching, ORL 33, 2005 — doi:10.1016/j.orl.2004.04.002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38221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Cuts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382219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Balas, Ceria, Cornuéjols &amp; Natraj, 'Gomory cuts revisited', ORL 19, 1996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263640" y="460857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863840" y="4608576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MIPLIB 2017: Gleixner et al., Math. Prog. Comp. 13, 2021; exact Netlib optima: Koch, ORL 32, 2004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394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QP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863840" y="5394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Vanderbei, quasi-definite LDLᵀ, SIAM J. Optim. 5(1), 1995 — doi:10.1137/0805005; test set: Maros &amp; Mészáros, OMS 11, 1999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Comparators used only in the benchmark harness, never inside the solver: HiGHS 1.15 (MIT), Clarabel 0.11 (Apache-2.0), SCIP, OR-Tools. Benchmark data: Netlib via COIN-OR mirror, MIPLIB 3 / 2017 (miplib.zib.de).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SIH26119 — NIRNAY, a sovereign optimisation solver</dc:title>
  <dc:subject>PptxGenJS Presentation</dc:subject>
  <dc:creator>Team ZeroCloud</dc:creator>
  <cp:lastModifiedBy>Team ZeroCloud</cp:lastModifiedBy>
  <cp:revision>1</cp:revision>
  <dcterms:created xsi:type="dcterms:W3CDTF">2026-09-30T08:40:41Z</dcterms:created>
  <dcterms:modified xsi:type="dcterms:W3CDTF">2026-09-30T08:40:41Z</dcterms:modified>
</cp:coreProperties>
</file>