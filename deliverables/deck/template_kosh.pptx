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Garamond"/>
      <p:regular r:id="rId12"/>
      <p:bold r:id="rId13"/>
      <p:italic r:id="rId14"/>
      <p:boldItalic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aramond-bold.fntdata"/><Relationship Id="rId12" Type="http://schemas.openxmlformats.org/officeDocument/2006/relationships/font" Target="fonts/Garamon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boldItalic.fntdata"/><Relationship Id="rId14" Type="http://schemas.openxmlformats.org/officeDocument/2006/relationships/font" Target="fonts/Garamond-italic.fntdata"/><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OPEN (20s). Good morning. We are Team ZeroCloud, presenting problem statement SIH26117 from Mangalore Refinery and Petrochemicals, a Miniratna CPSE under the Ministry of Petroleum.</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The problem in one line: refineries generate an enormous amount of confidential knowledge work, cloud AI would help enormously, and policy forbids it. We built the third option.</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Do not read this slide. Move straight on.</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8" name="Google Shape;9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IDEA (60s). Start with the human behaviour, not the technology.</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An engineer at MRPL who needs to summarise a 40-page inspection report has two options today. Do it by hand and lose the afternoon. Or quietly paste it into ChatGPT, which people genuinely do, and which is an unlogged disclosure of confidential plant data. Both are bad. That is the actual problem.</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KOSH runs entirely on the refinery's own GPU server. It plans multi-step work, calls local tools, reads scanned drawings, and returns finished Word and Excel files, not chat replies.</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Then land the three claims, and spend most of your time on the first. Say it plainly: "Everyone building an on-premise assistant claims the data stays inside. We are the only ones who prove it. The kernel records every outbound connection attempt into a signed log, and you can watch us try to reach the internet and fail."</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That sentence is the pitch. If they remember one thing, make it that one.</a:t>
            </a:r>
            <a:endParaRPr/>
          </a:p>
        </p:txBody>
      </p:sp>
      <p:sp>
        <p:nvSpPr>
          <p:cNvPr id="99" name="Google Shape;9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8" name="Google Shape;11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TECHNICAL APPROACH (75s, your longest slide). Walk the diagram top to bottom, one sentence per layer. Do not read the sub-labels.</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Then make the argument that wins feasibility marks: "Four of these six layers are existing open-source projects. vLLM for serving, an agent framework for the loop, Docling for documents, a sandbox runtime for code. We are not rebuilding those. We write two things, the router and the sovereignty plane."</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Say the GPU arithmetic out loud, and be precise because someone will check: Qwen3.8-27B at INT4 is 21 GB of weights, so the flagship pair wants a 48 GB card. On a 24 GB card we run the 9B plus the 4B vision model, both resident, with 13 GB spare. There is a 16 GB fallback too. These are measured from the published weight files, not guessed.</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Finish on the demo box, and be honest about status: "This is what we will demonstrate at the finale. The blocked-connection step is the one that matters." Do not imply it is already running. If asked directly whether you have built it, say no, not yet, and that it is scheduled in the first third of the build.</a:t>
            </a:r>
            <a:endParaRPr/>
          </a:p>
        </p:txBody>
      </p:sp>
      <p:sp>
        <p:nvSpPr>
          <p:cNvPr id="119" name="Google Shape;11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FEASIBILITY (45s). Two halves, left then right.</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Left: why it is buildable. The fork-versus-build split again, hardware already checked, everything Apache-2.0 or MIT so a PSU can actually deploy it, and no proprietary data needed because the problem statement itself permits open models and public sample drawings.</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Right: do not read all six risks. Pick the two they are most likely to raise, the venue GPU and doubt about the air-gap claim, and answer those. Say the rest are on the slide.</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If asked whether students can really build this: we are assembling four mature components and writing two focused pieces. That is a weekend, not a research programme.</a:t>
            </a:r>
            <a:endParaRPr/>
          </a:p>
        </p:txBody>
      </p:sp>
      <p:sp>
        <p:nvSpPr>
          <p:cNvPr id="147" name="Google Shape;14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1" name="Google Shape;17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IMPACT (35s). Do not read six cards. Pick three and tie them to MRPL specifically.</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MRPL already runs AI for process optimisation, asset reliability and energy efficiency. That is their published strategy. KOSH extends the same strategy to the knowledge work those teams do daily. Use their vocabulary: operational transparency, auditability.</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Then the two that carry weight. No per-seat cloud licence and no egress bill, running on hardware they already own. And confidential data on critical energy infrastructure never leaves Indian soil, which is a policy requirement for every CPSE, not a nice-to-have.</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Close on transferability: the same deployment works at any PSU or defence unit under the same constraint.</a:t>
            </a:r>
            <a:endParaRPr/>
          </a:p>
        </p:txBody>
      </p:sp>
      <p:sp>
        <p:nvSpPr>
          <p:cNvPr id="172" name="Google Shape;17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9" name="Google Shape;18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RESEARCH (25s, then stop talking). Do not read citations aloud.</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Say: "Our base paper is ReAct, ICLR 2023. That is the reason-act-observe loop our agent runs, and we extend it from a single cloud model to a multi-model air-gapped workbench. ChipNeMo from NVIDIA is our industrial precedent, proving a company can run its own assistant on confidential engineering data."</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Then: "Everything else on this slide maps one-to-one onto a layer in the architecture." Point at it, and stop.</a:t>
            </a:r>
            <a:endParaRPr/>
          </a:p>
          <a:p>
            <a:pPr indent="0" lvl="0" marL="0" rtl="0" algn="l">
              <a:spcBef>
                <a:spcPts val="360"/>
              </a:spcBef>
              <a:spcAft>
                <a:spcPts val="0"/>
              </a:spcAft>
              <a:buNone/>
            </a:pPr>
            <a:r>
              <a:t/>
            </a:r>
            <a:endParaRPr sz="1200">
              <a:solidFill>
                <a:schemeClr val="dk1"/>
              </a:solidFill>
              <a:latin typeface="Calibri"/>
              <a:ea typeface="Calibri"/>
              <a:cs typeface="Calibri"/>
              <a:sym typeface="Calibri"/>
            </a:endParaRPr>
          </a:p>
          <a:p>
            <a:pPr indent="0" lvl="0" marL="0" rtl="0" algn="l">
              <a:spcBef>
                <a:spcPts val="360"/>
              </a:spcBef>
              <a:spcAft>
                <a:spcPts val="0"/>
              </a:spcAft>
              <a:buNone/>
            </a:pPr>
            <a:r>
              <a:rPr lang="en-US" sz="1200">
                <a:solidFill>
                  <a:schemeClr val="dk1"/>
                </a:solidFill>
                <a:latin typeface="Calibri"/>
                <a:ea typeface="Calibri"/>
                <a:cs typeface="Calibri"/>
                <a:sym typeface="Calibri"/>
              </a:rPr>
              <a:t>Leave time for questions. Q&amp;A is worth 5 marks and it is where most teams lose them.</a:t>
            </a:r>
            <a:endParaRPr/>
          </a:p>
        </p:txBody>
      </p:sp>
      <p:sp>
        <p:nvSpPr>
          <p:cNvPr id="190" name="Google Shape;19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1pPr>
            <a:lvl2pPr lvl="1"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2pPr>
            <a:lvl3pPr lvl="2"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3pPr>
            <a:lvl4pPr lvl="3"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4pPr>
            <a:lvl5pPr lvl="4"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5pPr>
            <a:lvl6pPr lvl="5"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6pPr>
            <a:lvl7pPr lvl="6"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7pPr>
            <a:lvl8pPr lvl="7"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8pPr>
            <a:lvl9pPr lvl="8"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9pPr>
          </a:lstStyle>
          <a:p/>
        </p:txBody>
      </p:sp>
      <p:sp>
        <p:nvSpPr>
          <p:cNvPr id="11" name="Google Shape;11;p1"/>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3"/>
          <p:cNvSpPr/>
          <p:nvPr/>
        </p:nvSpPr>
        <p:spPr>
          <a:xfrm>
            <a:off x="5656780" y="851521"/>
            <a:ext cx="4638605" cy="5154967"/>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1" name="Google Shape;91;p13"/>
          <p:cNvPicPr preferRelativeResize="0"/>
          <p:nvPr/>
        </p:nvPicPr>
        <p:blipFill rotWithShape="1">
          <a:blip r:embed="rId3">
            <a:alphaModFix/>
          </a:blip>
          <a:srcRect b="0" l="0" r="59916" t="0"/>
          <a:stretch/>
        </p:blipFill>
        <p:spPr>
          <a:xfrm>
            <a:off x="6854891" y="1715881"/>
            <a:ext cx="3203509" cy="3426237"/>
          </a:xfrm>
          <a:prstGeom prst="rect">
            <a:avLst/>
          </a:prstGeom>
          <a:noFill/>
          <a:ln>
            <a:noFill/>
          </a:ln>
        </p:spPr>
      </p:pic>
      <p:sp>
        <p:nvSpPr>
          <p:cNvPr id="92" name="Google Shape;92;p13"/>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64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3" name="Google Shape;93;p13"/>
          <p:cNvSpPr txBox="1"/>
          <p:nvPr>
            <p:ph type="ctrTitle"/>
          </p:nvPr>
        </p:nvSpPr>
        <p:spPr>
          <a:xfrm>
            <a:off x="331286" y="-526757"/>
            <a:ext cx="10363200" cy="20764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000">
                <a:solidFill>
                  <a:schemeClr val="dk2"/>
                </a:solidFill>
                <a:latin typeface="Garamond"/>
                <a:ea typeface="Garamond"/>
                <a:cs typeface="Garamond"/>
                <a:sym typeface="Garamond"/>
              </a:rPr>
              <a:t>SMART INDIA HACKATHON 2026</a:t>
            </a:r>
            <a:endParaRPr b="1" sz="4000">
              <a:solidFill>
                <a:schemeClr val="dk2"/>
              </a:solidFill>
              <a:latin typeface="Garamond"/>
              <a:ea typeface="Garamond"/>
              <a:cs typeface="Garamond"/>
              <a:sym typeface="Garamond"/>
            </a:endParaRPr>
          </a:p>
        </p:txBody>
      </p:sp>
      <p:sp>
        <p:nvSpPr>
          <p:cNvPr id="94" name="Google Shape;94;p13"/>
          <p:cNvSpPr txBox="1"/>
          <p:nvPr/>
        </p:nvSpPr>
        <p:spPr>
          <a:xfrm>
            <a:off x="331286" y="2076450"/>
            <a:ext cx="5924550" cy="47030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900" u="none" cap="none" strike="noStrike">
                <a:solidFill>
                  <a:srgbClr val="1F497D"/>
                </a:solidFill>
                <a:latin typeface="Arial"/>
                <a:ea typeface="Arial"/>
                <a:cs typeface="Arial"/>
                <a:sym typeface="Arial"/>
              </a:rPr>
              <a:t>Problem Statement ID  –  SIH26117</a:t>
            </a:r>
            <a:endParaRPr b="0" i="0" sz="1800" u="none" cap="none" strike="noStrike">
              <a:solidFill>
                <a:schemeClr val="dk1"/>
              </a:solidFill>
              <a:latin typeface="Calibri"/>
              <a:ea typeface="Calibri"/>
              <a:cs typeface="Calibri"/>
              <a:sym typeface="Calibri"/>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Problem Statement Title –  Sovereign On-Premise Agentic AI</a:t>
            </a:r>
            <a:endParaRPr/>
          </a:p>
          <a:p>
            <a:pPr indent="0" lvl="0" marL="256032" marR="0" rtl="0" algn="l">
              <a:spcBef>
                <a:spcPts val="500"/>
              </a:spcBef>
              <a:spcAft>
                <a:spcPts val="0"/>
              </a:spcAft>
              <a:buNone/>
            </a:pPr>
            <a:r>
              <a:rPr b="1" i="0" lang="en-US" sz="1500" u="none" cap="none" strike="noStrike">
                <a:solidFill>
                  <a:srgbClr val="1A1A1A"/>
                </a:solidFill>
                <a:latin typeface="Arial"/>
                <a:ea typeface="Arial"/>
                <a:cs typeface="Arial"/>
                <a:sym typeface="Arial"/>
              </a:rPr>
              <a:t>Workbench using Open-Weight Multimodal LLMs for</a:t>
            </a:r>
            <a:endParaRPr/>
          </a:p>
          <a:p>
            <a:pPr indent="0" lvl="0" marL="256032" marR="0" rtl="0" algn="l">
              <a:spcBef>
                <a:spcPts val="500"/>
              </a:spcBef>
              <a:spcAft>
                <a:spcPts val="0"/>
              </a:spcAft>
              <a:buNone/>
            </a:pPr>
            <a:r>
              <a:rPr b="1" i="0" lang="en-US" sz="1500" u="none" cap="none" strike="noStrike">
                <a:solidFill>
                  <a:srgbClr val="1A1A1A"/>
                </a:solidFill>
                <a:latin typeface="Arial"/>
                <a:ea typeface="Arial"/>
                <a:cs typeface="Arial"/>
                <a:sym typeface="Arial"/>
              </a:rPr>
              <a:t>Confidential Industrial Work</a:t>
            </a:r>
            <a:endParaRPr/>
          </a:p>
          <a:p>
            <a:pPr indent="0" lvl="0" marL="0" marR="0" rtl="0" algn="l">
              <a:spcBef>
                <a:spcPts val="500"/>
              </a:spcBef>
              <a:spcAft>
                <a:spcPts val="0"/>
              </a:spcAft>
              <a:buNone/>
            </a:pPr>
            <a:r>
              <a:rPr b="0" i="0" lang="en-US" sz="1300" u="none" cap="none" strike="noStrike">
                <a:solidFill>
                  <a:srgbClr val="555555"/>
                </a:solidFill>
                <a:latin typeface="Arial"/>
                <a:ea typeface="Arial"/>
                <a:cs typeface="Arial"/>
                <a:sym typeface="Arial"/>
              </a:rPr>
              <a:t>Organisation –  Mangalore Refinery and Petrochemicals Ltd (MRPL)</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Theme –  Smart Automation</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PS Category –  Software</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Team ID –</a:t>
            </a:r>
            <a:endParaRPr/>
          </a:p>
          <a:p>
            <a:pPr indent="0" lvl="0" marL="0" marR="0" rtl="0" algn="l">
              <a:spcBef>
                <a:spcPts val="500"/>
              </a:spcBef>
              <a:spcAft>
                <a:spcPts val="0"/>
              </a:spcAft>
              <a:buNone/>
            </a:pPr>
            <a:r>
              <a:rPr b="1" i="0" lang="en-US" sz="1500" u="none" cap="none" strike="noStrike">
                <a:solidFill>
                  <a:srgbClr val="1F497D"/>
                </a:solidFill>
                <a:latin typeface="Arial"/>
                <a:ea typeface="Arial"/>
                <a:cs typeface="Arial"/>
                <a:sym typeface="Arial"/>
              </a:rPr>
              <a:t>Team Name –  ZeroCloud</a:t>
            </a:r>
            <a:endParaRPr/>
          </a:p>
        </p:txBody>
      </p:sp>
      <p:pic>
        <p:nvPicPr>
          <p:cNvPr id="95" name="Google Shape;95;p13"/>
          <p:cNvPicPr preferRelativeResize="0"/>
          <p:nvPr/>
        </p:nvPicPr>
        <p:blipFill rotWithShape="1">
          <a:blip r:embed="rId4">
            <a:alphaModFix/>
          </a:blip>
          <a:srcRect b="0" l="0" r="0" t="0"/>
          <a:stretch/>
        </p:blipFill>
        <p:spPr>
          <a:xfrm>
            <a:off x="9780086" y="1500"/>
            <a:ext cx="2249850" cy="1062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02" name="Google Shape;102;p14"/>
          <p:cNvSpPr txBox="1"/>
          <p:nvPr>
            <p:ph type="title"/>
          </p:nvPr>
        </p:nvSpPr>
        <p:spPr>
          <a:xfrm>
            <a:off x="717523" y="363925"/>
            <a:ext cx="10972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000">
                <a:solidFill>
                  <a:srgbClr val="FFFFFF"/>
                </a:solidFill>
                <a:latin typeface="Arial"/>
                <a:ea typeface="Arial"/>
                <a:cs typeface="Arial"/>
                <a:sym typeface="Arial"/>
              </a:rPr>
              <a:t>KOSH  —  the AI workbench that never phones home</a:t>
            </a:r>
            <a:endParaRPr/>
          </a:p>
        </p:txBody>
      </p:sp>
      <p:sp>
        <p:nvSpPr>
          <p:cNvPr id="103" name="Google Shape;103;p14"/>
          <p:cNvSpPr txBox="1"/>
          <p:nvPr/>
        </p:nvSpPr>
        <p:spPr>
          <a:xfrm>
            <a:off x="411480" y="1234440"/>
            <a:ext cx="6720840" cy="489204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70C0"/>
              </a:buClr>
              <a:buSzPts val="1700"/>
              <a:buFont typeface="Noto Sans Symbols"/>
              <a:buChar char="❖"/>
            </a:pPr>
            <a:r>
              <a:rPr b="1" i="0" lang="en-US" sz="1700" u="none" cap="none" strike="noStrike">
                <a:solidFill>
                  <a:srgbClr val="0070C0"/>
                </a:solidFill>
                <a:latin typeface="Arial"/>
                <a:ea typeface="Arial"/>
                <a:cs typeface="Arial"/>
                <a:sym typeface="Arial"/>
              </a:rPr>
              <a:t>Proposed Solution</a:t>
            </a:r>
            <a:endParaRPr b="0" i="0" sz="3200" u="sng" cap="none" strike="noStrike">
              <a:solidFill>
                <a:schemeClr val="dk2"/>
              </a:solidFill>
              <a:latin typeface="Arial"/>
              <a:ea typeface="Arial"/>
              <a:cs typeface="Arial"/>
              <a:sym typeface="Arial"/>
            </a:endParaRPr>
          </a:p>
          <a:p>
            <a:pPr indent="0" lvl="0" marL="0" marR="0" rtl="0" algn="l">
              <a:spcBef>
                <a:spcPts val="300"/>
              </a:spcBef>
              <a:spcAft>
                <a:spcPts val="0"/>
              </a:spcAft>
              <a:buNone/>
            </a:pPr>
            <a:r>
              <a:rPr b="0" i="0" lang="en-US" sz="1250" u="none" cap="none" strike="noStrike">
                <a:solidFill>
                  <a:srgbClr val="1A1A1A"/>
                </a:solidFill>
                <a:latin typeface="Arial"/>
                <a:ea typeface="Arial"/>
                <a:cs typeface="Arial"/>
                <a:sym typeface="Arial"/>
              </a:rPr>
              <a:t>A self-hosted agentic AI workbench running entirely on MRPL's own GPU server.</a:t>
            </a:r>
            <a:endParaRPr/>
          </a:p>
          <a:p>
            <a:pPr indent="0" lvl="0" marL="0" marR="0" rtl="0" algn="l">
              <a:spcBef>
                <a:spcPts val="300"/>
              </a:spcBef>
              <a:spcAft>
                <a:spcPts val="0"/>
              </a:spcAft>
              <a:buNone/>
            </a:pPr>
            <a:r>
              <a:rPr b="1" i="0" lang="en-US" sz="1250" u="none" cap="none" strike="noStrike">
                <a:solidFill>
                  <a:srgbClr val="1A1A1A"/>
                </a:solidFill>
                <a:latin typeface="Arial"/>
                <a:ea typeface="Arial"/>
                <a:cs typeface="Arial"/>
                <a:sym typeface="Arial"/>
              </a:rPr>
              <a:t>Nothing leaves the premises — and the system proves it, live, on screen.</a:t>
            </a:r>
            <a:endParaRPr/>
          </a:p>
          <a:p>
            <a:pPr indent="0" lvl="0" marL="0" marR="0" rtl="0" algn="l">
              <a:spcBef>
                <a:spcPts val="300"/>
              </a:spcBef>
              <a:spcAft>
                <a:spcPts val="0"/>
              </a:spcAft>
              <a:buNone/>
            </a:pPr>
            <a:r>
              <a:t/>
            </a:r>
            <a:endParaRPr b="1" i="0" sz="1250" u="none" cap="none" strike="noStrike">
              <a:solidFill>
                <a:srgbClr val="1A1A1A"/>
              </a:solidFill>
              <a:latin typeface="Arial"/>
              <a:ea typeface="Arial"/>
              <a:cs typeface="Arial"/>
              <a:sym typeface="Arial"/>
            </a:endParaRPr>
          </a:p>
          <a:p>
            <a:pPr indent="0" lvl="0" marL="0" marR="0" rtl="0" algn="l">
              <a:spcBef>
                <a:spcPts val="300"/>
              </a:spcBef>
              <a:spcAft>
                <a:spcPts val="0"/>
              </a:spcAft>
              <a:buNone/>
            </a:pPr>
            <a:r>
              <a:rPr b="1" i="0" lang="en-US" sz="1700" u="none" cap="none" strike="noStrike">
                <a:solidFill>
                  <a:srgbClr val="0070C0"/>
                </a:solidFill>
                <a:latin typeface="Arial"/>
                <a:ea typeface="Arial"/>
                <a:cs typeface="Arial"/>
                <a:sym typeface="Arial"/>
              </a:rPr>
              <a:t>How it addresses the problem</a:t>
            </a:r>
            <a:endParaRPr/>
          </a:p>
          <a:p>
            <a:pPr indent="0" lvl="0" marL="0" marR="0" rtl="0" algn="l">
              <a:spcBef>
                <a:spcPts val="300"/>
              </a:spcBef>
              <a:spcAft>
                <a:spcPts val="0"/>
              </a:spcAft>
              <a:buNone/>
            </a:pPr>
            <a:r>
              <a:rPr b="0" i="0" lang="en-US" sz="1200" u="none" cap="none" strike="noStrike">
                <a:solidFill>
                  <a:srgbClr val="1A1A1A"/>
                </a:solidFill>
                <a:latin typeface="Arial"/>
                <a:ea typeface="Arial"/>
                <a:cs typeface="Arial"/>
                <a:sym typeface="Arial"/>
              </a:rPr>
              <a:t>Today staff either do confidential knowledge work by hand, or quietly paste</a:t>
            </a:r>
            <a:endParaRPr/>
          </a:p>
          <a:p>
            <a:pPr indent="0" lvl="0" marL="0" marR="0" rtl="0" algn="l">
              <a:spcBef>
                <a:spcPts val="300"/>
              </a:spcBef>
              <a:spcAft>
                <a:spcPts val="0"/>
              </a:spcAft>
              <a:buNone/>
            </a:pPr>
            <a:r>
              <a:rPr b="0" i="0" lang="en-US" sz="1200" u="none" cap="none" strike="noStrike">
                <a:solidFill>
                  <a:srgbClr val="1A1A1A"/>
                </a:solidFill>
                <a:latin typeface="Arial"/>
                <a:ea typeface="Arial"/>
                <a:cs typeface="Arial"/>
                <a:sym typeface="Arial"/>
              </a:rPr>
              <a:t>P&amp;IDs and vendor terms into public chatbots. KOSH removes both bad options.</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Plans multi-step work and calls local tools — files, sandboxed code, search</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Reads scanned PDFs, handwritten notes and engineering drawings</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Returns real deliverables — Word, Excel, working code — not chat replies</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Grounded in MRPL's own manuals, SOPs and past correspondence</a:t>
            </a:r>
            <a:endParaRPr/>
          </a:p>
        </p:txBody>
      </p:sp>
      <p:sp>
        <p:nvSpPr>
          <p:cNvPr id="104" name="Google Shape;104;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sp>
        <p:nvSpPr>
          <p:cNvPr descr="Your startup LOGO" id="105" name="Google Shape;105;p14"/>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06" name="Google Shape;106;p14"/>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07" name="Google Shape;107;p14"/>
          <p:cNvSpPr/>
          <p:nvPr/>
        </p:nvSpPr>
        <p:spPr>
          <a:xfrm>
            <a:off x="7406640" y="1234440"/>
            <a:ext cx="4434840" cy="4892040"/>
          </a:xfrm>
          <a:prstGeom prst="roundRect">
            <a:avLst>
              <a:gd fmla="val 10000" name="adj"/>
            </a:avLst>
          </a:prstGeom>
          <a:solidFill>
            <a:srgbClr val="E8F1FA"/>
          </a:solidFill>
          <a:ln cap="flat" cmpd="sng" w="15875">
            <a:solidFill>
              <a:srgbClr val="0070C0"/>
            </a:solidFill>
            <a:prstDash val="solid"/>
            <a:round/>
            <a:headEnd len="sm" w="sm" type="none"/>
            <a:tailEnd len="sm" w="sm" type="none"/>
          </a:ln>
        </p:spPr>
        <p:txBody>
          <a:bodyPr anchorCtr="0" anchor="ctr" bIns="45700" lIns="201150" spcFirstLastPara="1" rIns="164575" wrap="square" tIns="146300">
            <a:noAutofit/>
          </a:bodyPr>
          <a:lstStyle/>
          <a:p>
            <a:pPr indent="0" lvl="0" marL="0" marR="0" rtl="0" algn="l">
              <a:spcBef>
                <a:spcPts val="0"/>
              </a:spcBef>
              <a:spcAft>
                <a:spcPts val="0"/>
              </a:spcAft>
              <a:buNone/>
            </a:pPr>
            <a:r>
              <a:rPr b="1" i="0" lang="en-US" sz="1700" u="none" cap="none" strike="noStrike">
                <a:solidFill>
                  <a:srgbClr val="0070C0"/>
                </a:solidFill>
                <a:latin typeface="Arial"/>
                <a:ea typeface="Arial"/>
                <a:cs typeface="Arial"/>
                <a:sym typeface="Arial"/>
              </a:rPr>
              <a:t>Innovation &amp; Uniqueness</a:t>
            </a:r>
            <a:endParaRPr/>
          </a:p>
          <a:p>
            <a:pPr indent="0" lvl="0" marL="0" marR="0" rtl="0" algn="l">
              <a:spcBef>
                <a:spcPts val="150"/>
              </a:spcBef>
              <a:spcAft>
                <a:spcPts val="0"/>
              </a:spcAft>
              <a:buNone/>
            </a:pPr>
            <a:r>
              <a:rPr b="0" i="0" lang="en-US" sz="1000" u="none" cap="none" strike="noStrike">
                <a:solidFill>
                  <a:srgbClr val="555555"/>
                </a:solidFill>
                <a:latin typeface="Arial"/>
                <a:ea typeface="Arial"/>
                <a:cs typeface="Arial"/>
                <a:sym typeface="Arial"/>
              </a:rPr>
              <a:t>Each claim names what existing work does not do.</a:t>
            </a:r>
            <a:endParaRPr/>
          </a:p>
          <a:p>
            <a:pPr indent="0" lvl="0" marL="0" marR="0" rtl="0" algn="l">
              <a:spcBef>
                <a:spcPts val="150"/>
              </a:spcBef>
              <a:spcAft>
                <a:spcPts val="0"/>
              </a:spcAft>
              <a:buNone/>
            </a:pPr>
            <a:r>
              <a:t/>
            </a:r>
            <a:endParaRPr b="0" i="0" sz="1000" u="none" cap="none" strike="noStrike">
              <a:solidFill>
                <a:srgbClr val="555555"/>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2E7D32"/>
                </a:solidFill>
                <a:latin typeface="Arial"/>
                <a:ea typeface="Arial"/>
                <a:cs typeface="Arial"/>
                <a:sym typeface="Arial"/>
              </a:rPr>
              <a:t>1.  Sovereignty you can watch</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Every other on-premise assistant asserts isolation.</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We instrument the kernel instead: egress denied by</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default, every connect() recorded, the log signed</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and hash-chained.</a:t>
            </a:r>
            <a:endParaRPr/>
          </a:p>
          <a:p>
            <a:pPr indent="0" lvl="0" marL="118872" marR="0" rtl="0" algn="l">
              <a:spcBef>
                <a:spcPts val="150"/>
              </a:spcBef>
              <a:spcAft>
                <a:spcPts val="0"/>
              </a:spcAft>
              <a:buNone/>
            </a:pPr>
            <a:r>
              <a:rPr b="1" i="0" lang="en-US" sz="1100" u="none" cap="none" strike="noStrike">
                <a:solidFill>
                  <a:srgbClr val="2E7D32"/>
                </a:solidFill>
                <a:latin typeface="Arial"/>
                <a:ea typeface="Arial"/>
                <a:cs typeface="Arial"/>
                <a:sym typeface="Arial"/>
              </a:rPr>
              <a:t>You watch an external call get refused, live.</a:t>
            </a:r>
            <a:endParaRPr/>
          </a:p>
          <a:p>
            <a:pPr indent="0" lvl="0" marL="0" marR="0" rtl="0" algn="l">
              <a:spcBef>
                <a:spcPts val="150"/>
              </a:spcBef>
              <a:spcAft>
                <a:spcPts val="0"/>
              </a:spcAft>
              <a:buNone/>
            </a:pPr>
            <a:r>
              <a:t/>
            </a:r>
            <a:endParaRPr b="1" i="0" sz="1100" u="none" cap="none" strike="noStrike">
              <a:solidFill>
                <a:srgbClr val="2E7D32"/>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1F497D"/>
                </a:solidFill>
                <a:latin typeface="Arial"/>
                <a:ea typeface="Arial"/>
                <a:cs typeface="Arial"/>
                <a:sym typeface="Arial"/>
              </a:rPr>
              <a:t>2.  Routing by task, not by cost</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Published routers pick models to save money on</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general chat. None route by task type against the</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fixed local VRAM of a single GPU.</a:t>
            </a:r>
            <a:endParaRPr/>
          </a:p>
          <a:p>
            <a:pPr indent="0" lvl="0" marL="0" marR="0" rtl="0" algn="l">
              <a:spcBef>
                <a:spcPts val="150"/>
              </a:spcBef>
              <a:spcAft>
                <a:spcPts val="0"/>
              </a:spcAft>
              <a:buNone/>
            </a:pPr>
            <a:r>
              <a:t/>
            </a:r>
            <a:endParaRPr b="0" i="0" sz="1100" u="none" cap="none" strike="noStrike">
              <a:solidFill>
                <a:srgbClr val="1A1A1A"/>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1F497D"/>
                </a:solidFill>
                <a:latin typeface="Arial"/>
                <a:ea typeface="Arial"/>
                <a:cs typeface="Arial"/>
                <a:sym typeface="Arial"/>
              </a:rPr>
              <a:t>3.  Drawings read as drawings</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P&amp;ID pipelines run OCR first and lose the symbols.</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We retrieve over page images directly, keeping the</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connectivity that carries the engineering meaning.</a:t>
            </a:r>
            <a:endParaRPr/>
          </a:p>
        </p:txBody>
      </p:sp>
      <p:sp>
        <p:nvSpPr>
          <p:cNvPr id="108" name="Google Shape;108;p14"/>
          <p:cNvSpPr txBox="1"/>
          <p:nvPr/>
        </p:nvSpPr>
        <p:spPr>
          <a:xfrm>
            <a:off x="411480" y="3822191"/>
            <a:ext cx="67208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50" u="none" cap="none" strike="noStrike">
                <a:solidFill>
                  <a:srgbClr val="555555"/>
                </a:solidFill>
                <a:latin typeface="Arial"/>
                <a:ea typeface="Arial"/>
                <a:cs typeface="Arial"/>
                <a:sym typeface="Arial"/>
              </a:rPr>
              <a:t>ONE TASK, START TO FINISH — WITHOUT A SINGLE EXTERNAL PACKET</a:t>
            </a:r>
            <a:endParaRPr/>
          </a:p>
        </p:txBody>
      </p:sp>
      <p:sp>
        <p:nvSpPr>
          <p:cNvPr id="109" name="Google Shape;109;p14"/>
          <p:cNvSpPr/>
          <p:nvPr/>
        </p:nvSpPr>
        <p:spPr>
          <a:xfrm>
            <a:off x="411480" y="4187952"/>
            <a:ext cx="2011680" cy="960120"/>
          </a:xfrm>
          <a:prstGeom prst="roundRect">
            <a:avLst>
              <a:gd fmla="val 10000" name="adj"/>
            </a:avLst>
          </a:prstGeom>
          <a:solidFill>
            <a:srgbClr val="E8F1FA"/>
          </a:solidFill>
          <a:ln cap="flat" cmpd="sng" w="16500">
            <a:solidFill>
              <a:srgbClr val="0070C0"/>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Scanned inspection report</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dropped into the workbench</a:t>
            </a:r>
            <a:endParaRPr/>
          </a:p>
        </p:txBody>
      </p:sp>
      <p:sp>
        <p:nvSpPr>
          <p:cNvPr id="110" name="Google Shape;110;p14"/>
          <p:cNvSpPr/>
          <p:nvPr/>
        </p:nvSpPr>
        <p:spPr>
          <a:xfrm>
            <a:off x="2496312" y="4562856"/>
            <a:ext cx="256032" cy="201168"/>
          </a:xfrm>
          <a:prstGeom prst="right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4"/>
          <p:cNvSpPr/>
          <p:nvPr/>
        </p:nvSpPr>
        <p:spPr>
          <a:xfrm>
            <a:off x="2761488" y="4187952"/>
            <a:ext cx="2011680" cy="960120"/>
          </a:xfrm>
          <a:prstGeom prst="roundRect">
            <a:avLst>
              <a:gd fmla="val 10000" name="adj"/>
            </a:avLst>
          </a:prstGeom>
          <a:solidFill>
            <a:srgbClr val="E8F1FA"/>
          </a:solidFill>
          <a:ln cap="flat" cmpd="sng" w="16500">
            <a:solidFill>
              <a:srgbClr val="0070C0"/>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KOSH plans and executes</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reads it, extracts findings, runs the calculation</a:t>
            </a:r>
            <a:endParaRPr/>
          </a:p>
        </p:txBody>
      </p:sp>
      <p:sp>
        <p:nvSpPr>
          <p:cNvPr id="112" name="Google Shape;112;p14"/>
          <p:cNvSpPr/>
          <p:nvPr/>
        </p:nvSpPr>
        <p:spPr>
          <a:xfrm>
            <a:off x="4846320" y="4562856"/>
            <a:ext cx="256032" cy="201168"/>
          </a:xfrm>
          <a:prstGeom prst="right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4"/>
          <p:cNvSpPr/>
          <p:nvPr/>
        </p:nvSpPr>
        <p:spPr>
          <a:xfrm>
            <a:off x="5111496" y="4187952"/>
            <a:ext cx="2011680" cy="960120"/>
          </a:xfrm>
          <a:prstGeom prst="roundRect">
            <a:avLst>
              <a:gd fmla="val 10000" name="adj"/>
            </a:avLst>
          </a:prstGeom>
          <a:solidFill>
            <a:srgbClr val="ECF4EC"/>
          </a:solidFill>
          <a:ln cap="flat" cmpd="sng" w="16500">
            <a:solidFill>
              <a:srgbClr val="2E7D32"/>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Approval note (.docx)</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a real file, with the steps shown</a:t>
            </a:r>
            <a:endParaRPr/>
          </a:p>
        </p:txBody>
      </p:sp>
      <p:sp>
        <p:nvSpPr>
          <p:cNvPr id="114" name="Google Shape;114;p14"/>
          <p:cNvSpPr txBox="1"/>
          <p:nvPr/>
        </p:nvSpPr>
        <p:spPr>
          <a:xfrm>
            <a:off x="411480" y="5303520"/>
            <a:ext cx="672084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A1A1A"/>
                </a:solidFill>
                <a:latin typeface="Arial"/>
                <a:ea typeface="Arial"/>
                <a:cs typeface="Arial"/>
                <a:sym typeface="Arial"/>
              </a:rPr>
              <a:t>The egress panel stays visible the whole time. That is the difference between claiming</a:t>
            </a:r>
            <a:endParaRPr/>
          </a:p>
          <a:p>
            <a:pPr indent="0" lvl="0" marL="0" marR="0" rtl="0" algn="l">
              <a:spcBef>
                <a:spcPts val="100"/>
              </a:spcBef>
              <a:spcAft>
                <a:spcPts val="0"/>
              </a:spcAft>
              <a:buNone/>
            </a:pPr>
            <a:r>
              <a:rPr b="1" i="0" lang="en-US" sz="1100" u="none" cap="none" strike="noStrike">
                <a:solidFill>
                  <a:srgbClr val="2E7D32"/>
                </a:solidFill>
                <a:latin typeface="Arial"/>
                <a:ea typeface="Arial"/>
                <a:cs typeface="Arial"/>
                <a:sym typeface="Arial"/>
              </a:rPr>
              <a:t>data sovereignty and demonstrating it.</a:t>
            </a:r>
            <a:endParaRPr/>
          </a:p>
        </p:txBody>
      </p:sp>
      <p:sp>
        <p:nvSpPr>
          <p:cNvPr id="115" name="Google Shape;115;p14"/>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22" name="Google Shape;122;p1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TECHNICAL APPROACH</a:t>
            </a:r>
            <a:endParaRPr/>
          </a:p>
        </p:txBody>
      </p:sp>
      <p:sp>
        <p:nvSpPr>
          <p:cNvPr id="123" name="Google Shape;123;p15"/>
          <p:cNvSpPr txBox="1"/>
          <p:nvPr/>
        </p:nvSpPr>
        <p:spPr>
          <a:xfrm>
            <a:off x="411480" y="1024128"/>
            <a:ext cx="11338560" cy="38404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555555"/>
              </a:buClr>
              <a:buSzPts val="1250"/>
              <a:buFont typeface="Arial"/>
              <a:buChar char="•"/>
            </a:pPr>
            <a:r>
              <a:rPr b="1" i="0" lang="en-US" sz="1250" u="none" cap="none" strike="noStrike">
                <a:solidFill>
                  <a:srgbClr val="555555"/>
                </a:solidFill>
                <a:latin typeface="Arial"/>
                <a:ea typeface="Arial"/>
                <a:cs typeface="Arial"/>
                <a:sym typeface="Arial"/>
              </a:rPr>
              <a:t>Five layers. We fork the proven three and build only the two that are new.</a:t>
            </a:r>
            <a:endParaRPr/>
          </a:p>
        </p:txBody>
      </p:sp>
      <p:sp>
        <p:nvSpPr>
          <p:cNvPr id="124" name="Google Shape;124;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sp>
        <p:nvSpPr>
          <p:cNvPr descr="Your startup LOGO" id="125" name="Google Shape;125;p15"/>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26" name="Google Shape;126;p15"/>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27" name="Google Shape;127;p15"/>
          <p:cNvSpPr/>
          <p:nvPr/>
        </p:nvSpPr>
        <p:spPr>
          <a:xfrm>
            <a:off x="411480" y="1481328"/>
            <a:ext cx="7086600" cy="566928"/>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Workbench UI</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React + FastAPI  ·  chat, document viewer, deliverable download, egress panel</a:t>
            </a:r>
            <a:endParaRPr/>
          </a:p>
        </p:txBody>
      </p:sp>
      <p:sp>
        <p:nvSpPr>
          <p:cNvPr id="128" name="Google Shape;128;p15"/>
          <p:cNvSpPr/>
          <p:nvPr/>
        </p:nvSpPr>
        <p:spPr>
          <a:xfrm>
            <a:off x="3872484" y="2066543"/>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5"/>
          <p:cNvSpPr/>
          <p:nvPr/>
        </p:nvSpPr>
        <p:spPr>
          <a:xfrm>
            <a:off x="411480" y="2221992"/>
            <a:ext cx="7086600" cy="566928"/>
          </a:xfrm>
          <a:prstGeom prst="roundRect">
            <a:avLst>
              <a:gd fmla="val 10000" name="adj"/>
            </a:avLst>
          </a:prstGeom>
          <a:solidFill>
            <a:srgbClr val="FFF4E0"/>
          </a:solidFill>
          <a:ln cap="flat" cmpd="sng" w="13950">
            <a:solidFill>
              <a:srgbClr val="B46A0A"/>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Task-Type Router   ◆ NEW</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Small classifier reads the request → picks model + tool budget. Rule-table fallback.</a:t>
            </a:r>
            <a:endParaRPr/>
          </a:p>
        </p:txBody>
      </p:sp>
      <p:sp>
        <p:nvSpPr>
          <p:cNvPr id="130" name="Google Shape;130;p15"/>
          <p:cNvSpPr/>
          <p:nvPr/>
        </p:nvSpPr>
        <p:spPr>
          <a:xfrm>
            <a:off x="3872484" y="2807208"/>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p:nvPr/>
        </p:nvSpPr>
        <p:spPr>
          <a:xfrm>
            <a:off x="411480" y="2962656"/>
            <a:ext cx="7086600" cy="566928"/>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Agent Core</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ReAct loop + CodeAct actions  ·  planner / executor split  ·  iterate until verified</a:t>
            </a:r>
            <a:endParaRPr/>
          </a:p>
        </p:txBody>
      </p:sp>
      <p:sp>
        <p:nvSpPr>
          <p:cNvPr id="132" name="Google Shape;132;p15"/>
          <p:cNvSpPr/>
          <p:nvPr/>
        </p:nvSpPr>
        <p:spPr>
          <a:xfrm>
            <a:off x="3872484" y="3547872"/>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5"/>
          <p:cNvSpPr/>
          <p:nvPr/>
        </p:nvSpPr>
        <p:spPr>
          <a:xfrm>
            <a:off x="411480" y="3703320"/>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Knowledge Plane</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Docling → chunks · ColPali page-image RAG · Qdrant</a:t>
            </a:r>
            <a:endParaRPr/>
          </a:p>
        </p:txBody>
      </p:sp>
      <p:sp>
        <p:nvSpPr>
          <p:cNvPr id="134" name="Google Shape;134;p15"/>
          <p:cNvSpPr/>
          <p:nvPr/>
        </p:nvSpPr>
        <p:spPr>
          <a:xfrm>
            <a:off x="4041648" y="3703320"/>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Model Plane</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vLLM · Qwen3.8-27B AWQ · Qwen2-VL · coder model</a:t>
            </a:r>
            <a:endParaRPr/>
          </a:p>
        </p:txBody>
      </p:sp>
      <p:sp>
        <p:nvSpPr>
          <p:cNvPr id="135" name="Google Shape;135;p15"/>
          <p:cNvSpPr/>
          <p:nvPr/>
        </p:nvSpPr>
        <p:spPr>
          <a:xfrm>
            <a:off x="3872484" y="4343400"/>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5"/>
          <p:cNvSpPr/>
          <p:nvPr/>
        </p:nvSpPr>
        <p:spPr>
          <a:xfrm>
            <a:off x="411480" y="4498848"/>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Tool Sandbox</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gVisor · Python exec, file I/O, spreadsheet ops</a:t>
            </a:r>
            <a:endParaRPr/>
          </a:p>
        </p:txBody>
      </p:sp>
      <p:sp>
        <p:nvSpPr>
          <p:cNvPr id="137" name="Google Shape;137;p15"/>
          <p:cNvSpPr/>
          <p:nvPr/>
        </p:nvSpPr>
        <p:spPr>
          <a:xfrm>
            <a:off x="4041648" y="4498848"/>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Deliverable Writer</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python-docx / openpyxl → .docx .xlsx .pptx, code</a:t>
            </a:r>
            <a:endParaRPr/>
          </a:p>
        </p:txBody>
      </p:sp>
      <p:sp>
        <p:nvSpPr>
          <p:cNvPr id="138" name="Google Shape;138;p15"/>
          <p:cNvSpPr/>
          <p:nvPr/>
        </p:nvSpPr>
        <p:spPr>
          <a:xfrm>
            <a:off x="3872484" y="5138928"/>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5"/>
          <p:cNvSpPr/>
          <p:nvPr/>
        </p:nvSpPr>
        <p:spPr>
          <a:xfrm>
            <a:off x="411480" y="5294376"/>
            <a:ext cx="7086600" cy="685800"/>
          </a:xfrm>
          <a:prstGeom prst="roundRect">
            <a:avLst>
              <a:gd fmla="val 10000" name="adj"/>
            </a:avLst>
          </a:prstGeom>
          <a:solidFill>
            <a:srgbClr val="ECF4EC"/>
          </a:solidFill>
          <a:ln cap="flat" cmpd="sng" w="20300">
            <a:solidFill>
              <a:srgbClr val="2E7D32"/>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2E7D32"/>
                </a:solidFill>
                <a:latin typeface="Arial"/>
                <a:ea typeface="Arial"/>
                <a:cs typeface="Arial"/>
                <a:sym typeface="Arial"/>
              </a:rPr>
              <a:t>Sovereignty Plane   ◆ NEW</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nftables default-DENY egress  ·  eBPF / Tetragon records every connect()  ·  hash-chained signed audit log</a:t>
            </a:r>
            <a:endParaRPr/>
          </a:p>
        </p:txBody>
      </p:sp>
      <p:sp>
        <p:nvSpPr>
          <p:cNvPr id="140" name="Google Shape;140;p15"/>
          <p:cNvSpPr/>
          <p:nvPr/>
        </p:nvSpPr>
        <p:spPr>
          <a:xfrm>
            <a:off x="7726679" y="1481328"/>
            <a:ext cx="4069080" cy="3200400"/>
          </a:xfrm>
          <a:prstGeom prst="roundRect">
            <a:avLst>
              <a:gd fmla="val 10000" name="adj"/>
            </a:avLst>
          </a:prstGeom>
          <a:solidFill>
            <a:srgbClr val="F7F9FC"/>
          </a:solidFill>
          <a:ln cap="flat" cmpd="sng" w="12700">
            <a:solidFill>
              <a:srgbClr val="C8D6E6"/>
            </a:solidFill>
            <a:prstDash val="solid"/>
            <a:round/>
            <a:headEnd len="sm" w="sm" type="none"/>
            <a:tailEnd len="sm" w="sm" type="none"/>
          </a:ln>
        </p:spPr>
        <p:txBody>
          <a:bodyPr anchorCtr="0" anchor="ctr" bIns="45700" lIns="182875" spcFirstLastPara="1" rIns="14630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Technology Stack</a:t>
            </a:r>
            <a:endParaRPr/>
          </a:p>
          <a:p>
            <a:pPr indent="0" lvl="0" marL="0" marR="0" rtl="0" algn="l">
              <a:spcBef>
                <a:spcPts val="15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Serving</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vLLM (PagedAttention) · AWQ INT4</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Models  (all Apache-2.0, all on Hugging Face)</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Qwen3.8-27B · Qwen3-VL · a coder model</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Agent &amp; tools</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Python · FastAPI · ReAct/CodeAct · gVisor</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Documents</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Docling · olmOCR · ColPali · Qdrant</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Sovereignty</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Docker · netns · nftables · eBPF</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Interface</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React · python-docx · openpyxl</a:t>
            </a:r>
            <a:endParaRPr/>
          </a:p>
          <a:p>
            <a:pPr indent="0" lvl="0" marL="0" marR="0" rtl="0" algn="l">
              <a:spcBef>
                <a:spcPts val="150"/>
              </a:spcBef>
              <a:spcAft>
                <a:spcPts val="0"/>
              </a:spcAft>
              <a:buNone/>
            </a:pPr>
            <a:r>
              <a:t/>
            </a:r>
            <a:endParaRPr b="0" i="0" sz="850" u="none" cap="none" strike="noStrike">
              <a:solidFill>
                <a:srgbClr val="1A1A1A"/>
              </a:solidFill>
              <a:latin typeface="Arial"/>
              <a:ea typeface="Arial"/>
              <a:cs typeface="Arial"/>
              <a:sym typeface="Arial"/>
            </a:endParaRPr>
          </a:p>
          <a:p>
            <a:pPr indent="0" lvl="0" marL="0" marR="0" rtl="0" algn="l">
              <a:spcBef>
                <a:spcPts val="150"/>
              </a:spcBef>
              <a:spcAft>
                <a:spcPts val="0"/>
              </a:spcAft>
              <a:buNone/>
            </a:pPr>
            <a:r>
              <a:rPr b="1" i="0" lang="en-US" sz="950" u="none" cap="none" strike="noStrike">
                <a:solidFill>
                  <a:srgbClr val="2E7D32"/>
                </a:solidFill>
                <a:latin typeface="Arial"/>
                <a:ea typeface="Arial"/>
                <a:cs typeface="Arial"/>
                <a:sym typeface="Arial"/>
              </a:rPr>
              <a:t>Hardware tiers — sized from published weights</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48 GB   27B INT4 + VL-8B INT4 co-resident</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24 GB   9B INT4 + VL-4B INT4, both resident</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16 GB   4B + VL-2B, venue fallback</a:t>
            </a:r>
            <a:endParaRPr/>
          </a:p>
        </p:txBody>
      </p:sp>
      <p:sp>
        <p:nvSpPr>
          <p:cNvPr id="141" name="Google Shape;141;p15"/>
          <p:cNvSpPr/>
          <p:nvPr/>
        </p:nvSpPr>
        <p:spPr>
          <a:xfrm>
            <a:off x="7726679" y="4809744"/>
            <a:ext cx="4069080" cy="1243584"/>
          </a:xfrm>
          <a:prstGeom prst="roundRect">
            <a:avLst>
              <a:gd fmla="val 10000" name="adj"/>
            </a:avLst>
          </a:prstGeom>
          <a:solidFill>
            <a:srgbClr val="ECF4EC"/>
          </a:solidFill>
          <a:ln cap="flat" cmpd="sng" w="16500">
            <a:solidFill>
              <a:srgbClr val="2E7D32"/>
            </a:solidFill>
            <a:prstDash val="solid"/>
            <a:round/>
            <a:headEnd len="sm" w="sm" type="none"/>
            <a:tailEnd len="sm" w="sm" type="none"/>
          </a:ln>
        </p:spPr>
        <p:txBody>
          <a:bodyPr anchorCtr="0" anchor="ctr" bIns="45700" lIns="182875" spcFirstLastPara="1" rIns="146300" wrap="square" tIns="91425">
            <a:noAutofit/>
          </a:bodyPr>
          <a:lstStyle/>
          <a:p>
            <a:pPr indent="0" lvl="0" marL="0" marR="0" rtl="0" algn="l">
              <a:spcBef>
                <a:spcPts val="0"/>
              </a:spcBef>
              <a:spcAft>
                <a:spcPts val="0"/>
              </a:spcAft>
              <a:buNone/>
            </a:pPr>
            <a:r>
              <a:rPr b="1" i="0" lang="en-US" sz="1200" u="none" cap="none" strike="noStrike">
                <a:solidFill>
                  <a:srgbClr val="2E7D32"/>
                </a:solidFill>
                <a:latin typeface="Arial"/>
                <a:ea typeface="Arial"/>
                <a:cs typeface="Arial"/>
                <a:sym typeface="Arial"/>
              </a:rPr>
              <a:t>The demo that proves it</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1.  Drop in a scanned inspection report</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2.  Agent extracts findings, drafts an approval note (.docx)</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3.  curl an external URL from inside the container</a:t>
            </a:r>
            <a:endParaRPr/>
          </a:p>
          <a:p>
            <a:pPr indent="0" lvl="0" marL="0" marR="0" rtl="0" algn="l">
              <a:spcBef>
                <a:spcPts val="100"/>
              </a:spcBef>
              <a:spcAft>
                <a:spcPts val="0"/>
              </a:spcAft>
              <a:buNone/>
            </a:pPr>
            <a:r>
              <a:rPr b="1" i="0" lang="en-US" sz="950" u="none" cap="none" strike="noStrike">
                <a:solidFill>
                  <a:srgbClr val="1A1A1A"/>
                </a:solidFill>
                <a:latin typeface="Arial"/>
                <a:ea typeface="Arial"/>
                <a:cs typeface="Arial"/>
                <a:sym typeface="Arial"/>
              </a:rPr>
              <a:t>4.  Watch it blocked, logged and signed — on screen</a:t>
            </a:r>
            <a:endParaRPr/>
          </a:p>
        </p:txBody>
      </p:sp>
      <p:sp>
        <p:nvSpPr>
          <p:cNvPr id="142" name="Google Shape;142;p15"/>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solidFill>
                  <a:schemeClr val="lt1"/>
                </a:solidFill>
                <a:latin typeface="Oswald"/>
                <a:ea typeface="Oswald"/>
                <a:cs typeface="Oswald"/>
                <a:sym typeface="Oswald"/>
              </a:rPr>
              <a:t>@SIH Idea submission- Template</a:t>
            </a:r>
            <a:endParaRPr sz="1200">
              <a:solidFill>
                <a:schemeClr val="lt1"/>
              </a:solidFill>
              <a:latin typeface="Oswald"/>
              <a:ea typeface="Oswald"/>
              <a:cs typeface="Oswald"/>
              <a:sym typeface="Oswald"/>
            </a:endParaRPr>
          </a:p>
        </p:txBody>
      </p:sp>
      <p:sp>
        <p:nvSpPr>
          <p:cNvPr id="143" name="Google Shape;143;p15"/>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50" name="Google Shape;150;p1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FEASIBILITY AND VIABILITY</a:t>
            </a:r>
            <a:endParaRPr/>
          </a:p>
        </p:txBody>
      </p:sp>
      <p:sp>
        <p:nvSpPr>
          <p:cNvPr id="151" name="Google Shape;151;p16"/>
          <p:cNvSpPr txBox="1"/>
          <p:nvPr/>
        </p:nvSpPr>
        <p:spPr>
          <a:xfrm>
            <a:off x="411480" y="1051560"/>
            <a:ext cx="5577840" cy="2743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1600"/>
              <a:buFont typeface="Arial"/>
              <a:buChar char="•"/>
            </a:pPr>
            <a:r>
              <a:rPr b="1" i="0" lang="en-US" sz="1600" u="none" cap="none" strike="noStrike">
                <a:solidFill>
                  <a:srgbClr val="0070C0"/>
                </a:solidFill>
                <a:latin typeface="Arial"/>
                <a:ea typeface="Arial"/>
                <a:cs typeface="Arial"/>
                <a:sym typeface="Arial"/>
              </a:rPr>
              <a:t>Why this is buildable</a:t>
            </a:r>
            <a:endParaRPr b="0" i="0" sz="2800" u="none" cap="none" strike="noStrike">
              <a:solidFill>
                <a:srgbClr val="000000"/>
              </a:solidFill>
              <a:latin typeface="Arial"/>
              <a:ea typeface="Arial"/>
              <a:cs typeface="Arial"/>
              <a:sym typeface="Arial"/>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Fork what is proven.  vLLM for serving, OpenHands for the</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sandbox, Docling for documents. We write only the router,</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the egress plane and the deliverable writer.</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Hardware sized from real weights, not estimates.  Qwen3.8-27B</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at INT4 is 21 GB, so the flagship pair targets a 48 GB card. A</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24 GB card runs the 9B + VL-4B pair with 13 GB to spare.</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Licensing is clean.  Every model and library is Apache-2.0</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or MIT — a PSU can deploy it without procurement friction.</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No proprietary data needed.  The PS itself allows open</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models and public sample P&amp;IDs for the demo.</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Team fit.  Backend, DevOps and AI-engineering skills map</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directly onto the two novel layers.</a:t>
            </a:r>
            <a:endParaRPr/>
          </a:p>
        </p:txBody>
      </p:sp>
      <p:sp>
        <p:nvSpPr>
          <p:cNvPr id="152" name="Google Shape;152;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53" name="Google Shape;153;p16"/>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54" name="Google Shape;154;p16"/>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55" name="Google Shape;155;p16"/>
          <p:cNvSpPr/>
          <p:nvPr/>
        </p:nvSpPr>
        <p:spPr>
          <a:xfrm>
            <a:off x="411480" y="3913632"/>
            <a:ext cx="5577840" cy="365760"/>
          </a:xfrm>
          <a:prstGeom prst="roundRect">
            <a:avLst>
              <a:gd fmla="val 10000" name="adj"/>
            </a:avLst>
          </a:prstGeom>
          <a:solidFill>
            <a:srgbClr val="1F497D"/>
          </a:solidFill>
          <a:ln>
            <a:noFill/>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FFFFFF"/>
                </a:solidFill>
                <a:latin typeface="Arial"/>
                <a:ea typeface="Arial"/>
                <a:cs typeface="Arial"/>
                <a:sym typeface="Arial"/>
              </a:rPr>
              <a:t>36-hour finale plan</a:t>
            </a:r>
            <a:endParaRPr/>
          </a:p>
        </p:txBody>
      </p:sp>
      <p:sp>
        <p:nvSpPr>
          <p:cNvPr id="156" name="Google Shape;156;p16"/>
          <p:cNvSpPr/>
          <p:nvPr/>
        </p:nvSpPr>
        <p:spPr>
          <a:xfrm>
            <a:off x="411480" y="4315968"/>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H 0-6   </a:t>
            </a:r>
            <a:r>
              <a:rPr b="0" i="0" lang="en-US" sz="1000" u="none" cap="none" strike="noStrike">
                <a:solidFill>
                  <a:srgbClr val="1A1A1A"/>
                </a:solidFill>
                <a:latin typeface="Arial"/>
                <a:ea typeface="Arial"/>
                <a:cs typeface="Arial"/>
                <a:sym typeface="Arial"/>
              </a:rPr>
              <a:t>Stand up vLLM + two models, verify on venue GPU</a:t>
            </a:r>
            <a:endParaRPr/>
          </a:p>
        </p:txBody>
      </p:sp>
      <p:sp>
        <p:nvSpPr>
          <p:cNvPr id="157" name="Google Shape;157;p16"/>
          <p:cNvSpPr/>
          <p:nvPr/>
        </p:nvSpPr>
        <p:spPr>
          <a:xfrm>
            <a:off x="411480" y="4704588"/>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H 6-14   </a:t>
            </a:r>
            <a:r>
              <a:rPr b="0" i="0" lang="en-US" sz="1000" u="none" cap="none" strike="noStrike">
                <a:solidFill>
                  <a:srgbClr val="1A1A1A"/>
                </a:solidFill>
                <a:latin typeface="Arial"/>
                <a:ea typeface="Arial"/>
                <a:cs typeface="Arial"/>
                <a:sym typeface="Arial"/>
              </a:rPr>
              <a:t>Wire ReAct/CodeAct agent to sandbox + file tools</a:t>
            </a:r>
            <a:endParaRPr/>
          </a:p>
        </p:txBody>
      </p:sp>
      <p:sp>
        <p:nvSpPr>
          <p:cNvPr id="158" name="Google Shape;158;p16"/>
          <p:cNvSpPr/>
          <p:nvPr/>
        </p:nvSpPr>
        <p:spPr>
          <a:xfrm>
            <a:off x="411480" y="509320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H 14-22   </a:t>
            </a:r>
            <a:r>
              <a:rPr b="0" i="0" lang="en-US" sz="1000" u="none" cap="none" strike="noStrike">
                <a:solidFill>
                  <a:srgbClr val="1A1A1A"/>
                </a:solidFill>
                <a:latin typeface="Arial"/>
                <a:ea typeface="Arial"/>
                <a:cs typeface="Arial"/>
                <a:sym typeface="Arial"/>
              </a:rPr>
              <a:t>Ingest sample manuals &amp; P&amp;IDs; retrieval working end to end</a:t>
            </a:r>
            <a:endParaRPr/>
          </a:p>
        </p:txBody>
      </p:sp>
      <p:sp>
        <p:nvSpPr>
          <p:cNvPr id="159" name="Google Shape;159;p16"/>
          <p:cNvSpPr/>
          <p:nvPr/>
        </p:nvSpPr>
        <p:spPr>
          <a:xfrm>
            <a:off x="411480" y="548182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H 22-30   </a:t>
            </a:r>
            <a:r>
              <a:rPr b="0" i="0" lang="en-US" sz="1000" u="none" cap="none" strike="noStrike">
                <a:solidFill>
                  <a:srgbClr val="1A1A1A"/>
                </a:solidFill>
                <a:latin typeface="Arial"/>
                <a:ea typeface="Arial"/>
                <a:cs typeface="Arial"/>
                <a:sym typeface="Arial"/>
              </a:rPr>
              <a:t>Router trained on labelled task types; egress plane locked</a:t>
            </a:r>
            <a:endParaRPr/>
          </a:p>
        </p:txBody>
      </p:sp>
      <p:sp>
        <p:nvSpPr>
          <p:cNvPr id="160" name="Google Shape;160;p16"/>
          <p:cNvSpPr/>
          <p:nvPr/>
        </p:nvSpPr>
        <p:spPr>
          <a:xfrm>
            <a:off x="411480" y="587044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H 30-36   </a:t>
            </a:r>
            <a:r>
              <a:rPr b="0" i="0" lang="en-US" sz="1000" u="none" cap="none" strike="noStrike">
                <a:solidFill>
                  <a:srgbClr val="1A1A1A"/>
                </a:solidFill>
                <a:latin typeface="Arial"/>
                <a:ea typeface="Arial"/>
                <a:cs typeface="Arial"/>
                <a:sym typeface="Arial"/>
              </a:rPr>
              <a:t>Deliverable writer, egress panel, rehearse the demo</a:t>
            </a:r>
            <a:endParaRPr/>
          </a:p>
        </p:txBody>
      </p:sp>
      <p:sp>
        <p:nvSpPr>
          <p:cNvPr id="161" name="Google Shape;161;p16"/>
          <p:cNvSpPr/>
          <p:nvPr/>
        </p:nvSpPr>
        <p:spPr>
          <a:xfrm>
            <a:off x="6263640" y="1051560"/>
            <a:ext cx="5532120" cy="384048"/>
          </a:xfrm>
          <a:prstGeom prst="roundRect">
            <a:avLst>
              <a:gd fmla="val 10000" name="adj"/>
            </a:avLst>
          </a:prstGeom>
          <a:solidFill>
            <a:srgbClr val="0070C0"/>
          </a:solidFill>
          <a:ln>
            <a:noFill/>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250" u="none" cap="none" strike="noStrike">
                <a:solidFill>
                  <a:srgbClr val="FFFFFF"/>
                </a:solidFill>
                <a:latin typeface="Arial"/>
                <a:ea typeface="Arial"/>
                <a:cs typeface="Arial"/>
                <a:sym typeface="Arial"/>
              </a:rPr>
              <a:t>Risks and how we retire them</a:t>
            </a:r>
            <a:endParaRPr/>
          </a:p>
        </p:txBody>
      </p:sp>
      <p:sp>
        <p:nvSpPr>
          <p:cNvPr id="162" name="Google Shape;162;p16"/>
          <p:cNvSpPr/>
          <p:nvPr/>
        </p:nvSpPr>
        <p:spPr>
          <a:xfrm>
            <a:off x="6263640" y="1517904"/>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Venue GPU smaller than expected</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Three pre-sized tiers (48 / 24 / 16 GB); switch by one config flag</a:t>
            </a:r>
            <a:endParaRPr/>
          </a:p>
        </p:txBody>
      </p:sp>
      <p:sp>
        <p:nvSpPr>
          <p:cNvPr id="163" name="Google Shape;163;p16"/>
          <p:cNvSpPr/>
          <p:nvPr/>
        </p:nvSpPr>
        <p:spPr>
          <a:xfrm>
            <a:off x="6263640" y="2290572"/>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Router picks the wrong model</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Confidence threshold; below it, fall back to the general model</a:t>
            </a:r>
            <a:endParaRPr/>
          </a:p>
        </p:txBody>
      </p:sp>
      <p:sp>
        <p:nvSpPr>
          <p:cNvPr id="164" name="Google Shape;164;p16"/>
          <p:cNvSpPr/>
          <p:nvPr/>
        </p:nvSpPr>
        <p:spPr>
          <a:xfrm>
            <a:off x="6263640" y="3063239"/>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Vision model misreads a P&amp;ID</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Human confirms extracted entities before any deliverable is written</a:t>
            </a:r>
            <a:endParaRPr/>
          </a:p>
        </p:txBody>
      </p:sp>
      <p:sp>
        <p:nvSpPr>
          <p:cNvPr id="165" name="Google Shape;165;p16"/>
          <p:cNvSpPr/>
          <p:nvPr/>
        </p:nvSpPr>
        <p:spPr>
          <a:xfrm>
            <a:off x="6263640" y="3835907"/>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Jury doubts the air-gap claim</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Live demo: curl an external URL from inside, watch it blocked and logged</a:t>
            </a:r>
            <a:endParaRPr/>
          </a:p>
        </p:txBody>
      </p:sp>
      <p:sp>
        <p:nvSpPr>
          <p:cNvPr id="166" name="Google Shape;166;p16"/>
          <p:cNvSpPr/>
          <p:nvPr/>
        </p:nvSpPr>
        <p:spPr>
          <a:xfrm>
            <a:off x="6263640" y="4608575"/>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Scanned document quality varies</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Docling + olmOCR ensemble; flag low-confidence pages for review</a:t>
            </a:r>
            <a:endParaRPr/>
          </a:p>
        </p:txBody>
      </p:sp>
      <p:sp>
        <p:nvSpPr>
          <p:cNvPr id="167" name="Google Shape;167;p16"/>
          <p:cNvSpPr/>
          <p:nvPr/>
        </p:nvSpPr>
        <p:spPr>
          <a:xfrm>
            <a:off x="6263640" y="5381243"/>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Agent loops or stalls</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Step budget, timeout, and a visible plan the operator can interrupt</a:t>
            </a:r>
            <a:endParaRPr/>
          </a:p>
        </p:txBody>
      </p:sp>
      <p:sp>
        <p:nvSpPr>
          <p:cNvPr id="168" name="Google Shape;168;p16"/>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75" name="Google Shape;175;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IMPACT AND BENEFITS</a:t>
            </a:r>
            <a:endParaRPr/>
          </a:p>
        </p:txBody>
      </p:sp>
      <p:sp>
        <p:nvSpPr>
          <p:cNvPr id="176" name="Google Shape;176;p17"/>
          <p:cNvSpPr txBox="1"/>
          <p:nvPr/>
        </p:nvSpPr>
        <p:spPr>
          <a:xfrm>
            <a:off x="411480" y="1051560"/>
            <a:ext cx="11384280" cy="457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555555"/>
              </a:buClr>
              <a:buSzPts val="1200"/>
              <a:buFont typeface="Arial"/>
              <a:buChar char="•"/>
            </a:pPr>
            <a:r>
              <a:rPr b="1" i="0" lang="en-US" sz="1200" u="none" cap="none" strike="noStrike">
                <a:solidFill>
                  <a:srgbClr val="555555"/>
                </a:solidFill>
                <a:latin typeface="Arial"/>
                <a:ea typeface="Arial"/>
                <a:cs typeface="Arial"/>
                <a:sym typeface="Arial"/>
              </a:rPr>
              <a:t>MRPL already runs AI for process optimisation, asset reliability and energy efficiency. KOSH extends that strategy to the knowledge work those teams do every day.</a:t>
            </a:r>
            <a:endParaRPr/>
          </a:p>
        </p:txBody>
      </p:sp>
      <p:sp>
        <p:nvSpPr>
          <p:cNvPr id="177" name="Google Shape;177;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78" name="Google Shape;178;p17"/>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79" name="Google Shape;179;p17"/>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80" name="Google Shape;180;p17"/>
          <p:cNvSpPr/>
          <p:nvPr/>
        </p:nvSpPr>
        <p:spPr>
          <a:xfrm>
            <a:off x="411480" y="1691640"/>
            <a:ext cx="3611880" cy="1965960"/>
          </a:xfrm>
          <a:prstGeom prst="roundRect">
            <a:avLst>
              <a:gd fmla="val 10000" name="adj"/>
            </a:avLst>
          </a:prstGeom>
          <a:solidFill>
            <a:srgbClr val="FFFFFF"/>
          </a:solidFill>
          <a:ln cap="flat" cmpd="sng" w="16500">
            <a:solidFill>
              <a:srgbClr val="0070C0"/>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Who it serves</a:t>
            </a:r>
            <a:endParaRPr/>
          </a:p>
          <a:p>
            <a:pPr indent="0" lvl="0" marL="0" marR="0" rtl="0" algn="l">
              <a:spcBef>
                <a:spcPts val="10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Engineers, inspection and safety teams, procurement and finance staff at MRPL — then every ONGC company, PSU and defence unit under the same no-cloud policy.</a:t>
            </a:r>
            <a:endParaRPr/>
          </a:p>
        </p:txBody>
      </p:sp>
      <p:sp>
        <p:nvSpPr>
          <p:cNvPr id="181" name="Google Shape;181;p17"/>
          <p:cNvSpPr/>
          <p:nvPr/>
        </p:nvSpPr>
        <p:spPr>
          <a:xfrm>
            <a:off x="4233672" y="1691640"/>
            <a:ext cx="3611880" cy="1965960"/>
          </a:xfrm>
          <a:prstGeom prst="roundRect">
            <a:avLst>
              <a:gd fmla="val 10000" name="adj"/>
            </a:avLst>
          </a:prstGeom>
          <a:solidFill>
            <a:srgbClr val="FFFFFF"/>
          </a:solidFill>
          <a:ln cap="flat" cmpd="sng" w="16500">
            <a:solidFill>
              <a:srgbClr val="0070C0"/>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Operational impact</a:t>
            </a:r>
            <a:endParaRPr/>
          </a:p>
          <a:p>
            <a:pPr indent="0" lvl="0" marL="0" marR="0" rtl="0" algn="l">
              <a:spcBef>
                <a:spcPts val="10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Approval notes, inspection summaries and calculation sheets drafted in minutes instead of hours, grounded in the plant's own SOPs rather than memory.</a:t>
            </a:r>
            <a:endParaRPr/>
          </a:p>
        </p:txBody>
      </p:sp>
      <p:sp>
        <p:nvSpPr>
          <p:cNvPr id="182" name="Google Shape;182;p17"/>
          <p:cNvSpPr/>
          <p:nvPr/>
        </p:nvSpPr>
        <p:spPr>
          <a:xfrm>
            <a:off x="8055863" y="1691640"/>
            <a:ext cx="3611880" cy="1965960"/>
          </a:xfrm>
          <a:prstGeom prst="roundRect">
            <a:avLst>
              <a:gd fmla="val 10000" name="adj"/>
            </a:avLst>
          </a:prstGeom>
          <a:solidFill>
            <a:srgbClr val="FFFFFF"/>
          </a:solidFill>
          <a:ln cap="flat" cmpd="sng" w="16500">
            <a:solidFill>
              <a:srgbClr val="2E7D32"/>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2E7D32"/>
                </a:solidFill>
                <a:latin typeface="Arial"/>
                <a:ea typeface="Arial"/>
                <a:cs typeface="Arial"/>
                <a:sym typeface="Arial"/>
              </a:rPr>
              <a:t>Economic</a:t>
            </a:r>
            <a:endParaRPr/>
          </a:p>
          <a:p>
            <a:pPr indent="0" lvl="0" marL="0" marR="0" rtl="0" algn="l">
              <a:spcBef>
                <a:spcPts val="100"/>
              </a:spcBef>
              <a:spcAft>
                <a:spcPts val="0"/>
              </a:spcAft>
              <a:buNone/>
            </a:pPr>
            <a:r>
              <a:t/>
            </a:r>
            <a:endParaRPr b="1" i="0" sz="1350" u="none" cap="none" strike="noStrike">
              <a:solidFill>
                <a:srgbClr val="2E7D32"/>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No per-seat cloud AI licence and no egress bill. Runs on hardware the organisation already owns. Open-weight models mean no vendor lock-in.</a:t>
            </a:r>
            <a:endParaRPr/>
          </a:p>
        </p:txBody>
      </p:sp>
      <p:sp>
        <p:nvSpPr>
          <p:cNvPr id="183" name="Google Shape;183;p17"/>
          <p:cNvSpPr/>
          <p:nvPr/>
        </p:nvSpPr>
        <p:spPr>
          <a:xfrm>
            <a:off x="411480" y="3840480"/>
            <a:ext cx="3611880" cy="1965960"/>
          </a:xfrm>
          <a:prstGeom prst="roundRect">
            <a:avLst>
              <a:gd fmla="val 10000" name="adj"/>
            </a:avLst>
          </a:prstGeom>
          <a:solidFill>
            <a:srgbClr val="FFFFFF"/>
          </a:solidFill>
          <a:ln cap="flat" cmpd="sng" w="16500">
            <a:solidFill>
              <a:srgbClr val="2E7D32"/>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2E7D32"/>
                </a:solidFill>
                <a:latin typeface="Arial"/>
                <a:ea typeface="Arial"/>
                <a:cs typeface="Arial"/>
                <a:sym typeface="Arial"/>
              </a:rPr>
              <a:t>Strategic / national</a:t>
            </a:r>
            <a:endParaRPr/>
          </a:p>
          <a:p>
            <a:pPr indent="0" lvl="0" marL="0" marR="0" rtl="0" algn="l">
              <a:spcBef>
                <a:spcPts val="100"/>
              </a:spcBef>
              <a:spcAft>
                <a:spcPts val="0"/>
              </a:spcAft>
              <a:buNone/>
            </a:pPr>
            <a:r>
              <a:t/>
            </a:r>
            <a:endParaRPr b="1" i="0" sz="1350" u="none" cap="none" strike="noStrike">
              <a:solidFill>
                <a:srgbClr val="2E7D32"/>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Confidential data on critical energy infrastructure never leaves Indian soil. Directly supports data-sovereignty policy for CPSEs.</a:t>
            </a:r>
            <a:endParaRPr/>
          </a:p>
        </p:txBody>
      </p:sp>
      <p:sp>
        <p:nvSpPr>
          <p:cNvPr id="184" name="Google Shape;184;p17"/>
          <p:cNvSpPr/>
          <p:nvPr/>
        </p:nvSpPr>
        <p:spPr>
          <a:xfrm>
            <a:off x="4233672" y="3840480"/>
            <a:ext cx="3611880" cy="1965960"/>
          </a:xfrm>
          <a:prstGeom prst="roundRect">
            <a:avLst>
              <a:gd fmla="val 10000" name="adj"/>
            </a:avLst>
          </a:prstGeom>
          <a:solidFill>
            <a:srgbClr val="FFFFFF"/>
          </a:solidFill>
          <a:ln cap="flat" cmpd="sng" w="16500">
            <a:solidFill>
              <a:srgbClr val="B46A0A"/>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B46A0A"/>
                </a:solidFill>
                <a:latin typeface="Arial"/>
                <a:ea typeface="Arial"/>
                <a:cs typeface="Arial"/>
                <a:sym typeface="Arial"/>
              </a:rPr>
              <a:t>Safety</a:t>
            </a:r>
            <a:endParaRPr/>
          </a:p>
          <a:p>
            <a:pPr indent="0" lvl="0" marL="0" marR="0" rtl="0" algn="l">
              <a:spcBef>
                <a:spcPts val="100"/>
              </a:spcBef>
              <a:spcAft>
                <a:spcPts val="0"/>
              </a:spcAft>
              <a:buNone/>
            </a:pPr>
            <a:r>
              <a:t/>
            </a:r>
            <a:endParaRPr b="1" i="0" sz="1350" u="none" cap="none" strike="noStrike">
              <a:solidFill>
                <a:srgbClr val="B46A0A"/>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Grounded, source-cited answers over live SOPs reduce the risk of an engineer acting on a half-remembered or outdated procedure.</a:t>
            </a:r>
            <a:endParaRPr/>
          </a:p>
        </p:txBody>
      </p:sp>
      <p:sp>
        <p:nvSpPr>
          <p:cNvPr id="185" name="Google Shape;185;p17"/>
          <p:cNvSpPr/>
          <p:nvPr/>
        </p:nvSpPr>
        <p:spPr>
          <a:xfrm>
            <a:off x="8055863" y="3840480"/>
            <a:ext cx="3611880" cy="1965960"/>
          </a:xfrm>
          <a:prstGeom prst="roundRect">
            <a:avLst>
              <a:gd fmla="val 10000" name="adj"/>
            </a:avLst>
          </a:prstGeom>
          <a:solidFill>
            <a:srgbClr val="FFFFFF"/>
          </a:solidFill>
          <a:ln cap="flat" cmpd="sng" w="16500">
            <a:solidFill>
              <a:srgbClr val="B46A0A"/>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B46A0A"/>
                </a:solidFill>
                <a:latin typeface="Arial"/>
                <a:ea typeface="Arial"/>
                <a:cs typeface="Arial"/>
                <a:sym typeface="Arial"/>
              </a:rPr>
              <a:t>Scalable by design</a:t>
            </a:r>
            <a:endParaRPr/>
          </a:p>
          <a:p>
            <a:pPr indent="0" lvl="0" marL="0" marR="0" rtl="0" algn="l">
              <a:spcBef>
                <a:spcPts val="100"/>
              </a:spcBef>
              <a:spcAft>
                <a:spcPts val="0"/>
              </a:spcAft>
              <a:buNone/>
            </a:pPr>
            <a:r>
              <a:t/>
            </a:r>
            <a:endParaRPr b="1" i="0" sz="1350" u="none" cap="none" strike="noStrike">
              <a:solidFill>
                <a:srgbClr val="B46A0A"/>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Model-agnostic registry: a better open-weight model in six months is a config entry, not a rebuild.</a:t>
            </a:r>
            <a:endParaRPr/>
          </a:p>
        </p:txBody>
      </p:sp>
      <p:sp>
        <p:nvSpPr>
          <p:cNvPr id="186" name="Google Shape;186;p17"/>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93" name="Google Shape;193;p18"/>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RESEARCH  AND REFERENCES</a:t>
            </a:r>
            <a:endParaRPr/>
          </a:p>
        </p:txBody>
      </p:sp>
      <p:sp>
        <p:nvSpPr>
          <p:cNvPr id="194" name="Google Shape;194;p18"/>
          <p:cNvSpPr txBox="1"/>
          <p:nvPr/>
        </p:nvSpPr>
        <p:spPr>
          <a:xfrm>
            <a:off x="411480" y="1024128"/>
            <a:ext cx="11338560" cy="38404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555555"/>
              </a:buClr>
              <a:buSzPts val="1250"/>
              <a:buFont typeface="Arial"/>
              <a:buChar char="•"/>
            </a:pPr>
            <a:r>
              <a:rPr b="1" i="0" lang="en-US" sz="1250" u="none" cap="none" strike="noStrike">
                <a:solidFill>
                  <a:srgbClr val="555555"/>
                </a:solidFill>
                <a:latin typeface="Arial"/>
                <a:ea typeface="Arial"/>
                <a:cs typeface="Arial"/>
                <a:sym typeface="Arial"/>
              </a:rPr>
              <a:t>Base paper anchors the agent loop; the rest map one-to-one onto the layers above.</a:t>
            </a:r>
            <a:endParaRPr b="0" i="0" sz="2800" u="none" cap="none" strike="noStrike">
              <a:solidFill>
                <a:srgbClr val="000000"/>
              </a:solidFill>
              <a:latin typeface="Arial"/>
              <a:ea typeface="Arial"/>
              <a:cs typeface="Arial"/>
              <a:sym typeface="Arial"/>
            </a:endParaRPr>
          </a:p>
        </p:txBody>
      </p:sp>
      <p:sp>
        <p:nvSpPr>
          <p:cNvPr id="195" name="Google Shape;195;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96" name="Google Shape;196;p18"/>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97" name="Google Shape;197;p18"/>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98" name="Google Shape;198;p18"/>
          <p:cNvSpPr/>
          <p:nvPr/>
        </p:nvSpPr>
        <p:spPr>
          <a:xfrm>
            <a:off x="411480" y="1481328"/>
            <a:ext cx="5532120" cy="1234440"/>
          </a:xfrm>
          <a:prstGeom prst="roundRect">
            <a:avLst>
              <a:gd fmla="val 10000" name="adj"/>
            </a:avLst>
          </a:prstGeom>
          <a:solidFill>
            <a:srgbClr val="E8F1FA"/>
          </a:solidFill>
          <a:ln cap="flat" cmpd="sng" w="17775">
            <a:solidFill>
              <a:srgbClr val="0070C0"/>
            </a:solidFill>
            <a:prstDash val="solid"/>
            <a:round/>
            <a:headEnd len="sm" w="sm" type="none"/>
            <a:tailEnd len="sm" w="sm" type="none"/>
          </a:ln>
        </p:spPr>
        <p:txBody>
          <a:bodyPr anchorCtr="0" anchor="ctr" bIns="45700" lIns="182875" spcFirstLastPara="1" rIns="91425" wrap="square" tIns="10972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BASE PAPER</a:t>
            </a:r>
            <a:endParaRPr/>
          </a:p>
          <a:p>
            <a:pPr indent="0" lvl="0" marL="0" marR="0" rtl="0" algn="l">
              <a:spcBef>
                <a:spcPts val="100"/>
              </a:spcBef>
              <a:spcAft>
                <a:spcPts val="0"/>
              </a:spcAft>
              <a:buNone/>
            </a:pPr>
            <a:r>
              <a:rPr b="1" i="0" lang="en-US" sz="1250" u="none" cap="none" strike="noStrike">
                <a:solidFill>
                  <a:srgbClr val="1F497D"/>
                </a:solidFill>
                <a:latin typeface="Arial"/>
                <a:ea typeface="Arial"/>
                <a:cs typeface="Arial"/>
                <a:sym typeface="Arial"/>
              </a:rPr>
              <a:t>ReAct: Synergizing Reasoning and Acting in Language Models</a:t>
            </a:r>
            <a:endParaRPr/>
          </a:p>
          <a:p>
            <a:pPr indent="0" lvl="0" marL="0" marR="0" rtl="0" algn="l">
              <a:spcBef>
                <a:spcPts val="100"/>
              </a:spcBef>
              <a:spcAft>
                <a:spcPts val="0"/>
              </a:spcAft>
              <a:buNone/>
            </a:pPr>
            <a:r>
              <a:rPr b="0" i="0" lang="en-US" sz="1000" u="none" cap="none" strike="noStrike">
                <a:solidFill>
                  <a:srgbClr val="555555"/>
                </a:solidFill>
                <a:latin typeface="Arial"/>
                <a:ea typeface="Arial"/>
                <a:cs typeface="Arial"/>
                <a:sym typeface="Arial"/>
              </a:rPr>
              <a:t>Yao et al., ICLR 2023  ·  arXiv:2210.03629  ·  10,961 citations</a:t>
            </a:r>
            <a:endParaRPr/>
          </a:p>
          <a:p>
            <a:pPr indent="0" lvl="0" marL="0" marR="0" rtl="0" algn="l">
              <a:spcBef>
                <a:spcPts val="100"/>
              </a:spcBef>
              <a:spcAft>
                <a:spcPts val="0"/>
              </a:spcAft>
              <a:buNone/>
            </a:pPr>
            <a:r>
              <a:rPr b="0" i="0" lang="en-US" sz="1000" u="none" cap="none" strike="noStrike">
                <a:solidFill>
                  <a:srgbClr val="1A1A1A"/>
                </a:solidFill>
                <a:latin typeface="Arial"/>
                <a:ea typeface="Arial"/>
                <a:cs typeface="Arial"/>
                <a:sym typeface="Arial"/>
              </a:rPr>
              <a:t>We extend its single-model loop to a multi-model, air-gapped workbench.</a:t>
            </a:r>
            <a:endParaRPr/>
          </a:p>
        </p:txBody>
      </p:sp>
      <p:sp>
        <p:nvSpPr>
          <p:cNvPr id="199" name="Google Shape;199;p18"/>
          <p:cNvSpPr/>
          <p:nvPr/>
        </p:nvSpPr>
        <p:spPr>
          <a:xfrm>
            <a:off x="6309360" y="1481328"/>
            <a:ext cx="5486400" cy="1234440"/>
          </a:xfrm>
          <a:prstGeom prst="roundRect">
            <a:avLst>
              <a:gd fmla="val 10000" name="adj"/>
            </a:avLst>
          </a:prstGeom>
          <a:solidFill>
            <a:srgbClr val="F7F9FC"/>
          </a:solidFill>
          <a:ln cap="flat" cmpd="sng" w="13950">
            <a:solidFill>
              <a:srgbClr val="C8D6E6"/>
            </a:solidFill>
            <a:prstDash val="solid"/>
            <a:round/>
            <a:headEnd len="sm" w="sm" type="none"/>
            <a:tailEnd len="sm" w="sm" type="none"/>
          </a:ln>
        </p:spPr>
        <p:txBody>
          <a:bodyPr anchorCtr="0" anchor="ctr" bIns="45700" lIns="182875" spcFirstLastPara="1" rIns="91425" wrap="square" tIns="109725">
            <a:noAutofit/>
          </a:bodyPr>
          <a:lstStyle/>
          <a:p>
            <a:pPr indent="0" lvl="0" marL="0" marR="0" rtl="0" algn="l">
              <a:spcBef>
                <a:spcPts val="0"/>
              </a:spcBef>
              <a:spcAft>
                <a:spcPts val="0"/>
              </a:spcAft>
              <a:buNone/>
            </a:pPr>
            <a:r>
              <a:rPr b="1" i="0" lang="en-US" sz="1000" u="none" cap="none" strike="noStrike">
                <a:solidFill>
                  <a:srgbClr val="555555"/>
                </a:solidFill>
                <a:latin typeface="Arial"/>
                <a:ea typeface="Arial"/>
                <a:cs typeface="Arial"/>
                <a:sym typeface="Arial"/>
              </a:rPr>
              <a:t>INDUSTRIAL PRECEDENT</a:t>
            </a:r>
            <a:endParaRPr/>
          </a:p>
          <a:p>
            <a:pPr indent="0" lvl="0" marL="0" marR="0" rtl="0" algn="l">
              <a:spcBef>
                <a:spcPts val="100"/>
              </a:spcBef>
              <a:spcAft>
                <a:spcPts val="0"/>
              </a:spcAft>
              <a:buNone/>
            </a:pPr>
            <a:r>
              <a:rPr b="1" i="0" lang="en-US" sz="1250" u="none" cap="none" strike="noStrike">
                <a:solidFill>
                  <a:srgbClr val="1F497D"/>
                </a:solidFill>
                <a:latin typeface="Arial"/>
                <a:ea typeface="Arial"/>
                <a:cs typeface="Arial"/>
                <a:sym typeface="Arial"/>
              </a:rPr>
              <a:t>ChipNeMo: Domain-Adapted LLMs for Chip Design</a:t>
            </a:r>
            <a:endParaRPr/>
          </a:p>
          <a:p>
            <a:pPr indent="0" lvl="0" marL="0" marR="0" rtl="0" algn="l">
              <a:spcBef>
                <a:spcPts val="100"/>
              </a:spcBef>
              <a:spcAft>
                <a:spcPts val="0"/>
              </a:spcAft>
              <a:buNone/>
            </a:pPr>
            <a:r>
              <a:rPr b="0" i="0" lang="en-US" sz="1000" u="none" cap="none" strike="noStrike">
                <a:solidFill>
                  <a:srgbClr val="555555"/>
                </a:solidFill>
                <a:latin typeface="Arial"/>
                <a:ea typeface="Arial"/>
                <a:cs typeface="Arial"/>
                <a:sym typeface="Arial"/>
              </a:rPr>
              <a:t>Liu et al., NVIDIA 2023  ·  arXiv:2311.00176  ·  314 citations</a:t>
            </a:r>
            <a:endParaRPr/>
          </a:p>
          <a:p>
            <a:pPr indent="0" lvl="0" marL="0" marR="0" rtl="0" algn="l">
              <a:spcBef>
                <a:spcPts val="100"/>
              </a:spcBef>
              <a:spcAft>
                <a:spcPts val="0"/>
              </a:spcAft>
              <a:buNone/>
            </a:pPr>
            <a:r>
              <a:rPr b="0" i="0" lang="en-US" sz="1000" u="none" cap="none" strike="noStrike">
                <a:solidFill>
                  <a:srgbClr val="1A1A1A"/>
                </a:solidFill>
                <a:latin typeface="Arial"/>
                <a:ea typeface="Arial"/>
                <a:cs typeface="Arial"/>
                <a:sym typeface="Arial"/>
              </a:rPr>
              <a:t>Proves an industrial firm can run its own assistant on confidential data.</a:t>
            </a:r>
            <a:endParaRPr/>
          </a:p>
        </p:txBody>
      </p:sp>
      <p:sp>
        <p:nvSpPr>
          <p:cNvPr id="200" name="Google Shape;200;p18"/>
          <p:cNvSpPr/>
          <p:nvPr/>
        </p:nvSpPr>
        <p:spPr>
          <a:xfrm>
            <a:off x="411480" y="2880360"/>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Model routing</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RouteLLM — Ong et al., 2024   ·   arXiv:2406.18665</a:t>
            </a:r>
            <a:endParaRPr/>
          </a:p>
        </p:txBody>
      </p:sp>
      <p:sp>
        <p:nvSpPr>
          <p:cNvPr id="201" name="Google Shape;201;p18"/>
          <p:cNvSpPr/>
          <p:nvPr/>
        </p:nvSpPr>
        <p:spPr>
          <a:xfrm>
            <a:off x="6309360" y="2880360"/>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Sandboxed execution</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CodeAct — Wang et al., ICML 2024   ·   arXiv:2402.01030</a:t>
            </a:r>
            <a:endParaRPr/>
          </a:p>
        </p:txBody>
      </p:sp>
      <p:sp>
        <p:nvSpPr>
          <p:cNvPr id="202" name="Google Shape;202;p18"/>
          <p:cNvSpPr/>
          <p:nvPr/>
        </p:nvSpPr>
        <p:spPr>
          <a:xfrm>
            <a:off x="411480" y="3639312"/>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Knowledge grounding</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RAG — Lewis et al., NeurIPS 2020   ·   arXiv:2005.11401</a:t>
            </a:r>
            <a:endParaRPr/>
          </a:p>
        </p:txBody>
      </p:sp>
      <p:sp>
        <p:nvSpPr>
          <p:cNvPr id="203" name="Google Shape;203;p18"/>
          <p:cNvSpPr/>
          <p:nvPr/>
        </p:nvSpPr>
        <p:spPr>
          <a:xfrm>
            <a:off x="6309360" y="3639312"/>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Drawing retrieval</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ColPali — Faysse et al., ICLR 2025   ·   arXiv:2407.01449</a:t>
            </a:r>
            <a:endParaRPr/>
          </a:p>
        </p:txBody>
      </p:sp>
      <p:sp>
        <p:nvSpPr>
          <p:cNvPr id="204" name="Google Shape;204;p18"/>
          <p:cNvSpPr/>
          <p:nvPr/>
        </p:nvSpPr>
        <p:spPr>
          <a:xfrm>
            <a:off x="411480" y="4398264"/>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Single-GPU serving</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vLLM PagedAttention — Kwon et al., SOSP 2023   ·   arXiv:2309.06180</a:t>
            </a:r>
            <a:endParaRPr/>
          </a:p>
        </p:txBody>
      </p:sp>
      <p:sp>
        <p:nvSpPr>
          <p:cNvPr id="205" name="Google Shape;205;p18"/>
          <p:cNvSpPr/>
          <p:nvPr/>
        </p:nvSpPr>
        <p:spPr>
          <a:xfrm>
            <a:off x="6309360" y="4398264"/>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Document ingestion</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Docling — IBM Research, 2024   ·   arXiv:2408.09869</a:t>
            </a:r>
            <a:endParaRPr/>
          </a:p>
        </p:txBody>
      </p:sp>
      <p:sp>
        <p:nvSpPr>
          <p:cNvPr id="206" name="Google Shape;206;p18"/>
          <p:cNvSpPr/>
          <p:nvPr/>
        </p:nvSpPr>
        <p:spPr>
          <a:xfrm>
            <a:off x="411480" y="5157216"/>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P&amp;ID digitisation</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Engineering Diagrams to Graphs — Stürmer et al., 2024   ·   arXiv:2411.13929</a:t>
            </a:r>
            <a:endParaRPr/>
          </a:p>
        </p:txBody>
      </p:sp>
      <p:sp>
        <p:nvSpPr>
          <p:cNvPr id="207" name="Google Shape;207;p18"/>
          <p:cNvSpPr/>
          <p:nvPr/>
        </p:nvSpPr>
        <p:spPr>
          <a:xfrm>
            <a:off x="6309360" y="5157216"/>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Air-gap threat model</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Indirect Prompt Injection — Greshake et al., AISec 2023   ·   arXiv:2302.12173</a:t>
            </a:r>
            <a:endParaRPr/>
          </a:p>
        </p:txBody>
      </p:sp>
      <p:sp>
        <p:nvSpPr>
          <p:cNvPr id="208" name="Google Shape;208;p18"/>
          <p:cNvSpPr txBox="1"/>
          <p:nvPr/>
        </p:nvSpPr>
        <p:spPr>
          <a:xfrm>
            <a:off x="411480" y="5989320"/>
            <a:ext cx="113385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Arial"/>
                <a:ea typeface="Arial"/>
                <a:cs typeface="Arial"/>
                <a:sym typeface="Arial"/>
              </a:rPr>
              <a:t>Also referenced:  MRPL AI strategy (mrpl.co.in) · eBPF per-container egress filtering, IEEE 2024 · Terminal Agents Suffice, 2026 · StagedWorkspace, 2026</a:t>
            </a:r>
            <a:endParaRPr/>
          </a:p>
        </p:txBody>
      </p:sp>
      <p:sp>
        <p:nvSpPr>
          <p:cNvPr id="209" name="Google Shape;209;p18"/>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